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0"/>
  </p:notesMasterIdLst>
  <p:sldIdLst>
    <p:sldId id="256" r:id="rId2"/>
    <p:sldId id="274" r:id="rId3"/>
    <p:sldId id="275" r:id="rId4"/>
    <p:sldId id="283" r:id="rId5"/>
    <p:sldId id="257" r:id="rId6"/>
    <p:sldId id="280" r:id="rId7"/>
    <p:sldId id="260" r:id="rId8"/>
    <p:sldId id="266" r:id="rId9"/>
    <p:sldId id="276" r:id="rId10"/>
    <p:sldId id="285" r:id="rId11"/>
    <p:sldId id="284" r:id="rId12"/>
    <p:sldId id="261" r:id="rId13"/>
    <p:sldId id="286" r:id="rId14"/>
    <p:sldId id="264" r:id="rId15"/>
    <p:sldId id="287" r:id="rId16"/>
    <p:sldId id="288" r:id="rId17"/>
    <p:sldId id="289" r:id="rId18"/>
    <p:sldId id="290" r:id="rId19"/>
    <p:sldId id="291" r:id="rId20"/>
    <p:sldId id="292" r:id="rId21"/>
    <p:sldId id="293" r:id="rId22"/>
    <p:sldId id="294" r:id="rId23"/>
    <p:sldId id="295" r:id="rId24"/>
    <p:sldId id="296" r:id="rId25"/>
    <p:sldId id="297" r:id="rId26"/>
    <p:sldId id="298" r:id="rId27"/>
    <p:sldId id="299" r:id="rId28"/>
    <p:sldId id="300" r:id="rId29"/>
    <p:sldId id="302" r:id="rId30"/>
    <p:sldId id="301" r:id="rId31"/>
    <p:sldId id="303" r:id="rId32"/>
    <p:sldId id="305" r:id="rId33"/>
    <p:sldId id="304" r:id="rId34"/>
    <p:sldId id="306" r:id="rId35"/>
    <p:sldId id="307" r:id="rId36"/>
    <p:sldId id="308" r:id="rId37"/>
    <p:sldId id="309" r:id="rId38"/>
    <p:sldId id="314" r:id="rId39"/>
    <p:sldId id="313" r:id="rId40"/>
    <p:sldId id="312" r:id="rId41"/>
    <p:sldId id="311" r:id="rId42"/>
    <p:sldId id="310" r:id="rId43"/>
    <p:sldId id="315" r:id="rId44"/>
    <p:sldId id="316" r:id="rId45"/>
    <p:sldId id="317" r:id="rId46"/>
    <p:sldId id="318" r:id="rId47"/>
    <p:sldId id="319" r:id="rId48"/>
    <p:sldId id="320"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428" autoAdjust="0"/>
    <p:restoredTop sz="95220" autoAdjust="0"/>
  </p:normalViewPr>
  <p:slideViewPr>
    <p:cSldViewPr snapToGrid="0">
      <p:cViewPr varScale="1">
        <p:scale>
          <a:sx n="89" d="100"/>
          <a:sy n="89" d="100"/>
        </p:scale>
        <p:origin x="216"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7370FA-DFE4-4467-ADA2-37D398C77B56}" type="datetimeFigureOut">
              <a:rPr lang="en-US" smtClean="0"/>
              <a:t>4/24/2026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825558-CFC0-4C03-9F87-3EAE2ABEAB54}" type="slidenum">
              <a:rPr lang="en-US" smtClean="0"/>
              <a:t>‹#›</a:t>
            </a:fld>
            <a:endParaRPr lang="en-US" dirty="0"/>
          </a:p>
        </p:txBody>
      </p:sp>
    </p:spTree>
    <p:extLst>
      <p:ext uri="{BB962C8B-B14F-4D97-AF65-F5344CB8AC3E}">
        <p14:creationId xmlns:p14="http://schemas.microsoft.com/office/powerpoint/2010/main" val="39923394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825558-CFC0-4C03-9F87-3EAE2ABEAB54}" type="slidenum">
              <a:rPr lang="en-US" smtClean="0"/>
              <a:t>1</a:t>
            </a:fld>
            <a:endParaRPr lang="en-US" dirty="0"/>
          </a:p>
        </p:txBody>
      </p:sp>
    </p:spTree>
    <p:extLst>
      <p:ext uri="{BB962C8B-B14F-4D97-AF65-F5344CB8AC3E}">
        <p14:creationId xmlns:p14="http://schemas.microsoft.com/office/powerpoint/2010/main" val="9197990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EE86A9-1A25-5775-B34E-AE39134A58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14C7AE-C988-0B64-7340-DAA51011FE6E}"/>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41D6846-F831-E834-AFDE-E251DC67D6F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0BB38F9-16A8-EC63-9CC3-E60486DF2C7E}"/>
              </a:ext>
            </a:extLst>
          </p:cNvPr>
          <p:cNvSpPr>
            <a:spLocks noGrp="1"/>
          </p:cNvSpPr>
          <p:nvPr>
            <p:ph type="sldNum" sz="quarter" idx="10"/>
          </p:nvPr>
        </p:nvSpPr>
        <p:spPr/>
        <p:txBody>
          <a:bodyPr/>
          <a:lstStyle/>
          <a:p>
            <a:fld id="{AD825558-CFC0-4C03-9F87-3EAE2ABEAB54}" type="slidenum">
              <a:rPr lang="en-US" smtClean="0"/>
              <a:t>4</a:t>
            </a:fld>
            <a:endParaRPr lang="en-US" dirty="0"/>
          </a:p>
        </p:txBody>
      </p:sp>
    </p:spTree>
    <p:extLst>
      <p:ext uri="{BB962C8B-B14F-4D97-AF65-F5344CB8AC3E}">
        <p14:creationId xmlns:p14="http://schemas.microsoft.com/office/powerpoint/2010/main" val="10538257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825558-CFC0-4C03-9F87-3EAE2ABEAB54}" type="slidenum">
              <a:rPr lang="en-US" smtClean="0"/>
              <a:t>5</a:t>
            </a:fld>
            <a:endParaRPr lang="en-US" dirty="0"/>
          </a:p>
        </p:txBody>
      </p:sp>
    </p:spTree>
    <p:extLst>
      <p:ext uri="{BB962C8B-B14F-4D97-AF65-F5344CB8AC3E}">
        <p14:creationId xmlns:p14="http://schemas.microsoft.com/office/powerpoint/2010/main" val="8305401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D825558-CFC0-4C03-9F87-3EAE2ABEAB54}" type="slidenum">
              <a:rPr lang="en-US" smtClean="0"/>
              <a:t>6</a:t>
            </a:fld>
            <a:endParaRPr lang="en-US" dirty="0"/>
          </a:p>
        </p:txBody>
      </p:sp>
    </p:spTree>
    <p:extLst>
      <p:ext uri="{BB962C8B-B14F-4D97-AF65-F5344CB8AC3E}">
        <p14:creationId xmlns:p14="http://schemas.microsoft.com/office/powerpoint/2010/main" val="27585654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58F0C-4341-1738-3ABA-67B0E0E212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937571-B28E-5EA1-3A15-3D1BBC3D8B14}"/>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1129A94D-5988-E563-4569-43586B7C9F6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ACD6BEB-C523-D9ED-4ED3-4AF9852D6C3F}"/>
              </a:ext>
            </a:extLst>
          </p:cNvPr>
          <p:cNvSpPr>
            <a:spLocks noGrp="1"/>
          </p:cNvSpPr>
          <p:nvPr>
            <p:ph type="sldNum" sz="quarter" idx="10"/>
          </p:nvPr>
        </p:nvSpPr>
        <p:spPr/>
        <p:txBody>
          <a:bodyPr/>
          <a:lstStyle/>
          <a:p>
            <a:fld id="{AD825558-CFC0-4C03-9F87-3EAE2ABEAB54}" type="slidenum">
              <a:rPr lang="en-US" smtClean="0"/>
              <a:t>11</a:t>
            </a:fld>
            <a:endParaRPr lang="en-US" dirty="0"/>
          </a:p>
        </p:txBody>
      </p:sp>
    </p:spTree>
    <p:extLst>
      <p:ext uri="{BB962C8B-B14F-4D97-AF65-F5344CB8AC3E}">
        <p14:creationId xmlns:p14="http://schemas.microsoft.com/office/powerpoint/2010/main" val="20352155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C57219-98C6-3FC6-D87A-29C9334D7B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BCB7C2-0E24-0A81-DBEF-C16EFE5575A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F8256C47-A122-0633-0B11-B6092098C4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97541E8-FD3E-B079-BEF8-B29D93436FA1}"/>
              </a:ext>
            </a:extLst>
          </p:cNvPr>
          <p:cNvSpPr>
            <a:spLocks noGrp="1"/>
          </p:cNvSpPr>
          <p:nvPr>
            <p:ph type="sldNum" sz="quarter" idx="10"/>
          </p:nvPr>
        </p:nvSpPr>
        <p:spPr/>
        <p:txBody>
          <a:bodyPr/>
          <a:lstStyle/>
          <a:p>
            <a:fld id="{AD825558-CFC0-4C03-9F87-3EAE2ABEAB54}" type="slidenum">
              <a:rPr lang="en-US" smtClean="0"/>
              <a:t>13</a:t>
            </a:fld>
            <a:endParaRPr lang="en-US" dirty="0"/>
          </a:p>
        </p:txBody>
      </p:sp>
    </p:spTree>
    <p:extLst>
      <p:ext uri="{BB962C8B-B14F-4D97-AF65-F5344CB8AC3E}">
        <p14:creationId xmlns:p14="http://schemas.microsoft.com/office/powerpoint/2010/main" val="2048060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6AD4E-219A-1A5D-1C13-FAB6E59C3DD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73E5DE8-EF26-8886-E122-82F8DCA54C4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06032EF-B106-0EB8-5B8D-FE8F9F6773DA}"/>
              </a:ext>
            </a:extLst>
          </p:cNvPr>
          <p:cNvSpPr>
            <a:spLocks noGrp="1"/>
          </p:cNvSpPr>
          <p:nvPr>
            <p:ph type="dt" sz="half" idx="10"/>
          </p:nvPr>
        </p:nvSpPr>
        <p:spPr/>
        <p:txBody>
          <a:bodyPr/>
          <a:lstStyle/>
          <a:p>
            <a:fld id="{C24B3049-6642-4F43-9718-C0904BA5D0D4}" type="datetimeFigureOut">
              <a:rPr lang="en-IN" smtClean="0"/>
              <a:pPr/>
              <a:t>24-04-2026</a:t>
            </a:fld>
            <a:endParaRPr lang="en-IN" dirty="0"/>
          </a:p>
        </p:txBody>
      </p:sp>
      <p:sp>
        <p:nvSpPr>
          <p:cNvPr id="5" name="Footer Placeholder 4">
            <a:extLst>
              <a:ext uri="{FF2B5EF4-FFF2-40B4-BE49-F238E27FC236}">
                <a16:creationId xmlns:a16="http://schemas.microsoft.com/office/drawing/2014/main" id="{AFCB2C21-2474-3407-59EF-CD7F1B4FFDE0}"/>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1654F951-18FB-52E4-7879-B200C2FA6C2A}"/>
              </a:ext>
            </a:extLst>
          </p:cNvPr>
          <p:cNvSpPr>
            <a:spLocks noGrp="1"/>
          </p:cNvSpPr>
          <p:nvPr>
            <p:ph type="sldNum" sz="quarter" idx="12"/>
          </p:nvPr>
        </p:nvSpPr>
        <p:spPr/>
        <p:txBody>
          <a:bodyPr/>
          <a:lstStyle/>
          <a:p>
            <a:fld id="{741DC1C9-338F-482F-8FF6-F9049597116C}" type="slidenum">
              <a:rPr lang="en-IN" smtClean="0"/>
              <a:pPr/>
              <a:t>‹#›</a:t>
            </a:fld>
            <a:endParaRPr lang="en-IN" dirty="0"/>
          </a:p>
        </p:txBody>
      </p:sp>
    </p:spTree>
    <p:extLst>
      <p:ext uri="{BB962C8B-B14F-4D97-AF65-F5344CB8AC3E}">
        <p14:creationId xmlns:p14="http://schemas.microsoft.com/office/powerpoint/2010/main" val="41113100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7C92A-674E-2041-4F4B-F6A2657076E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14A745A-E46D-E58A-AA9F-CF2B9A311F9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DC7D030-F021-8F27-851F-EDE89367F369}"/>
              </a:ext>
            </a:extLst>
          </p:cNvPr>
          <p:cNvSpPr>
            <a:spLocks noGrp="1"/>
          </p:cNvSpPr>
          <p:nvPr>
            <p:ph type="dt" sz="half" idx="10"/>
          </p:nvPr>
        </p:nvSpPr>
        <p:spPr/>
        <p:txBody>
          <a:bodyPr/>
          <a:lstStyle/>
          <a:p>
            <a:fld id="{C24B3049-6642-4F43-9718-C0904BA5D0D4}" type="datetimeFigureOut">
              <a:rPr lang="en-IN" smtClean="0"/>
              <a:pPr/>
              <a:t>24-04-2026</a:t>
            </a:fld>
            <a:endParaRPr lang="en-IN" dirty="0"/>
          </a:p>
        </p:txBody>
      </p:sp>
      <p:sp>
        <p:nvSpPr>
          <p:cNvPr id="5" name="Footer Placeholder 4">
            <a:extLst>
              <a:ext uri="{FF2B5EF4-FFF2-40B4-BE49-F238E27FC236}">
                <a16:creationId xmlns:a16="http://schemas.microsoft.com/office/drawing/2014/main" id="{D5873E89-9849-D804-6071-FCC2756156DE}"/>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A41B8124-4B2B-5573-9FAF-41D6B7C3121D}"/>
              </a:ext>
            </a:extLst>
          </p:cNvPr>
          <p:cNvSpPr>
            <a:spLocks noGrp="1"/>
          </p:cNvSpPr>
          <p:nvPr>
            <p:ph type="sldNum" sz="quarter" idx="12"/>
          </p:nvPr>
        </p:nvSpPr>
        <p:spPr/>
        <p:txBody>
          <a:bodyPr/>
          <a:lstStyle/>
          <a:p>
            <a:fld id="{741DC1C9-338F-482F-8FF6-F9049597116C}" type="slidenum">
              <a:rPr lang="en-IN" smtClean="0"/>
              <a:pPr/>
              <a:t>‹#›</a:t>
            </a:fld>
            <a:endParaRPr lang="en-IN" dirty="0"/>
          </a:p>
        </p:txBody>
      </p:sp>
    </p:spTree>
    <p:extLst>
      <p:ext uri="{BB962C8B-B14F-4D97-AF65-F5344CB8AC3E}">
        <p14:creationId xmlns:p14="http://schemas.microsoft.com/office/powerpoint/2010/main" val="20958801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63E75-CAC7-8784-BCEE-9AF3EDC5EA1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84226FE-7ED4-0D58-4079-E53EA7C1753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58E2106-67D4-3ABA-F97A-B0FE5C98A983}"/>
              </a:ext>
            </a:extLst>
          </p:cNvPr>
          <p:cNvSpPr>
            <a:spLocks noGrp="1"/>
          </p:cNvSpPr>
          <p:nvPr>
            <p:ph type="dt" sz="half" idx="10"/>
          </p:nvPr>
        </p:nvSpPr>
        <p:spPr/>
        <p:txBody>
          <a:bodyPr/>
          <a:lstStyle/>
          <a:p>
            <a:fld id="{C24B3049-6642-4F43-9718-C0904BA5D0D4}" type="datetimeFigureOut">
              <a:rPr lang="en-IN" smtClean="0"/>
              <a:pPr/>
              <a:t>24-04-2026</a:t>
            </a:fld>
            <a:endParaRPr lang="en-IN" dirty="0"/>
          </a:p>
        </p:txBody>
      </p:sp>
      <p:sp>
        <p:nvSpPr>
          <p:cNvPr id="5" name="Footer Placeholder 4">
            <a:extLst>
              <a:ext uri="{FF2B5EF4-FFF2-40B4-BE49-F238E27FC236}">
                <a16:creationId xmlns:a16="http://schemas.microsoft.com/office/drawing/2014/main" id="{1ED75CBA-C5B1-F65B-188B-587EFF594729}"/>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7969EC3C-D353-9F22-1413-E2B1D403BC39}"/>
              </a:ext>
            </a:extLst>
          </p:cNvPr>
          <p:cNvSpPr>
            <a:spLocks noGrp="1"/>
          </p:cNvSpPr>
          <p:nvPr>
            <p:ph type="sldNum" sz="quarter" idx="12"/>
          </p:nvPr>
        </p:nvSpPr>
        <p:spPr/>
        <p:txBody>
          <a:bodyPr/>
          <a:lstStyle/>
          <a:p>
            <a:fld id="{741DC1C9-338F-482F-8FF6-F9049597116C}" type="slidenum">
              <a:rPr lang="en-IN" smtClean="0"/>
              <a:pPr/>
              <a:t>‹#›</a:t>
            </a:fld>
            <a:endParaRPr lang="en-IN" dirty="0"/>
          </a:p>
        </p:txBody>
      </p:sp>
    </p:spTree>
    <p:extLst>
      <p:ext uri="{BB962C8B-B14F-4D97-AF65-F5344CB8AC3E}">
        <p14:creationId xmlns:p14="http://schemas.microsoft.com/office/powerpoint/2010/main" val="25360312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A34842-299D-4602-04F5-A18D927EBC5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477B390-1FFE-4F9C-95BF-2445DD1E91C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16E987F-DB40-3B57-A4FA-22CE10693FF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8356EE1-0BBE-C8EC-3164-B4E8FE174CD0}"/>
              </a:ext>
            </a:extLst>
          </p:cNvPr>
          <p:cNvSpPr>
            <a:spLocks noGrp="1"/>
          </p:cNvSpPr>
          <p:nvPr>
            <p:ph type="dt" sz="half" idx="10"/>
          </p:nvPr>
        </p:nvSpPr>
        <p:spPr/>
        <p:txBody>
          <a:bodyPr/>
          <a:lstStyle/>
          <a:p>
            <a:fld id="{C24B3049-6642-4F43-9718-C0904BA5D0D4}" type="datetimeFigureOut">
              <a:rPr lang="en-IN" smtClean="0"/>
              <a:pPr/>
              <a:t>24-04-2026</a:t>
            </a:fld>
            <a:endParaRPr lang="en-IN" dirty="0"/>
          </a:p>
        </p:txBody>
      </p:sp>
      <p:sp>
        <p:nvSpPr>
          <p:cNvPr id="6" name="Footer Placeholder 5">
            <a:extLst>
              <a:ext uri="{FF2B5EF4-FFF2-40B4-BE49-F238E27FC236}">
                <a16:creationId xmlns:a16="http://schemas.microsoft.com/office/drawing/2014/main" id="{A6C136E4-04AC-10E7-4749-245DF0A5FAB9}"/>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F21F2D26-F2E3-3D67-7918-B24B454C8FD2}"/>
              </a:ext>
            </a:extLst>
          </p:cNvPr>
          <p:cNvSpPr>
            <a:spLocks noGrp="1"/>
          </p:cNvSpPr>
          <p:nvPr>
            <p:ph type="sldNum" sz="quarter" idx="12"/>
          </p:nvPr>
        </p:nvSpPr>
        <p:spPr/>
        <p:txBody>
          <a:bodyPr/>
          <a:lstStyle/>
          <a:p>
            <a:fld id="{741DC1C9-338F-482F-8FF6-F9049597116C}" type="slidenum">
              <a:rPr lang="en-IN" smtClean="0"/>
              <a:pPr/>
              <a:t>‹#›</a:t>
            </a:fld>
            <a:endParaRPr lang="en-IN" dirty="0"/>
          </a:p>
        </p:txBody>
      </p:sp>
    </p:spTree>
    <p:extLst>
      <p:ext uri="{BB962C8B-B14F-4D97-AF65-F5344CB8AC3E}">
        <p14:creationId xmlns:p14="http://schemas.microsoft.com/office/powerpoint/2010/main" val="31935620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489E3-4C3B-265E-AE44-BBD7F369E69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3A5DBD8-191D-2325-6D92-BF401AFB2C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8232BEE-B5A2-B094-7C18-7475AC556A0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A91A11D-4AB7-3E2C-52D7-D1CCA2A469D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0DA6A21-BDB8-2469-676D-7EA4EC85E52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2AD1000-E4BE-8637-7C30-2B1E77946E5B}"/>
              </a:ext>
            </a:extLst>
          </p:cNvPr>
          <p:cNvSpPr>
            <a:spLocks noGrp="1"/>
          </p:cNvSpPr>
          <p:nvPr>
            <p:ph type="dt" sz="half" idx="10"/>
          </p:nvPr>
        </p:nvSpPr>
        <p:spPr/>
        <p:txBody>
          <a:bodyPr/>
          <a:lstStyle/>
          <a:p>
            <a:fld id="{C24B3049-6642-4F43-9718-C0904BA5D0D4}" type="datetimeFigureOut">
              <a:rPr lang="en-IN" smtClean="0"/>
              <a:pPr/>
              <a:t>24-04-2026</a:t>
            </a:fld>
            <a:endParaRPr lang="en-IN" dirty="0"/>
          </a:p>
        </p:txBody>
      </p:sp>
      <p:sp>
        <p:nvSpPr>
          <p:cNvPr id="8" name="Footer Placeholder 7">
            <a:extLst>
              <a:ext uri="{FF2B5EF4-FFF2-40B4-BE49-F238E27FC236}">
                <a16:creationId xmlns:a16="http://schemas.microsoft.com/office/drawing/2014/main" id="{F6CE1004-66D8-FBB1-6F43-2E913BDA3F37}"/>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670D7011-44B6-DDB2-9D3C-23F89009EC48}"/>
              </a:ext>
            </a:extLst>
          </p:cNvPr>
          <p:cNvSpPr>
            <a:spLocks noGrp="1"/>
          </p:cNvSpPr>
          <p:nvPr>
            <p:ph type="sldNum" sz="quarter" idx="12"/>
          </p:nvPr>
        </p:nvSpPr>
        <p:spPr/>
        <p:txBody>
          <a:bodyPr/>
          <a:lstStyle/>
          <a:p>
            <a:fld id="{741DC1C9-338F-482F-8FF6-F9049597116C}" type="slidenum">
              <a:rPr lang="en-IN" smtClean="0"/>
              <a:pPr/>
              <a:t>‹#›</a:t>
            </a:fld>
            <a:endParaRPr lang="en-IN" dirty="0"/>
          </a:p>
        </p:txBody>
      </p:sp>
    </p:spTree>
    <p:extLst>
      <p:ext uri="{BB962C8B-B14F-4D97-AF65-F5344CB8AC3E}">
        <p14:creationId xmlns:p14="http://schemas.microsoft.com/office/powerpoint/2010/main" val="29653059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B2369-6098-0B01-5955-87647F81D33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F286FDA-3296-1593-84A6-04FC77EBF75A}"/>
              </a:ext>
            </a:extLst>
          </p:cNvPr>
          <p:cNvSpPr>
            <a:spLocks noGrp="1"/>
          </p:cNvSpPr>
          <p:nvPr>
            <p:ph type="dt" sz="half" idx="10"/>
          </p:nvPr>
        </p:nvSpPr>
        <p:spPr/>
        <p:txBody>
          <a:bodyPr/>
          <a:lstStyle/>
          <a:p>
            <a:fld id="{C24B3049-6642-4F43-9718-C0904BA5D0D4}" type="datetimeFigureOut">
              <a:rPr lang="en-IN" smtClean="0"/>
              <a:pPr/>
              <a:t>24-04-2026</a:t>
            </a:fld>
            <a:endParaRPr lang="en-IN" dirty="0"/>
          </a:p>
        </p:txBody>
      </p:sp>
      <p:sp>
        <p:nvSpPr>
          <p:cNvPr id="4" name="Footer Placeholder 3">
            <a:extLst>
              <a:ext uri="{FF2B5EF4-FFF2-40B4-BE49-F238E27FC236}">
                <a16:creationId xmlns:a16="http://schemas.microsoft.com/office/drawing/2014/main" id="{7E3D969E-1791-FB1D-33BD-44FD956D8DFC}"/>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C8DB1833-5D8B-4D34-2D66-1AE2C332BC5C}"/>
              </a:ext>
            </a:extLst>
          </p:cNvPr>
          <p:cNvSpPr>
            <a:spLocks noGrp="1"/>
          </p:cNvSpPr>
          <p:nvPr>
            <p:ph type="sldNum" sz="quarter" idx="12"/>
          </p:nvPr>
        </p:nvSpPr>
        <p:spPr/>
        <p:txBody>
          <a:bodyPr/>
          <a:lstStyle/>
          <a:p>
            <a:fld id="{741DC1C9-338F-482F-8FF6-F9049597116C}" type="slidenum">
              <a:rPr lang="en-IN" smtClean="0"/>
              <a:pPr/>
              <a:t>‹#›</a:t>
            </a:fld>
            <a:endParaRPr lang="en-IN" dirty="0"/>
          </a:p>
        </p:txBody>
      </p:sp>
    </p:spTree>
    <p:extLst>
      <p:ext uri="{BB962C8B-B14F-4D97-AF65-F5344CB8AC3E}">
        <p14:creationId xmlns:p14="http://schemas.microsoft.com/office/powerpoint/2010/main" val="28816914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B62C98F-ED1B-0B9D-7EBA-2DB707AFA4D5}"/>
              </a:ext>
            </a:extLst>
          </p:cNvPr>
          <p:cNvSpPr>
            <a:spLocks noGrp="1"/>
          </p:cNvSpPr>
          <p:nvPr>
            <p:ph type="dt" sz="half" idx="10"/>
          </p:nvPr>
        </p:nvSpPr>
        <p:spPr/>
        <p:txBody>
          <a:bodyPr/>
          <a:lstStyle/>
          <a:p>
            <a:fld id="{C24B3049-6642-4F43-9718-C0904BA5D0D4}" type="datetimeFigureOut">
              <a:rPr lang="en-IN" smtClean="0"/>
              <a:pPr/>
              <a:t>24-04-2026</a:t>
            </a:fld>
            <a:endParaRPr lang="en-IN" dirty="0"/>
          </a:p>
        </p:txBody>
      </p:sp>
      <p:sp>
        <p:nvSpPr>
          <p:cNvPr id="3" name="Footer Placeholder 2">
            <a:extLst>
              <a:ext uri="{FF2B5EF4-FFF2-40B4-BE49-F238E27FC236}">
                <a16:creationId xmlns:a16="http://schemas.microsoft.com/office/drawing/2014/main" id="{005BB884-3C4D-5B9D-3E25-EFA04C6C94FD}"/>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1245E997-F4CD-0C08-2C43-A1B3FBD8C6EB}"/>
              </a:ext>
            </a:extLst>
          </p:cNvPr>
          <p:cNvSpPr>
            <a:spLocks noGrp="1"/>
          </p:cNvSpPr>
          <p:nvPr>
            <p:ph type="sldNum" sz="quarter" idx="12"/>
          </p:nvPr>
        </p:nvSpPr>
        <p:spPr/>
        <p:txBody>
          <a:bodyPr/>
          <a:lstStyle/>
          <a:p>
            <a:fld id="{741DC1C9-338F-482F-8FF6-F9049597116C}" type="slidenum">
              <a:rPr lang="en-IN" smtClean="0"/>
              <a:pPr/>
              <a:t>‹#›</a:t>
            </a:fld>
            <a:endParaRPr lang="en-IN" dirty="0"/>
          </a:p>
        </p:txBody>
      </p:sp>
    </p:spTree>
    <p:extLst>
      <p:ext uri="{BB962C8B-B14F-4D97-AF65-F5344CB8AC3E}">
        <p14:creationId xmlns:p14="http://schemas.microsoft.com/office/powerpoint/2010/main" val="2375305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BEA12F-00EE-090F-7AC8-13216452A8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2F5B8D3-0195-64C8-934A-5B868A2142E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3AEE732-C5E7-FD4A-1336-F859FEE3C4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7B0EBD-CBE5-2EF7-120E-BA8FDD6C5D95}"/>
              </a:ext>
            </a:extLst>
          </p:cNvPr>
          <p:cNvSpPr>
            <a:spLocks noGrp="1"/>
          </p:cNvSpPr>
          <p:nvPr>
            <p:ph type="dt" sz="half" idx="10"/>
          </p:nvPr>
        </p:nvSpPr>
        <p:spPr/>
        <p:txBody>
          <a:bodyPr/>
          <a:lstStyle/>
          <a:p>
            <a:fld id="{C24B3049-6642-4F43-9718-C0904BA5D0D4}" type="datetimeFigureOut">
              <a:rPr lang="en-IN" smtClean="0"/>
              <a:pPr/>
              <a:t>24-04-2026</a:t>
            </a:fld>
            <a:endParaRPr lang="en-IN" dirty="0"/>
          </a:p>
        </p:txBody>
      </p:sp>
      <p:sp>
        <p:nvSpPr>
          <p:cNvPr id="6" name="Footer Placeholder 5">
            <a:extLst>
              <a:ext uri="{FF2B5EF4-FFF2-40B4-BE49-F238E27FC236}">
                <a16:creationId xmlns:a16="http://schemas.microsoft.com/office/drawing/2014/main" id="{51181B88-5C31-B95B-8CB0-A14AC4E482FA}"/>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15843546-3612-E308-31F4-41C0D85DB84B}"/>
              </a:ext>
            </a:extLst>
          </p:cNvPr>
          <p:cNvSpPr>
            <a:spLocks noGrp="1"/>
          </p:cNvSpPr>
          <p:nvPr>
            <p:ph type="sldNum" sz="quarter" idx="12"/>
          </p:nvPr>
        </p:nvSpPr>
        <p:spPr/>
        <p:txBody>
          <a:bodyPr/>
          <a:lstStyle/>
          <a:p>
            <a:fld id="{741DC1C9-338F-482F-8FF6-F9049597116C}" type="slidenum">
              <a:rPr lang="en-IN" smtClean="0"/>
              <a:pPr/>
              <a:t>‹#›</a:t>
            </a:fld>
            <a:endParaRPr lang="en-IN" dirty="0"/>
          </a:p>
        </p:txBody>
      </p:sp>
    </p:spTree>
    <p:extLst>
      <p:ext uri="{BB962C8B-B14F-4D97-AF65-F5344CB8AC3E}">
        <p14:creationId xmlns:p14="http://schemas.microsoft.com/office/powerpoint/2010/main" val="1919253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64515-CC4C-5F01-AD9D-7315B427BE7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6ABF804-F360-92B3-ABDD-0298645BC66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2F94C84D-CEB3-9A4D-8D9E-A4931A53038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9E7A01A-07F1-B540-4DDB-C805BCAB3DB6}"/>
              </a:ext>
            </a:extLst>
          </p:cNvPr>
          <p:cNvSpPr>
            <a:spLocks noGrp="1"/>
          </p:cNvSpPr>
          <p:nvPr>
            <p:ph type="dt" sz="half" idx="10"/>
          </p:nvPr>
        </p:nvSpPr>
        <p:spPr/>
        <p:txBody>
          <a:bodyPr/>
          <a:lstStyle/>
          <a:p>
            <a:fld id="{C24B3049-6642-4F43-9718-C0904BA5D0D4}" type="datetimeFigureOut">
              <a:rPr lang="en-IN" smtClean="0"/>
              <a:pPr/>
              <a:t>24-04-2026</a:t>
            </a:fld>
            <a:endParaRPr lang="en-IN" dirty="0"/>
          </a:p>
        </p:txBody>
      </p:sp>
      <p:sp>
        <p:nvSpPr>
          <p:cNvPr id="6" name="Footer Placeholder 5">
            <a:extLst>
              <a:ext uri="{FF2B5EF4-FFF2-40B4-BE49-F238E27FC236}">
                <a16:creationId xmlns:a16="http://schemas.microsoft.com/office/drawing/2014/main" id="{98B50338-7252-8A75-A1C5-9BB669E3AE44}"/>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55259B01-8C4E-2AE5-4119-4DD3EEDD6007}"/>
              </a:ext>
            </a:extLst>
          </p:cNvPr>
          <p:cNvSpPr>
            <a:spLocks noGrp="1"/>
          </p:cNvSpPr>
          <p:nvPr>
            <p:ph type="sldNum" sz="quarter" idx="12"/>
          </p:nvPr>
        </p:nvSpPr>
        <p:spPr/>
        <p:txBody>
          <a:bodyPr/>
          <a:lstStyle/>
          <a:p>
            <a:fld id="{741DC1C9-338F-482F-8FF6-F9049597116C}" type="slidenum">
              <a:rPr lang="en-IN" smtClean="0"/>
              <a:pPr/>
              <a:t>‹#›</a:t>
            </a:fld>
            <a:endParaRPr lang="en-IN" dirty="0"/>
          </a:p>
        </p:txBody>
      </p:sp>
    </p:spTree>
    <p:extLst>
      <p:ext uri="{BB962C8B-B14F-4D97-AF65-F5344CB8AC3E}">
        <p14:creationId xmlns:p14="http://schemas.microsoft.com/office/powerpoint/2010/main" val="3970133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7FE6D-9005-C287-46BA-A25C4405452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167AEB0-4E64-85BB-D862-1CC0CF61B44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3FCB02E-7CE9-FC01-86C3-21477CFFF9C7}"/>
              </a:ext>
            </a:extLst>
          </p:cNvPr>
          <p:cNvSpPr>
            <a:spLocks noGrp="1"/>
          </p:cNvSpPr>
          <p:nvPr>
            <p:ph type="dt" sz="half" idx="10"/>
          </p:nvPr>
        </p:nvSpPr>
        <p:spPr/>
        <p:txBody>
          <a:bodyPr/>
          <a:lstStyle/>
          <a:p>
            <a:fld id="{C24B3049-6642-4F43-9718-C0904BA5D0D4}" type="datetimeFigureOut">
              <a:rPr lang="en-IN" smtClean="0"/>
              <a:pPr/>
              <a:t>24-04-2026</a:t>
            </a:fld>
            <a:endParaRPr lang="en-IN" dirty="0"/>
          </a:p>
        </p:txBody>
      </p:sp>
      <p:sp>
        <p:nvSpPr>
          <p:cNvPr id="5" name="Footer Placeholder 4">
            <a:extLst>
              <a:ext uri="{FF2B5EF4-FFF2-40B4-BE49-F238E27FC236}">
                <a16:creationId xmlns:a16="http://schemas.microsoft.com/office/drawing/2014/main" id="{2F107CFF-BEE7-0BFD-9D22-212FF59318E3}"/>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02C15358-949D-5FCD-9EAC-5E8E5B7A78DC}"/>
              </a:ext>
            </a:extLst>
          </p:cNvPr>
          <p:cNvSpPr>
            <a:spLocks noGrp="1"/>
          </p:cNvSpPr>
          <p:nvPr>
            <p:ph type="sldNum" sz="quarter" idx="12"/>
          </p:nvPr>
        </p:nvSpPr>
        <p:spPr/>
        <p:txBody>
          <a:bodyPr/>
          <a:lstStyle/>
          <a:p>
            <a:fld id="{741DC1C9-338F-482F-8FF6-F9049597116C}" type="slidenum">
              <a:rPr lang="en-IN" smtClean="0"/>
              <a:pPr/>
              <a:t>‹#›</a:t>
            </a:fld>
            <a:endParaRPr lang="en-IN" dirty="0"/>
          </a:p>
        </p:txBody>
      </p:sp>
    </p:spTree>
    <p:extLst>
      <p:ext uri="{BB962C8B-B14F-4D97-AF65-F5344CB8AC3E}">
        <p14:creationId xmlns:p14="http://schemas.microsoft.com/office/powerpoint/2010/main" val="24064100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45C8B1A-1D29-3FB4-372C-5A3C7C17485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3043B89-735F-5785-E31D-8AADE8BE456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C346CC1-57BC-0BE8-D112-FD584C814847}"/>
              </a:ext>
            </a:extLst>
          </p:cNvPr>
          <p:cNvSpPr>
            <a:spLocks noGrp="1"/>
          </p:cNvSpPr>
          <p:nvPr>
            <p:ph type="dt" sz="half" idx="10"/>
          </p:nvPr>
        </p:nvSpPr>
        <p:spPr/>
        <p:txBody>
          <a:bodyPr/>
          <a:lstStyle/>
          <a:p>
            <a:fld id="{C24B3049-6642-4F43-9718-C0904BA5D0D4}" type="datetimeFigureOut">
              <a:rPr lang="en-IN" smtClean="0"/>
              <a:pPr/>
              <a:t>24-04-2026</a:t>
            </a:fld>
            <a:endParaRPr lang="en-IN" dirty="0"/>
          </a:p>
        </p:txBody>
      </p:sp>
      <p:sp>
        <p:nvSpPr>
          <p:cNvPr id="5" name="Footer Placeholder 4">
            <a:extLst>
              <a:ext uri="{FF2B5EF4-FFF2-40B4-BE49-F238E27FC236}">
                <a16:creationId xmlns:a16="http://schemas.microsoft.com/office/drawing/2014/main" id="{6558F209-128D-90A3-360A-CFDA41896D74}"/>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A1987AAC-93D3-6E4D-AC4A-1E6502B611F2}"/>
              </a:ext>
            </a:extLst>
          </p:cNvPr>
          <p:cNvSpPr>
            <a:spLocks noGrp="1"/>
          </p:cNvSpPr>
          <p:nvPr>
            <p:ph type="sldNum" sz="quarter" idx="12"/>
          </p:nvPr>
        </p:nvSpPr>
        <p:spPr/>
        <p:txBody>
          <a:bodyPr/>
          <a:lstStyle/>
          <a:p>
            <a:fld id="{741DC1C9-338F-482F-8FF6-F9049597116C}" type="slidenum">
              <a:rPr lang="en-IN" smtClean="0"/>
              <a:pPr/>
              <a:t>‹#›</a:t>
            </a:fld>
            <a:endParaRPr lang="en-IN" dirty="0"/>
          </a:p>
        </p:txBody>
      </p:sp>
    </p:spTree>
    <p:extLst>
      <p:ext uri="{BB962C8B-B14F-4D97-AF65-F5344CB8AC3E}">
        <p14:creationId xmlns:p14="http://schemas.microsoft.com/office/powerpoint/2010/main" val="27407795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23C252-A881-0047-3F3F-EF63914B330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5792959-11C2-2764-9A2C-CC2F55D3F44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AF08E37-2E71-F48A-7175-ADC48216BBC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24B3049-6642-4F43-9718-C0904BA5D0D4}" type="datetimeFigureOut">
              <a:rPr lang="en-IN" smtClean="0"/>
              <a:pPr/>
              <a:t>24-04-2026</a:t>
            </a:fld>
            <a:endParaRPr lang="en-IN" dirty="0"/>
          </a:p>
        </p:txBody>
      </p:sp>
      <p:sp>
        <p:nvSpPr>
          <p:cNvPr id="5" name="Footer Placeholder 4">
            <a:extLst>
              <a:ext uri="{FF2B5EF4-FFF2-40B4-BE49-F238E27FC236}">
                <a16:creationId xmlns:a16="http://schemas.microsoft.com/office/drawing/2014/main" id="{A94313CB-6A62-AD10-764B-301884CAF02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dirty="0"/>
          </a:p>
        </p:txBody>
      </p:sp>
      <p:sp>
        <p:nvSpPr>
          <p:cNvPr id="6" name="Slide Number Placeholder 5">
            <a:extLst>
              <a:ext uri="{FF2B5EF4-FFF2-40B4-BE49-F238E27FC236}">
                <a16:creationId xmlns:a16="http://schemas.microsoft.com/office/drawing/2014/main" id="{5902F2A2-9344-D7B2-BD1A-13B12FF50BD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41DC1C9-338F-482F-8FF6-F9049597116C}" type="slidenum">
              <a:rPr lang="en-IN" smtClean="0"/>
              <a:pPr/>
              <a:t>‹#›</a:t>
            </a:fld>
            <a:endParaRPr lang="en-IN" dirty="0"/>
          </a:p>
        </p:txBody>
      </p:sp>
    </p:spTree>
    <p:extLst>
      <p:ext uri="{BB962C8B-B14F-4D97-AF65-F5344CB8AC3E}">
        <p14:creationId xmlns:p14="http://schemas.microsoft.com/office/powerpoint/2010/main" val="36141339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kaggle.com/code/aditya48/real-and-fake-face-detection"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hyperlink" Target="https://clincalc.com/stats/samplesize.aspx"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kaggle.com/code/aditya48/real-and-fake-face-detection"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clincalc.com/stats/samplesize.aspx"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www.kaggle.com/code/aditya48/real-and-fake-face-detection"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clincalc.com/stats/samplesize.aspx"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hyperlink" Target="https://www.kaggle.com/code/aditya48/real-and-fake-face-detection"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hyperlink" Target="https://clincalc.com/stats/samplesize.aspx"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3877557-278B-24EC-1E16-5AB12BE7CB78}"/>
              </a:ext>
            </a:extLst>
          </p:cNvPr>
          <p:cNvPicPr/>
          <p:nvPr/>
        </p:nvPicPr>
        <p:blipFill>
          <a:blip r:embed="rId3"/>
          <a:stretch>
            <a:fillRect/>
          </a:stretch>
        </p:blipFill>
        <p:spPr>
          <a:xfrm>
            <a:off x="493578" y="379669"/>
            <a:ext cx="11139621" cy="1264555"/>
          </a:xfrm>
          <a:prstGeom prst="rect">
            <a:avLst/>
          </a:prstGeom>
        </p:spPr>
      </p:pic>
      <p:sp>
        <p:nvSpPr>
          <p:cNvPr id="6" name="TextBox 5">
            <a:extLst>
              <a:ext uri="{FF2B5EF4-FFF2-40B4-BE49-F238E27FC236}">
                <a16:creationId xmlns:a16="http://schemas.microsoft.com/office/drawing/2014/main" id="{59657A43-D621-B13B-F86A-2AB6B23AB25B}"/>
              </a:ext>
            </a:extLst>
          </p:cNvPr>
          <p:cNvSpPr txBox="1"/>
          <p:nvPr/>
        </p:nvSpPr>
        <p:spPr>
          <a:xfrm>
            <a:off x="944880" y="2078071"/>
            <a:ext cx="10140582" cy="2955040"/>
          </a:xfrm>
          <a:prstGeom prst="rect">
            <a:avLst/>
          </a:prstGeom>
          <a:noFill/>
        </p:spPr>
        <p:txBody>
          <a:bodyPr wrap="square" rtlCol="0">
            <a:spAutoFit/>
          </a:bodyPr>
          <a:lstStyle/>
          <a:p>
            <a:pPr algn="ctr">
              <a:lnSpc>
                <a:spcPct val="107000"/>
              </a:lnSpc>
              <a:spcAft>
                <a:spcPts val="800"/>
              </a:spcAft>
              <a:buNone/>
            </a:pPr>
            <a:r>
              <a:rPr lang="en-US" sz="2400" b="1" dirty="0">
                <a:latin typeface="Times New Roman" panose="02020603050405020304" pitchFamily="18" charset="0"/>
                <a:cs typeface="Times New Roman" panose="02020603050405020304" pitchFamily="18" charset="0"/>
              </a:rPr>
              <a:t>Title 1: </a:t>
            </a:r>
            <a:r>
              <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rPr>
              <a:t>Evaluating the Graph-Based Network Model against the Rule-Based Spatial Model for crime hotspot identification.</a:t>
            </a:r>
            <a:endParaRPr lang="en-IN" sz="2400" b="1" kern="100" dirty="0">
              <a:effectLst/>
              <a:latin typeface="Calibri" panose="020F0502020204030204" pitchFamily="34" charset="0"/>
              <a:ea typeface="Calibri" panose="020F0502020204030204" pitchFamily="34" charset="0"/>
              <a:cs typeface="Times New Roman" panose="02020603050405020304" pitchFamily="18" charset="0"/>
            </a:endParaRPr>
          </a:p>
          <a:p>
            <a:pPr algn="ctr" fontAlgn="ctr"/>
            <a:endParaRPr lang="en-US" sz="2400" b="1" dirty="0">
              <a:latin typeface="Times New Roman" panose="02020603050405020304" pitchFamily="18" charset="0"/>
              <a:cs typeface="Times New Roman" panose="02020603050405020304" pitchFamily="18" charset="0"/>
            </a:endParaRPr>
          </a:p>
          <a:p>
            <a:pPr algn="ctr" fontAlgn="ctr"/>
            <a:endParaRPr lang="en-US" sz="2400" b="1" dirty="0">
              <a:latin typeface="Times New Roman" panose="02020603050405020304" pitchFamily="18" charset="0"/>
              <a:cs typeface="Times New Roman" panose="02020603050405020304" pitchFamily="18" charset="0"/>
            </a:endParaRPr>
          </a:p>
          <a:p>
            <a:pPr algn="ctr" fontAlgn="ctr"/>
            <a:endParaRPr lang="en-US" sz="2000" dirty="0">
              <a:latin typeface="Times New Roman" panose="02020603050405020304" pitchFamily="18" charset="0"/>
              <a:cs typeface="Times New Roman" panose="02020603050405020304" pitchFamily="18" charset="0"/>
            </a:endParaRPr>
          </a:p>
          <a:p>
            <a:pPr algn="ctr" fontAlgn="ctr"/>
            <a:endParaRPr lang="en-US" sz="2000" dirty="0">
              <a:latin typeface="Times New Roman" panose="02020603050405020304" pitchFamily="18" charset="0"/>
              <a:cs typeface="Times New Roman" panose="02020603050405020304" pitchFamily="18" charset="0"/>
            </a:endParaRPr>
          </a:p>
          <a:p>
            <a:pPr algn="ctr" fontAlgn="ctr"/>
            <a:endParaRPr lang="en-US" sz="2000" b="1" dirty="0">
              <a:latin typeface="Times New Roman" panose="02020603050405020304" pitchFamily="18" charset="0"/>
              <a:cs typeface="Times New Roman" panose="02020603050405020304" pitchFamily="18" charset="0"/>
            </a:endParaRPr>
          </a:p>
          <a:p>
            <a:pPr algn="ctr" fontAlgn="ctr"/>
            <a:endParaRPr lang="en-US" sz="20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9CDFC02E-FCB7-5EDE-57AF-75DC200164C8}"/>
              </a:ext>
            </a:extLst>
          </p:cNvPr>
          <p:cNvSpPr txBox="1"/>
          <p:nvPr/>
        </p:nvSpPr>
        <p:spPr>
          <a:xfrm>
            <a:off x="1106538" y="4555671"/>
            <a:ext cx="3942982" cy="707886"/>
          </a:xfrm>
          <a:prstGeom prst="rect">
            <a:avLst/>
          </a:prstGeom>
          <a:noFill/>
        </p:spPr>
        <p:txBody>
          <a:bodyPr wrap="square">
            <a:spAutoFit/>
          </a:bodyPr>
          <a:lstStyle/>
          <a:p>
            <a:pPr>
              <a:lnSpc>
                <a:spcPct val="100000"/>
              </a:lnSpc>
            </a:pPr>
            <a:r>
              <a:rPr lang="en-US" sz="2000" b="1" dirty="0">
                <a:latin typeface="Times New Roman" panose="02020603050405020304" pitchFamily="18" charset="0"/>
                <a:cs typeface="Times New Roman" panose="02020603050405020304" pitchFamily="18" charset="0"/>
              </a:rPr>
              <a:t>Name: </a:t>
            </a:r>
            <a:r>
              <a:rPr lang="en-US" sz="2000" dirty="0">
                <a:latin typeface="Times New Roman" panose="02020603050405020304" pitchFamily="18" charset="0"/>
                <a:cs typeface="Times New Roman" panose="02020603050405020304" pitchFamily="18" charset="0"/>
              </a:rPr>
              <a:t>Sameer Ahmed G</a:t>
            </a:r>
          </a:p>
          <a:p>
            <a:pPr>
              <a:lnSpc>
                <a:spcPct val="100000"/>
              </a:lnSpc>
            </a:pPr>
            <a:r>
              <a:rPr lang="en-US" sz="2000" b="1" dirty="0">
                <a:latin typeface="Times New Roman" panose="02020603050405020304" pitchFamily="18" charset="0"/>
                <a:cs typeface="Times New Roman" panose="02020603050405020304" pitchFamily="18" charset="0"/>
              </a:rPr>
              <a:t>Reg No: </a:t>
            </a:r>
            <a:r>
              <a:rPr lang="en-US" sz="2000" dirty="0">
                <a:latin typeface="Times New Roman" panose="02020603050405020304" pitchFamily="18" charset="0"/>
                <a:cs typeface="Times New Roman" panose="02020603050405020304" pitchFamily="18" charset="0"/>
              </a:rPr>
              <a:t>192421154</a:t>
            </a:r>
          </a:p>
        </p:txBody>
      </p:sp>
      <p:sp>
        <p:nvSpPr>
          <p:cNvPr id="7" name="TextBox 6">
            <a:extLst>
              <a:ext uri="{FF2B5EF4-FFF2-40B4-BE49-F238E27FC236}">
                <a16:creationId xmlns:a16="http://schemas.microsoft.com/office/drawing/2014/main" id="{2EDA69BA-EE18-37EF-74CA-3FA26DFA9A97}"/>
              </a:ext>
            </a:extLst>
          </p:cNvPr>
          <p:cNvSpPr txBox="1"/>
          <p:nvPr/>
        </p:nvSpPr>
        <p:spPr>
          <a:xfrm>
            <a:off x="3606800" y="3429000"/>
            <a:ext cx="6096000" cy="707886"/>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SPIC2A29 - </a:t>
            </a:r>
            <a:r>
              <a:rPr lang="en-US" sz="2000" dirty="0">
                <a:latin typeface="Times New Roman" panose="02020603050405020304" pitchFamily="18" charset="0"/>
                <a:cs typeface="Times New Roman" panose="02020603050405020304" pitchFamily="18" charset="0"/>
              </a:rPr>
              <a:t>Project 2 for Cyber Security</a:t>
            </a:r>
            <a:br>
              <a:rPr lang="en-US" sz="2000" b="1"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Course Faculty</a:t>
            </a:r>
            <a:r>
              <a:rPr lang="en-US"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DR Nanthini S</a:t>
            </a:r>
          </a:p>
        </p:txBody>
      </p:sp>
      <p:sp>
        <p:nvSpPr>
          <p:cNvPr id="9" name="TextBox 8">
            <a:extLst>
              <a:ext uri="{FF2B5EF4-FFF2-40B4-BE49-F238E27FC236}">
                <a16:creationId xmlns:a16="http://schemas.microsoft.com/office/drawing/2014/main" id="{E9CE4CB8-E72C-388A-45DD-1C6EDFE560E9}"/>
              </a:ext>
            </a:extLst>
          </p:cNvPr>
          <p:cNvSpPr txBox="1"/>
          <p:nvPr/>
        </p:nvSpPr>
        <p:spPr>
          <a:xfrm>
            <a:off x="6936013" y="4475241"/>
            <a:ext cx="4768307" cy="836126"/>
          </a:xfrm>
          <a:prstGeom prst="rect">
            <a:avLst/>
          </a:prstGeom>
          <a:noFill/>
        </p:spPr>
        <p:txBody>
          <a:bodyPr wrap="square">
            <a:spAutoFit/>
          </a:bodyPr>
          <a:lstStyle/>
          <a:p>
            <a:pPr defTabSz="914400">
              <a:spcBef>
                <a:spcPts val="1000"/>
              </a:spcBef>
            </a:pPr>
            <a:r>
              <a:rPr lang="en-US" sz="2000" b="1" dirty="0">
                <a:solidFill>
                  <a:schemeClr val="tx1"/>
                </a:solidFill>
                <a:latin typeface="Times New Roman" panose="02020603050405020304" pitchFamily="18" charset="0"/>
                <a:cs typeface="Times New Roman" panose="02020603050405020304" pitchFamily="18" charset="0"/>
              </a:rPr>
              <a:t>Guide Name:</a:t>
            </a:r>
            <a:r>
              <a:rPr lang="en-US" sz="2000" dirty="0">
                <a:solidFill>
                  <a:schemeClr val="tx1"/>
                </a:solidFill>
                <a:latin typeface="Times New Roman" panose="02020603050405020304" pitchFamily="18" charset="0"/>
                <a:cs typeface="Times New Roman" panose="02020603050405020304" pitchFamily="18" charset="0"/>
              </a:rPr>
              <a:t> D</a:t>
            </a:r>
            <a:r>
              <a:rPr lang="en-US" sz="2000" dirty="0">
                <a:latin typeface="Times New Roman" panose="02020603050405020304" pitchFamily="18" charset="0"/>
                <a:cs typeface="Times New Roman" panose="02020603050405020304" pitchFamily="18" charset="0"/>
              </a:rPr>
              <a:t>r </a:t>
            </a:r>
            <a:r>
              <a:rPr lang="en-US" sz="2000" dirty="0">
                <a:solidFill>
                  <a:schemeClr val="tx1"/>
                </a:solidFill>
                <a:latin typeface="Times New Roman" panose="02020603050405020304" pitchFamily="18" charset="0"/>
                <a:cs typeface="Times New Roman" panose="02020603050405020304" pitchFamily="18" charset="0"/>
              </a:rPr>
              <a:t>Rashmita Khilar</a:t>
            </a:r>
            <a:endParaRPr lang="en-US" sz="2000" dirty="0">
              <a:latin typeface="Times New Roman" panose="02020603050405020304" pitchFamily="18" charset="0"/>
              <a:cs typeface="Times New Roman" panose="02020603050405020304" pitchFamily="18" charset="0"/>
            </a:endParaRPr>
          </a:p>
          <a:p>
            <a:pPr defTabSz="914400">
              <a:spcBef>
                <a:spcPts val="1000"/>
              </a:spcBef>
            </a:pPr>
            <a:r>
              <a:rPr lang="en-US" sz="2000" b="1" dirty="0">
                <a:solidFill>
                  <a:schemeClr val="tx1"/>
                </a:solidFill>
                <a:latin typeface="Times New Roman" panose="02020603050405020304" pitchFamily="18" charset="0"/>
                <a:cs typeface="Times New Roman" panose="02020603050405020304" pitchFamily="18" charset="0"/>
              </a:rPr>
              <a:t>Guide Dept:</a:t>
            </a:r>
            <a:r>
              <a:rPr lang="en-US" sz="2000" dirty="0">
                <a:solidFill>
                  <a:schemeClr val="tx1"/>
                </a:solidFill>
                <a:latin typeface="Times New Roman" panose="02020603050405020304" pitchFamily="18" charset="0"/>
                <a:cs typeface="Times New Roman" panose="02020603050405020304" pitchFamily="18" charset="0"/>
              </a:rPr>
              <a:t> Cyber Security</a:t>
            </a:r>
          </a:p>
        </p:txBody>
      </p:sp>
    </p:spTree>
    <p:extLst>
      <p:ext uri="{BB962C8B-B14F-4D97-AF65-F5344CB8AC3E}">
        <p14:creationId xmlns:p14="http://schemas.microsoft.com/office/powerpoint/2010/main" val="4007151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B85FA8-E28F-F4EF-DD0A-319D600DE95A}"/>
              </a:ext>
            </a:extLst>
          </p:cNvPr>
          <p:cNvSpPr>
            <a:spLocks noGrp="1"/>
          </p:cNvSpPr>
          <p:nvPr>
            <p:ph type="title"/>
          </p:nvPr>
        </p:nvSpPr>
        <p:spPr>
          <a:xfrm>
            <a:off x="838200" y="1373744"/>
            <a:ext cx="10075718" cy="800496"/>
          </a:xfrm>
        </p:spPr>
        <p:txBody>
          <a:bodyPr/>
          <a:lstStyle/>
          <a:p>
            <a:pPr algn="ctr"/>
            <a:r>
              <a:rPr lang="en-US" b="1" dirty="0">
                <a:latin typeface="Times New Roman" panose="02020603050405020304" pitchFamily="18" charset="0"/>
                <a:cs typeface="Times New Roman" panose="02020603050405020304" pitchFamily="18" charset="0"/>
              </a:rPr>
              <a:t>PICO</a:t>
            </a:r>
            <a:endParaRPr lang="en-IN"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78A03A72-5F9F-6682-5CC6-C1AAC9087B79}"/>
              </a:ext>
            </a:extLst>
          </p:cNvPr>
          <p:cNvPicPr/>
          <p:nvPr/>
        </p:nvPicPr>
        <p:blipFill>
          <a:blip r:embed="rId2"/>
          <a:stretch>
            <a:fillRect/>
          </a:stretch>
        </p:blipFill>
        <p:spPr>
          <a:xfrm>
            <a:off x="487680" y="109189"/>
            <a:ext cx="11204402" cy="1264555"/>
          </a:xfrm>
          <a:prstGeom prst="rect">
            <a:avLst/>
          </a:prstGeom>
        </p:spPr>
      </p:pic>
      <p:sp>
        <p:nvSpPr>
          <p:cNvPr id="5" name="Rectangle 1">
            <a:extLst>
              <a:ext uri="{FF2B5EF4-FFF2-40B4-BE49-F238E27FC236}">
                <a16:creationId xmlns:a16="http://schemas.microsoft.com/office/drawing/2014/main" id="{9EDEFA65-1D7E-7BC3-F5A8-8CAD70B3F11B}"/>
              </a:ext>
            </a:extLst>
          </p:cNvPr>
          <p:cNvSpPr>
            <a:spLocks noChangeArrowheads="1"/>
          </p:cNvSpPr>
          <p:nvPr/>
        </p:nvSpPr>
        <p:spPr bwMode="auto">
          <a:xfrm>
            <a:off x="1176482" y="2064318"/>
            <a:ext cx="10515600" cy="44579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P(Population)</a:t>
            </a:r>
          </a:p>
          <a:p>
            <a:pPr lvl="0" eaLnBrk="0" fontAlgn="base" hangingPunct="0">
              <a:lnSpc>
                <a:spcPct val="150000"/>
              </a:lnSpc>
              <a:spcBef>
                <a:spcPct val="0"/>
              </a:spcBef>
              <a:spcAft>
                <a:spcPct val="0"/>
              </a:spcAft>
            </a:pPr>
            <a:r>
              <a:rPr lang="en-US" altLang="en-US" sz="2400" b="1" dirty="0">
                <a:latin typeface="Times New Roman" panose="02020603050405020304" pitchFamily="18" charset="0"/>
                <a:cs typeface="Times New Roman" panose="02020603050405020304" pitchFamily="18" charset="0"/>
              </a:rPr>
              <a:t>      </a:t>
            </a:r>
            <a:r>
              <a:rPr lang="en-US" altLang="en-US" sz="2400" dirty="0">
                <a:latin typeface="Times New Roman" panose="02020603050405020304" pitchFamily="18" charset="0"/>
                <a:cs typeface="Times New Roman" panose="02020603050405020304" pitchFamily="18" charset="0"/>
              </a:rPr>
              <a:t> Image and video datasets containing authentic and deepfake media</a:t>
            </a: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I(Intervention)</a:t>
            </a:r>
          </a:p>
          <a:p>
            <a:pPr lvl="0" eaLnBrk="0" fontAlgn="base" hangingPunct="0">
              <a:lnSpc>
                <a:spcPct val="150000"/>
              </a:lnSpc>
              <a:spcBef>
                <a:spcPct val="0"/>
              </a:spcBef>
              <a:spcAft>
                <a:spcPct val="0"/>
              </a:spcAft>
            </a:pPr>
            <a:r>
              <a:rPr lang="en-US" altLang="en-US" sz="2400" b="1" dirty="0">
                <a:latin typeface="Times New Roman" panose="02020603050405020304" pitchFamily="18" charset="0"/>
                <a:cs typeface="Times New Roman" panose="02020603050405020304" pitchFamily="18" charset="0"/>
              </a:rPr>
              <a:t>        </a:t>
            </a:r>
            <a:r>
              <a:rPr lang="en-US" altLang="en-US" sz="2400" dirty="0">
                <a:latin typeface="Times New Roman" panose="02020603050405020304" pitchFamily="18" charset="0"/>
                <a:cs typeface="Times New Roman" panose="02020603050405020304" pitchFamily="18" charset="0"/>
              </a:rPr>
              <a:t>Multimodal AI models integrating multiple data modalities</a:t>
            </a: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C(Comparison)</a:t>
            </a:r>
          </a:p>
          <a:p>
            <a:pPr lvl="0" eaLnBrk="0" fontAlgn="base" hangingPunct="0">
              <a:lnSpc>
                <a:spcPct val="150000"/>
              </a:lnSpc>
              <a:spcBef>
                <a:spcPct val="0"/>
              </a:spcBef>
              <a:spcAft>
                <a:spcPct val="0"/>
              </a:spcAft>
            </a:pPr>
            <a:r>
              <a:rPr lang="en-US" altLang="en-US" sz="2400" b="1" dirty="0">
                <a:latin typeface="Times New Roman" panose="02020603050405020304" pitchFamily="18" charset="0"/>
                <a:cs typeface="Times New Roman" panose="02020603050405020304" pitchFamily="18" charset="0"/>
              </a:rPr>
              <a:t>        </a:t>
            </a:r>
            <a:r>
              <a:rPr lang="en-US" altLang="en-US" sz="2400" dirty="0">
                <a:latin typeface="Times New Roman" panose="02020603050405020304" pitchFamily="18" charset="0"/>
                <a:cs typeface="Times New Roman" panose="02020603050405020304" pitchFamily="18" charset="0"/>
              </a:rPr>
              <a:t>GAN-based detection approaches</a:t>
            </a: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O(Outcome)</a:t>
            </a:r>
          </a:p>
          <a:p>
            <a:pPr lvl="0" eaLnBrk="0" fontAlgn="base" hangingPunct="0">
              <a:lnSpc>
                <a:spcPct val="150000"/>
              </a:lnSpc>
              <a:spcBef>
                <a:spcPct val="0"/>
              </a:spcBef>
              <a:spcAft>
                <a:spcPct val="0"/>
              </a:spcAft>
            </a:pPr>
            <a:r>
              <a:rPr lang="en-US" altLang="en-US" sz="2400" b="1" dirty="0">
                <a:latin typeface="Times New Roman" panose="02020603050405020304" pitchFamily="18" charset="0"/>
                <a:cs typeface="Times New Roman" panose="02020603050405020304" pitchFamily="18" charset="0"/>
              </a:rPr>
              <a:t>        </a:t>
            </a:r>
            <a:r>
              <a:rPr lang="en-US" altLang="en-US" sz="2400" dirty="0">
                <a:latin typeface="Times New Roman" panose="02020603050405020304" pitchFamily="18" charset="0"/>
                <a:cs typeface="Times New Roman" panose="02020603050405020304" pitchFamily="18" charset="0"/>
              </a:rPr>
              <a:t> Improved authentication performance (accuracy and robustness)</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669240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5DC82-73F8-B837-A8BB-CD9ABC40D3BE}"/>
              </a:ext>
            </a:extLst>
          </p:cNvPr>
          <p:cNvSpPr>
            <a:spLocks noGrp="1"/>
          </p:cNvSpPr>
          <p:nvPr>
            <p:ph type="title"/>
          </p:nvPr>
        </p:nvSpPr>
        <p:spPr>
          <a:xfrm>
            <a:off x="838200" y="1566535"/>
            <a:ext cx="10515600" cy="727363"/>
          </a:xfrm>
        </p:spPr>
        <p:txBody>
          <a:bodyPr/>
          <a:lstStyle/>
          <a:p>
            <a:pPr algn="ctr"/>
            <a:r>
              <a:rPr lang="en-US" b="1" dirty="0">
                <a:latin typeface="Times New Roman" panose="02020603050405020304" pitchFamily="18" charset="0"/>
                <a:cs typeface="Times New Roman" panose="02020603050405020304" pitchFamily="18" charset="0"/>
              </a:rPr>
              <a:t>DATA SET</a:t>
            </a:r>
            <a:endParaRPr lang="en-IN"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28BE20B8-FE40-53AB-F82A-FB4E57D1D945}"/>
              </a:ext>
            </a:extLst>
          </p:cNvPr>
          <p:cNvPicPr/>
          <p:nvPr/>
        </p:nvPicPr>
        <p:blipFill>
          <a:blip r:embed="rId2"/>
          <a:stretch>
            <a:fillRect/>
          </a:stretch>
        </p:blipFill>
        <p:spPr>
          <a:xfrm>
            <a:off x="477520" y="216724"/>
            <a:ext cx="11267440" cy="1264555"/>
          </a:xfrm>
          <a:prstGeom prst="rect">
            <a:avLst/>
          </a:prstGeom>
        </p:spPr>
      </p:pic>
      <p:sp>
        <p:nvSpPr>
          <p:cNvPr id="5" name="Rectangle 1">
            <a:extLst>
              <a:ext uri="{FF2B5EF4-FFF2-40B4-BE49-F238E27FC236}">
                <a16:creationId xmlns:a16="http://schemas.microsoft.com/office/drawing/2014/main" id="{18AAB90C-A620-D1C3-60EC-AAB70E5E2324}"/>
              </a:ext>
            </a:extLst>
          </p:cNvPr>
          <p:cNvSpPr>
            <a:spLocks noGrp="1" noChangeArrowheads="1"/>
          </p:cNvSpPr>
          <p:nvPr>
            <p:ph idx="1"/>
          </p:nvPr>
        </p:nvSpPr>
        <p:spPr bwMode="auto">
          <a:xfrm>
            <a:off x="2072640" y="2137426"/>
            <a:ext cx="9855200" cy="1047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50000"/>
              </a:lnSpc>
              <a:spcBef>
                <a:spcPct val="0"/>
              </a:spcBef>
              <a:spcAft>
                <a:spcPct val="0"/>
              </a:spcAft>
              <a:buNone/>
            </a:pPr>
            <a:r>
              <a:rPr lang="en-US" altLang="en-US" sz="2200" dirty="0">
                <a:latin typeface="Times New Roman" panose="02020603050405020304" pitchFamily="18" charset="0"/>
                <a:cs typeface="Times New Roman" panose="02020603050405020304" pitchFamily="18" charset="0"/>
                <a:hlinkClick r:id="rId3"/>
              </a:rPr>
              <a:t>https://www.kaggle.com/code/aditya48/real-and-fake-face-detection</a:t>
            </a:r>
            <a:endParaRPr lang="en-US" altLang="en-US" sz="2200" dirty="0">
              <a:latin typeface="Times New Roman" panose="02020603050405020304" pitchFamily="18" charset="0"/>
              <a:cs typeface="Times New Roman" panose="02020603050405020304" pitchFamily="18" charset="0"/>
            </a:endParaRPr>
          </a:p>
          <a:p>
            <a:pPr marL="0" lvl="0" indent="0" eaLnBrk="0" fontAlgn="base" hangingPunct="0">
              <a:lnSpc>
                <a:spcPct val="150000"/>
              </a:lnSpc>
              <a:spcBef>
                <a:spcPct val="0"/>
              </a:spcBef>
              <a:spcAft>
                <a:spcPct val="0"/>
              </a:spcAft>
              <a:buNone/>
            </a:pP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161AA9EB-19C8-D9AA-9D63-847A0ED8494D}"/>
              </a:ext>
            </a:extLst>
          </p:cNvPr>
          <p:cNvSpPr txBox="1"/>
          <p:nvPr/>
        </p:nvSpPr>
        <p:spPr>
          <a:xfrm>
            <a:off x="843280" y="3184636"/>
            <a:ext cx="10642600" cy="1323439"/>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The dataset consists of approximately </a:t>
            </a:r>
            <a:r>
              <a:rPr lang="en-US" sz="2000" b="1" dirty="0">
                <a:latin typeface="Times New Roman" panose="02020603050405020304" pitchFamily="18" charset="0"/>
                <a:cs typeface="Times New Roman" panose="02020603050405020304" pitchFamily="18" charset="0"/>
              </a:rPr>
              <a:t>2000+ instances</a:t>
            </a:r>
            <a:r>
              <a:rPr lang="en-US" sz="2000" dirty="0">
                <a:latin typeface="Times New Roman" panose="02020603050405020304" pitchFamily="18" charset="0"/>
                <a:cs typeface="Times New Roman" panose="02020603050405020304" pitchFamily="18" charset="0"/>
              </a:rPr>
              <a:t> with attributes representing facial image data for deepfake detection. It includes both real and manipulated (fake) face images created using advanced editing techniques such as facial feature swapping and image synthesis, enabling analysis of detection performance across multiple AI techniques.</a:t>
            </a:r>
            <a:endParaRPr lang="en-IN" sz="20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5D6184E0-9817-7832-ADD5-E17C26728C4E}"/>
              </a:ext>
            </a:extLst>
          </p:cNvPr>
          <p:cNvSpPr txBox="1"/>
          <p:nvPr/>
        </p:nvSpPr>
        <p:spPr>
          <a:xfrm>
            <a:off x="1087120" y="4593331"/>
            <a:ext cx="3037840" cy="1908215"/>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List of Attributes</a:t>
            </a:r>
          </a:p>
          <a:p>
            <a:pPr>
              <a:buFont typeface="Arial" panose="020B0604020202020204" pitchFamily="34" charset="0"/>
              <a:buChar char="•"/>
            </a:pPr>
            <a:r>
              <a:rPr lang="en-US" sz="2000" dirty="0" err="1">
                <a:latin typeface="Times New Roman" panose="02020603050405020304" pitchFamily="18" charset="0"/>
                <a:cs typeface="Times New Roman" panose="02020603050405020304" pitchFamily="18" charset="0"/>
              </a:rPr>
              <a:t>Image_Data</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PixelValues</a:t>
            </a:r>
            <a:r>
              <a:rPr lang="en-US" sz="2000"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sz="2000" dirty="0" err="1">
                <a:latin typeface="Times New Roman" panose="02020603050405020304" pitchFamily="18" charset="0"/>
                <a:cs typeface="Times New Roman" panose="02020603050405020304" pitchFamily="18" charset="0"/>
              </a:rPr>
              <a:t>Image_Width</a:t>
            </a:r>
            <a:r>
              <a:rPr lang="en-US" sz="2000"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sz="2000" dirty="0" err="1">
                <a:latin typeface="Times New Roman" panose="02020603050405020304" pitchFamily="18" charset="0"/>
                <a:cs typeface="Times New Roman" panose="02020603050405020304" pitchFamily="18" charset="0"/>
              </a:rPr>
              <a:t>Image_Height</a:t>
            </a:r>
            <a:r>
              <a:rPr lang="en-US" sz="2000"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sz="2000" dirty="0" err="1">
                <a:latin typeface="Times New Roman" panose="02020603050405020304" pitchFamily="18" charset="0"/>
                <a:cs typeface="Times New Roman" panose="02020603050405020304" pitchFamily="18" charset="0"/>
              </a:rPr>
              <a:t>Color_Channels</a:t>
            </a:r>
            <a:r>
              <a:rPr lang="en-US" sz="2000" dirty="0">
                <a:latin typeface="Times New Roman" panose="02020603050405020304" pitchFamily="18" charset="0"/>
                <a:cs typeface="Times New Roman" panose="02020603050405020304" pitchFamily="18" charset="0"/>
              </a:rPr>
              <a:t> (RGB)</a:t>
            </a:r>
            <a:r>
              <a:rPr lang="en-US" sz="2000" dirty="0"/>
              <a:t> </a:t>
            </a:r>
          </a:p>
          <a:p>
            <a:endParaRPr lang="en-US" dirty="0"/>
          </a:p>
        </p:txBody>
      </p:sp>
      <p:sp>
        <p:nvSpPr>
          <p:cNvPr id="11" name="TextBox 10">
            <a:extLst>
              <a:ext uri="{FF2B5EF4-FFF2-40B4-BE49-F238E27FC236}">
                <a16:creationId xmlns:a16="http://schemas.microsoft.com/office/drawing/2014/main" id="{560406A8-E0A9-5D3D-F64E-9BE848DADDA5}"/>
              </a:ext>
            </a:extLst>
          </p:cNvPr>
          <p:cNvSpPr txBox="1"/>
          <p:nvPr/>
        </p:nvSpPr>
        <p:spPr>
          <a:xfrm>
            <a:off x="4927600" y="4593331"/>
            <a:ext cx="3291840" cy="1631216"/>
          </a:xfrm>
          <a:prstGeom prst="rect">
            <a:avLst/>
          </a:prstGeom>
          <a:noFill/>
        </p:spPr>
        <p:txBody>
          <a:bodyPr wrap="square">
            <a:spAutoFit/>
          </a:bodyPr>
          <a:lstStyle/>
          <a:p>
            <a:pPr>
              <a:buFont typeface="Arial" panose="020B0604020202020204" pitchFamily="34" charset="0"/>
              <a:buChar char="•"/>
            </a:pPr>
            <a:r>
              <a:rPr lang="en-US" sz="2000" dirty="0" err="1">
                <a:latin typeface="Times New Roman" panose="02020603050405020304" pitchFamily="18" charset="0"/>
                <a:cs typeface="Times New Roman" panose="02020603050405020304" pitchFamily="18" charset="0"/>
              </a:rPr>
              <a:t>Texture_Features</a:t>
            </a:r>
            <a:r>
              <a:rPr lang="en-US" sz="2000"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sz="2000" dirty="0" err="1">
                <a:latin typeface="Times New Roman" panose="02020603050405020304" pitchFamily="18" charset="0"/>
                <a:cs typeface="Times New Roman" panose="02020603050405020304" pitchFamily="18" charset="0"/>
              </a:rPr>
              <a:t>Edge_Features</a:t>
            </a:r>
            <a:r>
              <a:rPr lang="en-US" sz="2000"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sz="2000" dirty="0" err="1">
                <a:latin typeface="Times New Roman" panose="02020603050405020304" pitchFamily="18" charset="0"/>
                <a:cs typeface="Times New Roman" panose="02020603050405020304" pitchFamily="18" charset="0"/>
              </a:rPr>
              <a:t>Facial_Regions</a:t>
            </a:r>
            <a:r>
              <a:rPr lang="en-US" sz="2000"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Resolution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Label (Real/Fake)</a:t>
            </a:r>
          </a:p>
        </p:txBody>
      </p:sp>
    </p:spTree>
    <p:extLst>
      <p:ext uri="{BB962C8B-B14F-4D97-AF65-F5344CB8AC3E}">
        <p14:creationId xmlns:p14="http://schemas.microsoft.com/office/powerpoint/2010/main" val="11542507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48BC04-A039-249B-7C5E-36ADAF81C4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5FE79D-665E-EFBE-07F1-1116268D17F5}"/>
              </a:ext>
            </a:extLst>
          </p:cNvPr>
          <p:cNvSpPr>
            <a:spLocks noGrp="1"/>
          </p:cNvSpPr>
          <p:nvPr>
            <p:ph type="title"/>
          </p:nvPr>
        </p:nvSpPr>
        <p:spPr>
          <a:xfrm>
            <a:off x="809947" y="1383120"/>
            <a:ext cx="10106347" cy="1110819"/>
          </a:xfrm>
        </p:spPr>
        <p:txBody>
          <a:bodyPr/>
          <a:lstStyle/>
          <a:p>
            <a:pPr algn="ctr"/>
            <a:r>
              <a:rPr lang="en-US" b="1" dirty="0">
                <a:latin typeface="Times New Roman" panose="02020603050405020304" pitchFamily="18" charset="0"/>
                <a:cs typeface="Times New Roman" panose="02020603050405020304" pitchFamily="18" charset="0"/>
              </a:rPr>
              <a:t>KEY ATTRIBUTES </a:t>
            </a:r>
          </a:p>
        </p:txBody>
      </p:sp>
      <p:pic>
        <p:nvPicPr>
          <p:cNvPr id="7" name="Picture 6">
            <a:extLst>
              <a:ext uri="{FF2B5EF4-FFF2-40B4-BE49-F238E27FC236}">
                <a16:creationId xmlns:a16="http://schemas.microsoft.com/office/drawing/2014/main" id="{1FF3D50A-754E-AD36-8717-FC6FE02EFAA0}"/>
              </a:ext>
            </a:extLst>
          </p:cNvPr>
          <p:cNvPicPr/>
          <p:nvPr/>
        </p:nvPicPr>
        <p:blipFill>
          <a:blip r:embed="rId3"/>
          <a:stretch>
            <a:fillRect/>
          </a:stretch>
        </p:blipFill>
        <p:spPr>
          <a:xfrm>
            <a:off x="467360" y="118565"/>
            <a:ext cx="11257280" cy="1264555"/>
          </a:xfrm>
          <a:prstGeom prst="rect">
            <a:avLst/>
          </a:prstGeom>
        </p:spPr>
      </p:pic>
      <p:sp>
        <p:nvSpPr>
          <p:cNvPr id="4" name="Rectangle 2">
            <a:extLst>
              <a:ext uri="{FF2B5EF4-FFF2-40B4-BE49-F238E27FC236}">
                <a16:creationId xmlns:a16="http://schemas.microsoft.com/office/drawing/2014/main" id="{F7E1BDB6-4FCF-B4A1-8936-0204B9A08168}"/>
              </a:ext>
            </a:extLst>
          </p:cNvPr>
          <p:cNvSpPr>
            <a:spLocks noGrp="1" noChangeArrowheads="1"/>
          </p:cNvSpPr>
          <p:nvPr>
            <p:ph idx="1"/>
          </p:nvPr>
        </p:nvSpPr>
        <p:spPr bwMode="auto">
          <a:xfrm>
            <a:off x="1071880" y="2612504"/>
            <a:ext cx="9413239"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Image_Data</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(Pixel Values)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Core numerical representation of images used for model training and prediction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Color_Channels</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(RGB)</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Provides color information that helps detect unnatural patterns in fake images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Texture_Features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Identifies irregular skin textures and smoothing artifacts in manipulated faces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Edge_Features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Detects sharp transitions and inconsistencies caused by editing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Facial_Regions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Focuses on key areas like eyes, nose, and mouth where manipulation is common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Resolution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Affects feature quality and model accuracy in detecting deepfakes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Label (Real/Fake)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Target variable used for classification of images </a:t>
            </a:r>
          </a:p>
        </p:txBody>
      </p:sp>
    </p:spTree>
    <p:extLst>
      <p:ext uri="{BB962C8B-B14F-4D97-AF65-F5344CB8AC3E}">
        <p14:creationId xmlns:p14="http://schemas.microsoft.com/office/powerpoint/2010/main" val="19265786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435BE-22F5-535B-714F-B02B8A7FD1B6}"/>
              </a:ext>
            </a:extLst>
          </p:cNvPr>
          <p:cNvSpPr>
            <a:spLocks noGrp="1"/>
          </p:cNvSpPr>
          <p:nvPr>
            <p:ph type="title"/>
          </p:nvPr>
        </p:nvSpPr>
        <p:spPr>
          <a:xfrm>
            <a:off x="838200" y="1635407"/>
            <a:ext cx="10515600" cy="678927"/>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SAMPLE SIZE CALCULATION </a:t>
            </a:r>
            <a:endParaRPr lang="en-IN"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52A00DD3-8B63-3071-1759-E9E32B11684E}"/>
              </a:ext>
            </a:extLst>
          </p:cNvPr>
          <p:cNvPicPr/>
          <p:nvPr/>
        </p:nvPicPr>
        <p:blipFill>
          <a:blip r:embed="rId3"/>
          <a:stretch>
            <a:fillRect/>
          </a:stretch>
        </p:blipFill>
        <p:spPr>
          <a:xfrm>
            <a:off x="538480" y="182851"/>
            <a:ext cx="11077388" cy="1264555"/>
          </a:xfrm>
          <a:prstGeom prst="rect">
            <a:avLst/>
          </a:prstGeom>
        </p:spPr>
      </p:pic>
      <p:sp>
        <p:nvSpPr>
          <p:cNvPr id="6" name="TextBox 5">
            <a:extLst>
              <a:ext uri="{FF2B5EF4-FFF2-40B4-BE49-F238E27FC236}">
                <a16:creationId xmlns:a16="http://schemas.microsoft.com/office/drawing/2014/main" id="{FA0AB0B5-8B0E-D15A-4FA3-55DB06776F6B}"/>
              </a:ext>
            </a:extLst>
          </p:cNvPr>
          <p:cNvSpPr txBox="1"/>
          <p:nvPr/>
        </p:nvSpPr>
        <p:spPr>
          <a:xfrm>
            <a:off x="3373120" y="2376089"/>
            <a:ext cx="6096000" cy="369332"/>
          </a:xfrm>
          <a:prstGeom prst="rect">
            <a:avLst/>
          </a:prstGeom>
          <a:noFill/>
        </p:spPr>
        <p:txBody>
          <a:bodyPr wrap="square">
            <a:spAutoFit/>
          </a:bodyPr>
          <a:lstStyle/>
          <a:p>
            <a:pPr algn="ctr"/>
            <a:r>
              <a:rPr lang="en-IN" b="1" dirty="0">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Link: </a:t>
            </a:r>
            <a:r>
              <a:rPr lang="en-IN" dirty="0">
                <a:solidFill>
                  <a:srgbClr val="467886"/>
                </a:solidFill>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https://clincalc.com/stats/samplesize.aspx</a:t>
            </a:r>
            <a:endParaRPr lang="en-IN"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7418DBAA-7A44-68ED-8ABF-272EF32FF0E7}"/>
              </a:ext>
            </a:extLst>
          </p:cNvPr>
          <p:cNvGraphicFramePr>
            <a:graphicFrameLocks noGrp="1"/>
          </p:cNvGraphicFramePr>
          <p:nvPr>
            <p:extLst>
              <p:ext uri="{D42A27DB-BD31-4B8C-83A1-F6EECF244321}">
                <p14:modId xmlns:p14="http://schemas.microsoft.com/office/powerpoint/2010/main" val="4069538120"/>
              </p:ext>
            </p:extLst>
          </p:nvPr>
        </p:nvGraphicFramePr>
        <p:xfrm>
          <a:off x="1131046" y="3545840"/>
          <a:ext cx="4301267" cy="2399385"/>
        </p:xfrm>
        <a:graphic>
          <a:graphicData uri="http://schemas.openxmlformats.org/drawingml/2006/table">
            <a:tbl>
              <a:tblPr firstRow="1" bandRow="1">
                <a:tableStyleId>{2D5ABB26-0587-4C30-8999-92F81FD0307C}</a:tableStyleId>
              </a:tblPr>
              <a:tblGrid>
                <a:gridCol w="2166955">
                  <a:extLst>
                    <a:ext uri="{9D8B030D-6E8A-4147-A177-3AD203B41FA5}">
                      <a16:colId xmlns:a16="http://schemas.microsoft.com/office/drawing/2014/main" val="2299764974"/>
                    </a:ext>
                  </a:extLst>
                </a:gridCol>
                <a:gridCol w="2134312">
                  <a:extLst>
                    <a:ext uri="{9D8B030D-6E8A-4147-A177-3AD203B41FA5}">
                      <a16:colId xmlns:a16="http://schemas.microsoft.com/office/drawing/2014/main" val="630019637"/>
                    </a:ext>
                  </a:extLst>
                </a:gridCol>
              </a:tblGrid>
              <a:tr h="484920">
                <a:tc gridSpan="2">
                  <a:txBody>
                    <a:bodyPr/>
                    <a:lstStyle/>
                    <a:p>
                      <a:pPr algn="ctr"/>
                      <a:r>
                        <a:rPr lang="en-US" sz="2400" b="1" dirty="0">
                          <a:latin typeface="Times New Roman" panose="02020603050405020304" pitchFamily="18" charset="0"/>
                          <a:cs typeface="Times New Roman" panose="02020603050405020304" pitchFamily="18" charset="0"/>
                        </a:rPr>
                        <a:t>Sample Size</a:t>
                      </a:r>
                      <a:endParaRPr lang="en-IN" sz="24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a:p>
                  </a:txBody>
                  <a:tcPr/>
                </a:tc>
                <a:extLst>
                  <a:ext uri="{0D108BD9-81ED-4DB2-BD59-A6C34878D82A}">
                    <a16:rowId xmlns:a16="http://schemas.microsoft.com/office/drawing/2014/main" val="600949408"/>
                  </a:ext>
                </a:extLst>
              </a:tr>
              <a:tr h="622294">
                <a:tc>
                  <a:txBody>
                    <a:bodyPr/>
                    <a:lstStyle/>
                    <a:p>
                      <a:pPr algn="ctr"/>
                      <a:r>
                        <a:rPr lang="en-US" sz="2400" b="1" dirty="0">
                          <a:latin typeface="Times New Roman" panose="02020603050405020304" pitchFamily="18" charset="0"/>
                          <a:cs typeface="Times New Roman" panose="02020603050405020304" pitchFamily="18" charset="0"/>
                        </a:rPr>
                        <a:t>Group 1</a:t>
                      </a:r>
                      <a:endParaRPr lang="en-IN" sz="24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latin typeface="Times New Roman" panose="02020603050405020304" pitchFamily="18" charset="0"/>
                          <a:cs typeface="Times New Roman" panose="02020603050405020304" pitchFamily="18" charset="0"/>
                        </a:rPr>
                        <a:t>179</a:t>
                      </a:r>
                      <a:endParaRPr lang="en-IN"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54618752"/>
                  </a:ext>
                </a:extLst>
              </a:tr>
              <a:tr h="585945">
                <a:tc>
                  <a:txBody>
                    <a:bodyPr/>
                    <a:lstStyle/>
                    <a:p>
                      <a:pPr algn="ctr"/>
                      <a:r>
                        <a:rPr lang="en-US" sz="2400" b="1" dirty="0">
                          <a:latin typeface="Times New Roman" panose="02020603050405020304" pitchFamily="18" charset="0"/>
                          <a:cs typeface="Times New Roman" panose="02020603050405020304" pitchFamily="18" charset="0"/>
                        </a:rPr>
                        <a:t>Group 2</a:t>
                      </a:r>
                      <a:endParaRPr lang="en-IN" sz="24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latin typeface="Times New Roman" panose="02020603050405020304" pitchFamily="18" charset="0"/>
                          <a:cs typeface="Times New Roman" panose="02020603050405020304" pitchFamily="18" charset="0"/>
                        </a:rPr>
                        <a:t>179</a:t>
                      </a:r>
                      <a:endParaRPr lang="en-IN"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21351881"/>
                  </a:ext>
                </a:extLst>
              </a:tr>
              <a:tr h="706226">
                <a:tc>
                  <a:txBody>
                    <a:bodyPr/>
                    <a:lstStyle/>
                    <a:p>
                      <a:pPr algn="ctr"/>
                      <a:r>
                        <a:rPr lang="en-US" sz="2400" b="1" dirty="0">
                          <a:latin typeface="Times New Roman" panose="02020603050405020304" pitchFamily="18" charset="0"/>
                          <a:cs typeface="Times New Roman" panose="02020603050405020304" pitchFamily="18" charset="0"/>
                        </a:rPr>
                        <a:t>Total</a:t>
                      </a:r>
                      <a:endParaRPr lang="en-IN" sz="24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latin typeface="Times New Roman" panose="02020603050405020304" pitchFamily="18" charset="0"/>
                          <a:cs typeface="Times New Roman" panose="02020603050405020304" pitchFamily="18" charset="0"/>
                        </a:rPr>
                        <a:t>358</a:t>
                      </a:r>
                      <a:endParaRPr lang="en-IN"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13885818"/>
                  </a:ext>
                </a:extLst>
              </a:tr>
            </a:tbl>
          </a:graphicData>
        </a:graphic>
      </p:graphicFrame>
      <p:graphicFrame>
        <p:nvGraphicFramePr>
          <p:cNvPr id="5" name="Table 4">
            <a:extLst>
              <a:ext uri="{FF2B5EF4-FFF2-40B4-BE49-F238E27FC236}">
                <a16:creationId xmlns:a16="http://schemas.microsoft.com/office/drawing/2014/main" id="{5AED677C-596C-3B7D-7738-59A3D70F60EE}"/>
              </a:ext>
            </a:extLst>
          </p:cNvPr>
          <p:cNvGraphicFramePr>
            <a:graphicFrameLocks noGrp="1"/>
          </p:cNvGraphicFramePr>
          <p:nvPr>
            <p:extLst>
              <p:ext uri="{D42A27DB-BD31-4B8C-83A1-F6EECF244321}">
                <p14:modId xmlns:p14="http://schemas.microsoft.com/office/powerpoint/2010/main" val="2765477098"/>
              </p:ext>
            </p:extLst>
          </p:nvPr>
        </p:nvGraphicFramePr>
        <p:xfrm>
          <a:off x="6096000" y="3059668"/>
          <a:ext cx="5519868" cy="3237702"/>
        </p:xfrm>
        <a:graphic>
          <a:graphicData uri="http://schemas.openxmlformats.org/drawingml/2006/table">
            <a:tbl>
              <a:tblPr firstRow="1" bandRow="1">
                <a:tableStyleId>{2D5ABB26-0587-4C30-8999-92F81FD0307C}</a:tableStyleId>
              </a:tblPr>
              <a:tblGrid>
                <a:gridCol w="2780880">
                  <a:extLst>
                    <a:ext uri="{9D8B030D-6E8A-4147-A177-3AD203B41FA5}">
                      <a16:colId xmlns:a16="http://schemas.microsoft.com/office/drawing/2014/main" val="2299764974"/>
                    </a:ext>
                  </a:extLst>
                </a:gridCol>
                <a:gridCol w="2738988">
                  <a:extLst>
                    <a:ext uri="{9D8B030D-6E8A-4147-A177-3AD203B41FA5}">
                      <a16:colId xmlns:a16="http://schemas.microsoft.com/office/drawing/2014/main" val="630019637"/>
                    </a:ext>
                  </a:extLst>
                </a:gridCol>
              </a:tblGrid>
              <a:tr h="535096">
                <a:tc gridSpan="2">
                  <a:txBody>
                    <a:bodyPr/>
                    <a:lstStyle/>
                    <a:p>
                      <a:pPr algn="ctr"/>
                      <a:r>
                        <a:rPr lang="en-US" sz="2400" b="1" dirty="0">
                          <a:latin typeface="Times New Roman" panose="02020603050405020304" pitchFamily="18" charset="0"/>
                          <a:cs typeface="Times New Roman" panose="02020603050405020304" pitchFamily="18" charset="0"/>
                        </a:rPr>
                        <a:t>Study Parameters</a:t>
                      </a:r>
                      <a:endParaRPr lang="en-IN" sz="24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a:p>
                  </a:txBody>
                  <a:tcPr/>
                </a:tc>
                <a:extLst>
                  <a:ext uri="{0D108BD9-81ED-4DB2-BD59-A6C34878D82A}">
                    <a16:rowId xmlns:a16="http://schemas.microsoft.com/office/drawing/2014/main" val="600949408"/>
                  </a:ext>
                </a:extLst>
              </a:tr>
              <a:tr h="562222">
                <a:tc>
                  <a:txBody>
                    <a:bodyPr/>
                    <a:lstStyle/>
                    <a:p>
                      <a:pPr algn="ctr"/>
                      <a:r>
                        <a:rPr lang="en-US" sz="2400" b="1" dirty="0">
                          <a:latin typeface="Times New Roman" panose="02020603050405020304" pitchFamily="18" charset="0"/>
                          <a:cs typeface="Times New Roman" panose="02020603050405020304" pitchFamily="18" charset="0"/>
                        </a:rPr>
                        <a:t>Incidence, Group 1</a:t>
                      </a:r>
                      <a:endParaRPr lang="en-IN" sz="24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latin typeface="Times New Roman" panose="02020603050405020304" pitchFamily="18" charset="0"/>
                          <a:cs typeface="Times New Roman" panose="02020603050405020304" pitchFamily="18" charset="0"/>
                        </a:rPr>
                        <a:t>96%</a:t>
                      </a:r>
                      <a:endParaRPr lang="en-IN"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54618752"/>
                  </a:ext>
                </a:extLst>
              </a:tr>
              <a:tr h="535096">
                <a:tc>
                  <a:txBody>
                    <a:bodyPr/>
                    <a:lstStyle/>
                    <a:p>
                      <a:pPr algn="ctr"/>
                      <a:r>
                        <a:rPr lang="en-US" sz="2400" b="1" dirty="0">
                          <a:latin typeface="Times New Roman" panose="02020603050405020304" pitchFamily="18" charset="0"/>
                          <a:cs typeface="Times New Roman" panose="02020603050405020304" pitchFamily="18" charset="0"/>
                        </a:rPr>
                        <a:t>Incidence, Group 2</a:t>
                      </a:r>
                      <a:endParaRPr lang="en-IN" sz="24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latin typeface="Times New Roman" panose="02020603050405020304" pitchFamily="18" charset="0"/>
                          <a:cs typeface="Times New Roman" panose="02020603050405020304" pitchFamily="18" charset="0"/>
                        </a:rPr>
                        <a:t>88%</a:t>
                      </a:r>
                      <a:endParaRPr lang="en-IN"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21351881"/>
                  </a:ext>
                </a:extLst>
              </a:tr>
              <a:tr h="535096">
                <a:tc>
                  <a:txBody>
                    <a:bodyPr/>
                    <a:lstStyle/>
                    <a:p>
                      <a:pPr algn="ctr"/>
                      <a:r>
                        <a:rPr lang="en-US" sz="2400" b="1" dirty="0">
                          <a:latin typeface="Times New Roman" panose="02020603050405020304" pitchFamily="18" charset="0"/>
                          <a:cs typeface="Times New Roman" panose="02020603050405020304" pitchFamily="18" charset="0"/>
                        </a:rPr>
                        <a:t>Alpha</a:t>
                      </a:r>
                      <a:endParaRPr lang="en-IN" sz="24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latin typeface="Times New Roman" panose="02020603050405020304" pitchFamily="18" charset="0"/>
                          <a:cs typeface="Times New Roman" panose="02020603050405020304" pitchFamily="18" charset="0"/>
                        </a:rPr>
                        <a:t>0.05</a:t>
                      </a:r>
                      <a:endParaRPr lang="en-IN"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13885818"/>
                  </a:ext>
                </a:extLst>
              </a:tr>
              <a:tr h="535096">
                <a:tc>
                  <a:txBody>
                    <a:bodyPr/>
                    <a:lstStyle/>
                    <a:p>
                      <a:pPr algn="ctr"/>
                      <a:r>
                        <a:rPr lang="en-US" sz="2400" b="1" dirty="0">
                          <a:latin typeface="Times New Roman" panose="02020603050405020304" pitchFamily="18" charset="0"/>
                          <a:cs typeface="Times New Roman" panose="02020603050405020304" pitchFamily="18" charset="0"/>
                        </a:rPr>
                        <a:t>Beta</a:t>
                      </a:r>
                      <a:endParaRPr lang="en-IN" sz="24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latin typeface="Times New Roman" panose="02020603050405020304" pitchFamily="18" charset="0"/>
                          <a:cs typeface="Times New Roman" panose="02020603050405020304" pitchFamily="18" charset="0"/>
                        </a:rPr>
                        <a:t>0.2</a:t>
                      </a:r>
                      <a:endParaRPr lang="en-IN"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58365374"/>
                  </a:ext>
                </a:extLst>
              </a:tr>
              <a:tr h="535096">
                <a:tc>
                  <a:txBody>
                    <a:bodyPr/>
                    <a:lstStyle/>
                    <a:p>
                      <a:pPr algn="ctr"/>
                      <a:r>
                        <a:rPr lang="en-US" sz="2400" b="1" dirty="0">
                          <a:latin typeface="Times New Roman" panose="02020603050405020304" pitchFamily="18" charset="0"/>
                          <a:cs typeface="Times New Roman" panose="02020603050405020304" pitchFamily="18" charset="0"/>
                        </a:rPr>
                        <a:t>Power</a:t>
                      </a:r>
                      <a:endParaRPr lang="en-IN" sz="24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latin typeface="Times New Roman" panose="02020603050405020304" pitchFamily="18" charset="0"/>
                          <a:cs typeface="Times New Roman" panose="02020603050405020304" pitchFamily="18" charset="0"/>
                        </a:rPr>
                        <a:t>0.8</a:t>
                      </a:r>
                      <a:endParaRPr lang="en-IN"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30459976"/>
                  </a:ext>
                </a:extLst>
              </a:tr>
            </a:tbl>
          </a:graphicData>
        </a:graphic>
      </p:graphicFrame>
    </p:spTree>
    <p:extLst>
      <p:ext uri="{BB962C8B-B14F-4D97-AF65-F5344CB8AC3E}">
        <p14:creationId xmlns:p14="http://schemas.microsoft.com/office/powerpoint/2010/main" val="22003095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4662" y="1460815"/>
            <a:ext cx="10444378" cy="980111"/>
          </a:xfrm>
        </p:spPr>
        <p:txBody>
          <a:bodyPr>
            <a:noAutofit/>
          </a:bodyPr>
          <a:lstStyle/>
          <a:p>
            <a:pPr algn="ctr"/>
            <a:r>
              <a:rPr lang="en-US" sz="3600" b="1" dirty="0">
                <a:latin typeface="Times New Roman" panose="02020603050405020304" pitchFamily="18" charset="0"/>
                <a:cs typeface="Times New Roman" panose="02020603050405020304" pitchFamily="18" charset="0"/>
              </a:rPr>
              <a:t>INTERVENTION ALGORITHM </a:t>
            </a:r>
            <a:br>
              <a:rPr lang="en-US" sz="3600" b="1" dirty="0">
                <a:latin typeface="Times New Roman" panose="02020603050405020304" pitchFamily="18" charset="0"/>
                <a:cs typeface="Times New Roman" panose="02020603050405020304" pitchFamily="18" charset="0"/>
              </a:rPr>
            </a:br>
            <a:r>
              <a:rPr lang="en-US" sz="3600" b="1" dirty="0">
                <a:latin typeface="Times New Roman" panose="02020603050405020304" pitchFamily="18" charset="0"/>
                <a:cs typeface="Times New Roman" panose="02020603050405020304" pitchFamily="18" charset="0"/>
              </a:rPr>
              <a:t>Proposed-Multimodal Artificial Intelligence</a:t>
            </a:r>
          </a:p>
        </p:txBody>
      </p:sp>
      <p:pic>
        <p:nvPicPr>
          <p:cNvPr id="7" name="Picture 6">
            <a:extLst>
              <a:ext uri="{FF2B5EF4-FFF2-40B4-BE49-F238E27FC236}">
                <a16:creationId xmlns:a16="http://schemas.microsoft.com/office/drawing/2014/main" id="{52A00DD3-8B63-3071-1759-E9E32B11684E}"/>
              </a:ext>
            </a:extLst>
          </p:cNvPr>
          <p:cNvPicPr/>
          <p:nvPr/>
        </p:nvPicPr>
        <p:blipFill>
          <a:blip r:embed="rId3"/>
          <a:stretch>
            <a:fillRect/>
          </a:stretch>
        </p:blipFill>
        <p:spPr>
          <a:xfrm>
            <a:off x="457200" y="48759"/>
            <a:ext cx="11460480" cy="1264555"/>
          </a:xfrm>
          <a:prstGeom prst="rect">
            <a:avLst/>
          </a:prstGeom>
        </p:spPr>
      </p:pic>
      <p:sp>
        <p:nvSpPr>
          <p:cNvPr id="17" name="TextBox 16">
            <a:extLst>
              <a:ext uri="{FF2B5EF4-FFF2-40B4-BE49-F238E27FC236}">
                <a16:creationId xmlns:a16="http://schemas.microsoft.com/office/drawing/2014/main" id="{24BD4493-257B-BAF9-96ED-A731A789E53E}"/>
              </a:ext>
            </a:extLst>
          </p:cNvPr>
          <p:cNvSpPr txBox="1"/>
          <p:nvPr/>
        </p:nvSpPr>
        <p:spPr>
          <a:xfrm>
            <a:off x="457200" y="4013201"/>
            <a:ext cx="4942738" cy="2677656"/>
          </a:xfrm>
          <a:prstGeom prst="rect">
            <a:avLst/>
          </a:prstGeom>
          <a:noFill/>
        </p:spPr>
        <p:txBody>
          <a:bodyPr wrap="square">
            <a:spAutoFit/>
          </a:bodyPr>
          <a:lstStyle/>
          <a:p>
            <a:r>
              <a:rPr lang="en-IN" sz="1400" dirty="0">
                <a:latin typeface="Times New Roman" panose="02020603050405020304" pitchFamily="18" charset="0"/>
                <a:cs typeface="Times New Roman" panose="02020603050405020304" pitchFamily="18" charset="0"/>
              </a:rPr>
              <a:t>START</a:t>
            </a:r>
          </a:p>
          <a:p>
            <a:r>
              <a:rPr lang="en-IN" sz="1400" dirty="0">
                <a:latin typeface="Times New Roman" panose="02020603050405020304" pitchFamily="18" charset="0"/>
                <a:cs typeface="Times New Roman" panose="02020603050405020304" pitchFamily="18" charset="0"/>
              </a:rPr>
              <a:t>INPUT dataset (images + videos)</a:t>
            </a:r>
          </a:p>
          <a:p>
            <a:r>
              <a:rPr lang="en-IN" sz="1400" dirty="0">
                <a:latin typeface="Times New Roman" panose="02020603050405020304" pitchFamily="18" charset="0"/>
                <a:cs typeface="Times New Roman" panose="02020603050405020304" pitchFamily="18" charset="0"/>
              </a:rPr>
              <a:t>FOR each sample in dataset DO</a:t>
            </a:r>
          </a:p>
          <a:p>
            <a:r>
              <a:rPr lang="en-IN" sz="1400" dirty="0">
                <a:latin typeface="Times New Roman" panose="02020603050405020304" pitchFamily="18" charset="0"/>
                <a:cs typeface="Times New Roman" panose="02020603050405020304" pitchFamily="18" charset="0"/>
              </a:rPr>
              <a:t>    EXTRACT </a:t>
            </a:r>
            <a:r>
              <a:rPr lang="en-IN" sz="1400" dirty="0" err="1">
                <a:latin typeface="Times New Roman" panose="02020603050405020304" pitchFamily="18" charset="0"/>
                <a:cs typeface="Times New Roman" panose="02020603050405020304" pitchFamily="18" charset="0"/>
              </a:rPr>
              <a:t>visual_features</a:t>
            </a:r>
            <a:r>
              <a:rPr lang="en-IN" sz="1400" dirty="0">
                <a:latin typeface="Times New Roman" panose="02020603050405020304" pitchFamily="18" charset="0"/>
                <a:cs typeface="Times New Roman" panose="02020603050405020304" pitchFamily="18" charset="0"/>
              </a:rPr>
              <a:t> using CNN</a:t>
            </a:r>
          </a:p>
          <a:p>
            <a:r>
              <a:rPr lang="en-IN" sz="1400" dirty="0">
                <a:latin typeface="Times New Roman" panose="02020603050405020304" pitchFamily="18" charset="0"/>
                <a:cs typeface="Times New Roman" panose="02020603050405020304" pitchFamily="18" charset="0"/>
              </a:rPr>
              <a:t>    EXTRACT </a:t>
            </a:r>
            <a:r>
              <a:rPr lang="en-IN" sz="1400" dirty="0" err="1">
                <a:latin typeface="Times New Roman" panose="02020603050405020304" pitchFamily="18" charset="0"/>
                <a:cs typeface="Times New Roman" panose="02020603050405020304" pitchFamily="18" charset="0"/>
              </a:rPr>
              <a:t>temporal_features</a:t>
            </a:r>
            <a:r>
              <a:rPr lang="en-IN" sz="1400" dirty="0">
                <a:latin typeface="Times New Roman" panose="02020603050405020304" pitchFamily="18" charset="0"/>
                <a:cs typeface="Times New Roman" panose="02020603050405020304" pitchFamily="18" charset="0"/>
              </a:rPr>
              <a:t> using RNN/LSTM (for video)</a:t>
            </a:r>
          </a:p>
          <a:p>
            <a:r>
              <a:rPr lang="en-IN" sz="1400" dirty="0">
                <a:latin typeface="Times New Roman" panose="02020603050405020304" pitchFamily="18" charset="0"/>
                <a:cs typeface="Times New Roman" panose="02020603050405020304" pitchFamily="18" charset="0"/>
              </a:rPr>
              <a:t>    EXTRACT </a:t>
            </a:r>
            <a:r>
              <a:rPr lang="en-IN" sz="1400" dirty="0" err="1">
                <a:latin typeface="Times New Roman" panose="02020603050405020304" pitchFamily="18" charset="0"/>
                <a:cs typeface="Times New Roman" panose="02020603050405020304" pitchFamily="18" charset="0"/>
              </a:rPr>
              <a:t>audio_features</a:t>
            </a:r>
            <a:r>
              <a:rPr lang="en-IN" sz="1400" dirty="0">
                <a:latin typeface="Times New Roman" panose="02020603050405020304" pitchFamily="18" charset="0"/>
                <a:cs typeface="Times New Roman" panose="02020603050405020304" pitchFamily="18" charset="0"/>
              </a:rPr>
              <a:t> using MFCC (if audio exists)</a:t>
            </a:r>
          </a:p>
          <a:p>
            <a:r>
              <a:rPr lang="en-IN" sz="1400" dirty="0">
                <a:latin typeface="Times New Roman" panose="02020603050405020304" pitchFamily="18" charset="0"/>
                <a:cs typeface="Times New Roman" panose="02020603050405020304" pitchFamily="18" charset="0"/>
              </a:rPr>
              <a:t>END FOR</a:t>
            </a:r>
          </a:p>
          <a:p>
            <a:r>
              <a:rPr lang="en-IN" sz="1400" dirty="0">
                <a:latin typeface="Times New Roman" panose="02020603050405020304" pitchFamily="18" charset="0"/>
                <a:cs typeface="Times New Roman" panose="02020603050405020304" pitchFamily="18" charset="0"/>
              </a:rPr>
              <a:t>FOR each sample DO</a:t>
            </a:r>
          </a:p>
          <a:p>
            <a:r>
              <a:rPr lang="en-IN" sz="1400" dirty="0">
                <a:latin typeface="Times New Roman" panose="02020603050405020304" pitchFamily="18" charset="0"/>
                <a:cs typeface="Times New Roman" panose="02020603050405020304" pitchFamily="18" charset="0"/>
              </a:rPr>
              <a:t>    COMBINE all features into </a:t>
            </a:r>
            <a:r>
              <a:rPr lang="en-IN" sz="1400" dirty="0" err="1">
                <a:latin typeface="Times New Roman" panose="02020603050405020304" pitchFamily="18" charset="0"/>
                <a:cs typeface="Times New Roman" panose="02020603050405020304" pitchFamily="18" charset="0"/>
              </a:rPr>
              <a:t>multimodal_vector</a:t>
            </a:r>
            <a:endParaRPr lang="en-IN"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END FOR</a:t>
            </a:r>
          </a:p>
          <a:p>
            <a:r>
              <a:rPr lang="en-IN" sz="1400" dirty="0">
                <a:latin typeface="Times New Roman" panose="02020603050405020304" pitchFamily="18" charset="0"/>
                <a:cs typeface="Times New Roman" panose="02020603050405020304" pitchFamily="18" charset="0"/>
              </a:rPr>
              <a:t>INITIALIZE </a:t>
            </a:r>
            <a:r>
              <a:rPr lang="en-IN" sz="1400" dirty="0" err="1">
                <a:latin typeface="Times New Roman" panose="02020603050405020304" pitchFamily="18" charset="0"/>
                <a:cs typeface="Times New Roman" panose="02020603050405020304" pitchFamily="18" charset="0"/>
              </a:rPr>
              <a:t>Multimodal_Model</a:t>
            </a:r>
            <a:endParaRPr lang="en-IN"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TRAIN </a:t>
            </a:r>
            <a:r>
              <a:rPr lang="en-IN" sz="1400" dirty="0" err="1">
                <a:latin typeface="Times New Roman" panose="02020603050405020304" pitchFamily="18" charset="0"/>
                <a:cs typeface="Times New Roman" panose="02020603050405020304" pitchFamily="18" charset="0"/>
              </a:rPr>
              <a:t>Multimodal_Model</a:t>
            </a:r>
            <a:r>
              <a:rPr lang="en-IN" sz="1400" dirty="0">
                <a:latin typeface="Times New Roman" panose="02020603050405020304" pitchFamily="18" charset="0"/>
                <a:cs typeface="Times New Roman" panose="02020603050405020304" pitchFamily="18" charset="0"/>
              </a:rPr>
              <a:t> using </a:t>
            </a:r>
            <a:r>
              <a:rPr lang="en-IN" sz="1400" dirty="0" err="1">
                <a:latin typeface="Times New Roman" panose="02020603050405020304" pitchFamily="18" charset="0"/>
                <a:cs typeface="Times New Roman" panose="02020603050405020304" pitchFamily="18" charset="0"/>
              </a:rPr>
              <a:t>multimodal_vector</a:t>
            </a:r>
            <a:r>
              <a:rPr lang="en-IN" sz="1400" dirty="0">
                <a:latin typeface="Times New Roman" panose="02020603050405020304" pitchFamily="18" charset="0"/>
                <a:cs typeface="Times New Roman" panose="02020603050405020304" pitchFamily="18" charset="0"/>
              </a:rPr>
              <a:t> and labels</a:t>
            </a:r>
          </a:p>
        </p:txBody>
      </p:sp>
      <p:sp>
        <p:nvSpPr>
          <p:cNvPr id="19" name="TextBox 18">
            <a:extLst>
              <a:ext uri="{FF2B5EF4-FFF2-40B4-BE49-F238E27FC236}">
                <a16:creationId xmlns:a16="http://schemas.microsoft.com/office/drawing/2014/main" id="{81AC8628-A11D-9258-CBFF-A1E3D1CBBFF1}"/>
              </a:ext>
            </a:extLst>
          </p:cNvPr>
          <p:cNvSpPr txBox="1"/>
          <p:nvPr/>
        </p:nvSpPr>
        <p:spPr>
          <a:xfrm>
            <a:off x="6497524" y="3797757"/>
            <a:ext cx="4942738" cy="2893100"/>
          </a:xfrm>
          <a:prstGeom prst="rect">
            <a:avLst/>
          </a:prstGeom>
          <a:noFill/>
        </p:spPr>
        <p:txBody>
          <a:bodyPr wrap="square">
            <a:spAutoFit/>
          </a:bodyPr>
          <a:lstStyle/>
          <a:p>
            <a:r>
              <a:rPr lang="en-IN" sz="1400" dirty="0">
                <a:latin typeface="Times New Roman" panose="02020603050405020304" pitchFamily="18" charset="0"/>
                <a:cs typeface="Times New Roman" panose="02020603050405020304" pitchFamily="18" charset="0"/>
              </a:rPr>
              <a:t>FOR each </a:t>
            </a:r>
            <a:r>
              <a:rPr lang="en-IN" sz="1400" dirty="0" err="1">
                <a:latin typeface="Times New Roman" panose="02020603050405020304" pitchFamily="18" charset="0"/>
                <a:cs typeface="Times New Roman" panose="02020603050405020304" pitchFamily="18" charset="0"/>
              </a:rPr>
              <a:t>test_sample</a:t>
            </a:r>
            <a:r>
              <a:rPr lang="en-IN" sz="1400" dirty="0">
                <a:latin typeface="Times New Roman" panose="02020603050405020304" pitchFamily="18" charset="0"/>
                <a:cs typeface="Times New Roman" panose="02020603050405020304" pitchFamily="18" charset="0"/>
              </a:rPr>
              <a:t> DO</a:t>
            </a:r>
          </a:p>
          <a:p>
            <a:r>
              <a:rPr lang="en-IN" sz="1400" dirty="0">
                <a:latin typeface="Times New Roman" panose="02020603050405020304" pitchFamily="18" charset="0"/>
                <a:cs typeface="Times New Roman" panose="02020603050405020304" pitchFamily="18" charset="0"/>
              </a:rPr>
              <a:t>    EXTRACT features (visual + temporal + audio)</a:t>
            </a:r>
          </a:p>
          <a:p>
            <a:r>
              <a:rPr lang="en-IN" sz="1400" dirty="0">
                <a:latin typeface="Times New Roman" panose="02020603050405020304" pitchFamily="18" charset="0"/>
                <a:cs typeface="Times New Roman" panose="02020603050405020304" pitchFamily="18" charset="0"/>
              </a:rPr>
              <a:t>    FUSE features into </a:t>
            </a:r>
            <a:r>
              <a:rPr lang="en-IN" sz="1400" dirty="0" err="1">
                <a:latin typeface="Times New Roman" panose="02020603050405020304" pitchFamily="18" charset="0"/>
                <a:cs typeface="Times New Roman" panose="02020603050405020304" pitchFamily="18" charset="0"/>
              </a:rPr>
              <a:t>test_vector</a:t>
            </a:r>
            <a:endParaRPr lang="en-IN"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    PREDICT result using </a:t>
            </a:r>
            <a:r>
              <a:rPr lang="en-IN" sz="1400" dirty="0" err="1">
                <a:latin typeface="Times New Roman" panose="02020603050405020304" pitchFamily="18" charset="0"/>
                <a:cs typeface="Times New Roman" panose="02020603050405020304" pitchFamily="18" charset="0"/>
              </a:rPr>
              <a:t>Multimodal_Model</a:t>
            </a:r>
            <a:r>
              <a:rPr lang="en-IN" sz="1400" dirty="0">
                <a:latin typeface="Times New Roman" panose="02020603050405020304" pitchFamily="18" charset="0"/>
                <a:cs typeface="Times New Roman" panose="02020603050405020304" pitchFamily="18" charset="0"/>
              </a:rPr>
              <a:t> </a:t>
            </a:r>
          </a:p>
          <a:p>
            <a:r>
              <a:rPr lang="en-IN" sz="1400" dirty="0">
                <a:latin typeface="Times New Roman" panose="02020603050405020304" pitchFamily="18" charset="0"/>
                <a:cs typeface="Times New Roman" panose="02020603050405020304" pitchFamily="18" charset="0"/>
              </a:rPr>
              <a:t>    IF prediction == deepfake THEN</a:t>
            </a:r>
          </a:p>
          <a:p>
            <a:r>
              <a:rPr lang="en-IN" sz="1400" dirty="0">
                <a:latin typeface="Times New Roman" panose="02020603050405020304" pitchFamily="18" charset="0"/>
                <a:cs typeface="Times New Roman" panose="02020603050405020304" pitchFamily="18" charset="0"/>
              </a:rPr>
              <a:t>        LABEL as "Fake"</a:t>
            </a:r>
          </a:p>
          <a:p>
            <a:r>
              <a:rPr lang="en-IN" sz="1400" dirty="0">
                <a:latin typeface="Times New Roman" panose="02020603050405020304" pitchFamily="18" charset="0"/>
                <a:cs typeface="Times New Roman" panose="02020603050405020304" pitchFamily="18" charset="0"/>
              </a:rPr>
              <a:t>    ELSE</a:t>
            </a:r>
          </a:p>
          <a:p>
            <a:r>
              <a:rPr lang="en-IN" sz="1400" dirty="0">
                <a:latin typeface="Times New Roman" panose="02020603050405020304" pitchFamily="18" charset="0"/>
                <a:cs typeface="Times New Roman" panose="02020603050405020304" pitchFamily="18" charset="0"/>
              </a:rPr>
              <a:t>        LABEL as "Real"</a:t>
            </a:r>
          </a:p>
          <a:p>
            <a:r>
              <a:rPr lang="en-IN" sz="1400" dirty="0">
                <a:latin typeface="Times New Roman" panose="02020603050405020304" pitchFamily="18" charset="0"/>
                <a:cs typeface="Times New Roman" panose="02020603050405020304" pitchFamily="18" charset="0"/>
              </a:rPr>
              <a:t>    END IF</a:t>
            </a:r>
          </a:p>
          <a:p>
            <a:r>
              <a:rPr lang="en-IN" sz="1400" dirty="0">
                <a:latin typeface="Times New Roman" panose="02020603050405020304" pitchFamily="18" charset="0"/>
                <a:cs typeface="Times New Roman" panose="02020603050405020304" pitchFamily="18" charset="0"/>
              </a:rPr>
              <a:t>END FOR</a:t>
            </a:r>
          </a:p>
          <a:p>
            <a:r>
              <a:rPr lang="en-IN" sz="1400" dirty="0">
                <a:latin typeface="Times New Roman" panose="02020603050405020304" pitchFamily="18" charset="0"/>
                <a:cs typeface="Times New Roman" panose="02020603050405020304" pitchFamily="18" charset="0"/>
              </a:rPr>
              <a:t>CALCULATE accuracy, precision, recall, F1-score</a:t>
            </a:r>
          </a:p>
          <a:p>
            <a:r>
              <a:rPr lang="en-IN" sz="1400" dirty="0">
                <a:latin typeface="Times New Roman" panose="02020603050405020304" pitchFamily="18" charset="0"/>
                <a:cs typeface="Times New Roman" panose="02020603050405020304" pitchFamily="18" charset="0"/>
              </a:rPr>
              <a:t>DISPLAY performance metrics</a:t>
            </a:r>
          </a:p>
          <a:p>
            <a:r>
              <a:rPr lang="en-IN" sz="1400" dirty="0">
                <a:latin typeface="Times New Roman" panose="02020603050405020304" pitchFamily="18" charset="0"/>
                <a:cs typeface="Times New Roman" panose="02020603050405020304" pitchFamily="18" charset="0"/>
              </a:rPr>
              <a:t>END</a:t>
            </a:r>
          </a:p>
        </p:txBody>
      </p:sp>
      <p:sp>
        <p:nvSpPr>
          <p:cNvPr id="20" name="TextBox 19">
            <a:extLst>
              <a:ext uri="{FF2B5EF4-FFF2-40B4-BE49-F238E27FC236}">
                <a16:creationId xmlns:a16="http://schemas.microsoft.com/office/drawing/2014/main" id="{3CD5B0CB-82E2-C463-EB58-57630C5E8A10}"/>
              </a:ext>
            </a:extLst>
          </p:cNvPr>
          <p:cNvSpPr txBox="1"/>
          <p:nvPr/>
        </p:nvSpPr>
        <p:spPr>
          <a:xfrm>
            <a:off x="457200" y="2443540"/>
            <a:ext cx="11460480" cy="1354217"/>
          </a:xfrm>
          <a:prstGeom prst="rect">
            <a:avLst/>
          </a:prstGeom>
          <a:noFill/>
        </p:spPr>
        <p:txBody>
          <a:bodyPr wrap="square">
            <a:spAutoFit/>
          </a:bodyPr>
          <a:lstStyle/>
          <a:p>
            <a:r>
              <a:rPr lang="en-US" b="1" dirty="0" err="1">
                <a:latin typeface="Times New Roman" panose="02020603050405020304" pitchFamily="18" charset="0"/>
                <a:cs typeface="Times New Roman" panose="02020603050405020304" pitchFamily="18" charset="0"/>
              </a:rPr>
              <a:t>Defintion</a:t>
            </a:r>
            <a:r>
              <a:rPr lang="en-US" b="1" dirty="0">
                <a:latin typeface="Times New Roman" panose="02020603050405020304" pitchFamily="18" charset="0"/>
                <a:cs typeface="Times New Roman" panose="02020603050405020304" pitchFamily="18" charset="0"/>
              </a:rPr>
              <a:t>:</a:t>
            </a:r>
          </a:p>
          <a:p>
            <a:r>
              <a:rPr lang="en-US" sz="14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A Multimodal AI algorithm integrates and processes multiple data types—such as image frames, video sequences, and audio signals—by extracting features from each modality and combining them into a unified model. This approach improves deepfake detection by capturing cross-modal inconsistencies, leading to higher accuracy and robustness in authentication compared to single-modality methods.</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0563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CDEEC-D9B1-F0D7-8B67-DB7F09A3E23E}"/>
              </a:ext>
            </a:extLst>
          </p:cNvPr>
          <p:cNvSpPr>
            <a:spLocks noGrp="1"/>
          </p:cNvSpPr>
          <p:nvPr>
            <p:ph type="title"/>
          </p:nvPr>
        </p:nvSpPr>
        <p:spPr>
          <a:xfrm>
            <a:off x="929640" y="1505455"/>
            <a:ext cx="10515600" cy="924792"/>
          </a:xfrm>
        </p:spPr>
        <p:txBody>
          <a:bodyPr>
            <a:noAutofit/>
          </a:bodyPr>
          <a:lstStyle/>
          <a:p>
            <a:pPr algn="ctr"/>
            <a:r>
              <a:rPr lang="en-US" sz="3600" b="1" dirty="0">
                <a:latin typeface="Times New Roman" panose="02020603050405020304" pitchFamily="18" charset="0"/>
                <a:cs typeface="Times New Roman" panose="02020603050405020304" pitchFamily="18" charset="0"/>
              </a:rPr>
              <a:t>COMPARSION ALGORITHM</a:t>
            </a:r>
            <a:br>
              <a:rPr lang="en-US" sz="3600" b="1" dirty="0">
                <a:latin typeface="Times New Roman" panose="02020603050405020304" pitchFamily="18" charset="0"/>
                <a:cs typeface="Times New Roman" panose="02020603050405020304" pitchFamily="18" charset="0"/>
              </a:rPr>
            </a:br>
            <a:r>
              <a:rPr lang="en-US" sz="3600" b="1" dirty="0">
                <a:latin typeface="Times New Roman" panose="02020603050405020304" pitchFamily="18" charset="0"/>
                <a:cs typeface="Times New Roman" panose="02020603050405020304" pitchFamily="18" charset="0"/>
              </a:rPr>
              <a:t>Existing-Generative Adversarial Networks</a:t>
            </a:r>
            <a:endParaRPr lang="en-IN" sz="36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0D50D1EA-3151-7CCE-3B12-971AC833E89C}"/>
              </a:ext>
            </a:extLst>
          </p:cNvPr>
          <p:cNvPicPr/>
          <p:nvPr/>
        </p:nvPicPr>
        <p:blipFill>
          <a:blip r:embed="rId2"/>
          <a:stretch>
            <a:fillRect/>
          </a:stretch>
        </p:blipFill>
        <p:spPr>
          <a:xfrm>
            <a:off x="457200" y="82721"/>
            <a:ext cx="11206480" cy="1264555"/>
          </a:xfrm>
          <a:prstGeom prst="rect">
            <a:avLst/>
          </a:prstGeom>
        </p:spPr>
      </p:pic>
      <p:sp>
        <p:nvSpPr>
          <p:cNvPr id="7" name="TextBox 6">
            <a:extLst>
              <a:ext uri="{FF2B5EF4-FFF2-40B4-BE49-F238E27FC236}">
                <a16:creationId xmlns:a16="http://schemas.microsoft.com/office/drawing/2014/main" id="{40941973-A078-2A32-D9B5-34A03E00C1AB}"/>
              </a:ext>
            </a:extLst>
          </p:cNvPr>
          <p:cNvSpPr txBox="1"/>
          <p:nvPr/>
        </p:nvSpPr>
        <p:spPr>
          <a:xfrm>
            <a:off x="786008" y="4026694"/>
            <a:ext cx="4558152" cy="2677656"/>
          </a:xfrm>
          <a:prstGeom prst="rect">
            <a:avLst/>
          </a:prstGeom>
          <a:noFill/>
        </p:spPr>
        <p:txBody>
          <a:bodyPr wrap="square">
            <a:spAutoFit/>
          </a:bodyPr>
          <a:lstStyle/>
          <a:p>
            <a:r>
              <a:rPr lang="en-IN" sz="1400" dirty="0">
                <a:latin typeface="Times New Roman" panose="02020603050405020304" pitchFamily="18" charset="0"/>
                <a:cs typeface="Times New Roman" panose="02020603050405020304" pitchFamily="18" charset="0"/>
              </a:rPr>
              <a:t>START</a:t>
            </a:r>
          </a:p>
          <a:p>
            <a:r>
              <a:rPr lang="en-IN" sz="1400" dirty="0">
                <a:latin typeface="Times New Roman" panose="02020603050405020304" pitchFamily="18" charset="0"/>
                <a:cs typeface="Times New Roman" panose="02020603050405020304" pitchFamily="18" charset="0"/>
              </a:rPr>
              <a:t>INPUT dataset (images, videos, audio)</a:t>
            </a:r>
          </a:p>
          <a:p>
            <a:r>
              <a:rPr lang="en-IN" sz="1400" dirty="0">
                <a:latin typeface="Times New Roman" panose="02020603050405020304" pitchFamily="18" charset="0"/>
                <a:cs typeface="Times New Roman" panose="02020603050405020304" pitchFamily="18" charset="0"/>
              </a:rPr>
              <a:t>EXTRACT features:</a:t>
            </a:r>
          </a:p>
          <a:p>
            <a:r>
              <a:rPr lang="en-IN" sz="1400" dirty="0">
                <a:latin typeface="Times New Roman" panose="02020603050405020304" pitchFamily="18" charset="0"/>
                <a:cs typeface="Times New Roman" panose="02020603050405020304" pitchFamily="18" charset="0"/>
              </a:rPr>
              <a:t>    Extract frames from videos</a:t>
            </a:r>
          </a:p>
          <a:p>
            <a:r>
              <a:rPr lang="en-IN" sz="1400" dirty="0">
                <a:latin typeface="Times New Roman" panose="02020603050405020304" pitchFamily="18" charset="0"/>
                <a:cs typeface="Times New Roman" panose="02020603050405020304" pitchFamily="18" charset="0"/>
              </a:rPr>
              <a:t>    Extract image features</a:t>
            </a:r>
          </a:p>
          <a:p>
            <a:r>
              <a:rPr lang="en-IN" sz="1400" dirty="0">
                <a:latin typeface="Times New Roman" panose="02020603050405020304" pitchFamily="18" charset="0"/>
                <a:cs typeface="Times New Roman" panose="02020603050405020304" pitchFamily="18" charset="0"/>
              </a:rPr>
              <a:t>    Extract audio features</a:t>
            </a:r>
          </a:p>
          <a:p>
            <a:r>
              <a:rPr lang="en-IN" sz="1400" dirty="0">
                <a:latin typeface="Times New Roman" panose="02020603050405020304" pitchFamily="18" charset="0"/>
                <a:cs typeface="Times New Roman" panose="02020603050405020304" pitchFamily="18" charset="0"/>
              </a:rPr>
              <a:t>COMBINE all features into one dataset</a:t>
            </a:r>
          </a:p>
          <a:p>
            <a:r>
              <a:rPr lang="en-IN" sz="1400" dirty="0">
                <a:latin typeface="Times New Roman" panose="02020603050405020304" pitchFamily="18" charset="0"/>
                <a:cs typeface="Times New Roman" panose="02020603050405020304" pitchFamily="18" charset="0"/>
              </a:rPr>
              <a:t>INPUT target label (Deepfake / Real)</a:t>
            </a:r>
          </a:p>
          <a:p>
            <a:r>
              <a:rPr lang="en-IN" sz="1400" dirty="0">
                <a:latin typeface="Times New Roman" panose="02020603050405020304" pitchFamily="18" charset="0"/>
                <a:cs typeface="Times New Roman" panose="02020603050405020304" pitchFamily="18" charset="0"/>
              </a:rPr>
              <a:t>SPLIT dataset into training and testing</a:t>
            </a:r>
          </a:p>
          <a:p>
            <a:r>
              <a:rPr lang="en-IN" sz="1400" dirty="0">
                <a:latin typeface="Times New Roman" panose="02020603050405020304" pitchFamily="18" charset="0"/>
                <a:cs typeface="Times New Roman" panose="02020603050405020304" pitchFamily="18" charset="0"/>
              </a:rPr>
              <a:t>GAN MODEL (Existing)</a:t>
            </a:r>
          </a:p>
          <a:p>
            <a:r>
              <a:rPr lang="en-IN" sz="1400" dirty="0">
                <a:latin typeface="Times New Roman" panose="02020603050405020304" pitchFamily="18" charset="0"/>
                <a:cs typeface="Times New Roman" panose="02020603050405020304" pitchFamily="18" charset="0"/>
              </a:rPr>
              <a:t>INITIALIZE GAN-based classifier</a:t>
            </a:r>
          </a:p>
          <a:p>
            <a:r>
              <a:rPr lang="en-IN" sz="1400" dirty="0">
                <a:latin typeface="Times New Roman" panose="02020603050405020304" pitchFamily="18" charset="0"/>
                <a:cs typeface="Times New Roman" panose="02020603050405020304" pitchFamily="18" charset="0"/>
              </a:rPr>
              <a:t>TRAIN model using training data</a:t>
            </a:r>
          </a:p>
        </p:txBody>
      </p:sp>
      <p:sp>
        <p:nvSpPr>
          <p:cNvPr id="9" name="TextBox 8">
            <a:extLst>
              <a:ext uri="{FF2B5EF4-FFF2-40B4-BE49-F238E27FC236}">
                <a16:creationId xmlns:a16="http://schemas.microsoft.com/office/drawing/2014/main" id="{3BEDC99F-098D-A38A-CEF0-95F611B08715}"/>
              </a:ext>
            </a:extLst>
          </p:cNvPr>
          <p:cNvSpPr txBox="1"/>
          <p:nvPr/>
        </p:nvSpPr>
        <p:spPr>
          <a:xfrm>
            <a:off x="6304906" y="3811250"/>
            <a:ext cx="4474854" cy="2893100"/>
          </a:xfrm>
          <a:prstGeom prst="rect">
            <a:avLst/>
          </a:prstGeom>
          <a:noFill/>
        </p:spPr>
        <p:txBody>
          <a:bodyPr wrap="square">
            <a:spAutoFit/>
          </a:bodyPr>
          <a:lstStyle/>
          <a:p>
            <a:r>
              <a:rPr lang="en-IN" sz="1400" dirty="0">
                <a:latin typeface="Times New Roman" panose="02020603050405020304" pitchFamily="18" charset="0"/>
                <a:cs typeface="Times New Roman" panose="02020603050405020304" pitchFamily="18" charset="0"/>
              </a:rPr>
              <a:t>TEST model using test data</a:t>
            </a:r>
          </a:p>
          <a:p>
            <a:r>
              <a:rPr lang="en-IN" sz="1400" dirty="0">
                <a:latin typeface="Times New Roman" panose="02020603050405020304" pitchFamily="18" charset="0"/>
                <a:cs typeface="Times New Roman" panose="02020603050405020304" pitchFamily="18" charset="0"/>
              </a:rPr>
              <a:t>STORE results as </a:t>
            </a:r>
            <a:r>
              <a:rPr lang="en-IN" sz="1400" dirty="0" err="1">
                <a:latin typeface="Times New Roman" panose="02020603050405020304" pitchFamily="18" charset="0"/>
                <a:cs typeface="Times New Roman" panose="02020603050405020304" pitchFamily="18" charset="0"/>
              </a:rPr>
              <a:t>gan_output</a:t>
            </a:r>
            <a:endParaRPr lang="en-IN"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MULTIMODAL AI MODEL (Proposed)</a:t>
            </a:r>
          </a:p>
          <a:p>
            <a:r>
              <a:rPr lang="en-IN" sz="1400" dirty="0">
                <a:latin typeface="Times New Roman" panose="02020603050405020304" pitchFamily="18" charset="0"/>
                <a:cs typeface="Times New Roman" panose="02020603050405020304" pitchFamily="18" charset="0"/>
              </a:rPr>
              <a:t>INITIALIZE multimodal model</a:t>
            </a:r>
          </a:p>
          <a:p>
            <a:r>
              <a:rPr lang="en-IN" sz="1400" dirty="0">
                <a:latin typeface="Times New Roman" panose="02020603050405020304" pitchFamily="18" charset="0"/>
                <a:cs typeface="Times New Roman" panose="02020603050405020304" pitchFamily="18" charset="0"/>
              </a:rPr>
              <a:t>TRAIN using combined features</a:t>
            </a:r>
          </a:p>
          <a:p>
            <a:r>
              <a:rPr lang="en-IN" sz="1400" dirty="0">
                <a:latin typeface="Times New Roman" panose="02020603050405020304" pitchFamily="18" charset="0"/>
                <a:cs typeface="Times New Roman" panose="02020603050405020304" pitchFamily="18" charset="0"/>
              </a:rPr>
              <a:t>TEST using test data</a:t>
            </a:r>
          </a:p>
          <a:p>
            <a:r>
              <a:rPr lang="en-IN" sz="1400" dirty="0">
                <a:latin typeface="Times New Roman" panose="02020603050405020304" pitchFamily="18" charset="0"/>
                <a:cs typeface="Times New Roman" panose="02020603050405020304" pitchFamily="18" charset="0"/>
              </a:rPr>
              <a:t>STORE results as </a:t>
            </a:r>
            <a:r>
              <a:rPr lang="en-IN" sz="1400" dirty="0" err="1">
                <a:latin typeface="Times New Roman" panose="02020603050405020304" pitchFamily="18" charset="0"/>
                <a:cs typeface="Times New Roman" panose="02020603050405020304" pitchFamily="18" charset="0"/>
              </a:rPr>
              <a:t>multi_output</a:t>
            </a:r>
            <a:endParaRPr lang="en-IN"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EVALUATION</a:t>
            </a:r>
          </a:p>
          <a:p>
            <a:r>
              <a:rPr lang="en-IN" sz="1400" dirty="0">
                <a:latin typeface="Times New Roman" panose="02020603050405020304" pitchFamily="18" charset="0"/>
                <a:cs typeface="Times New Roman" panose="02020603050405020304" pitchFamily="18" charset="0"/>
              </a:rPr>
              <a:t>CALCULATE accuracy, precision, recall, F1-score for both models</a:t>
            </a:r>
          </a:p>
          <a:p>
            <a:r>
              <a:rPr lang="en-IN" sz="1400" dirty="0">
                <a:latin typeface="Times New Roman" panose="02020603050405020304" pitchFamily="18" charset="0"/>
                <a:cs typeface="Times New Roman" panose="02020603050405020304" pitchFamily="18" charset="0"/>
              </a:rPr>
              <a:t>COMPARE </a:t>
            </a:r>
            <a:r>
              <a:rPr lang="en-IN" sz="1400" dirty="0" err="1">
                <a:latin typeface="Times New Roman" panose="02020603050405020304" pitchFamily="18" charset="0"/>
                <a:cs typeface="Times New Roman" panose="02020603050405020304" pitchFamily="18" charset="0"/>
              </a:rPr>
              <a:t>gan_output</a:t>
            </a:r>
            <a:r>
              <a:rPr lang="en-IN" sz="1400" dirty="0">
                <a:latin typeface="Times New Roman" panose="02020603050405020304" pitchFamily="18" charset="0"/>
                <a:cs typeface="Times New Roman" panose="02020603050405020304" pitchFamily="18" charset="0"/>
              </a:rPr>
              <a:t> and </a:t>
            </a:r>
            <a:r>
              <a:rPr lang="en-IN" sz="1400" dirty="0" err="1">
                <a:latin typeface="Times New Roman" panose="02020603050405020304" pitchFamily="18" charset="0"/>
                <a:cs typeface="Times New Roman" panose="02020603050405020304" pitchFamily="18" charset="0"/>
              </a:rPr>
              <a:t>multi_output</a:t>
            </a:r>
            <a:endParaRPr lang="en-IN"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DISPLAY results</a:t>
            </a:r>
          </a:p>
          <a:p>
            <a:r>
              <a:rPr lang="en-IN" sz="1400" dirty="0">
                <a:latin typeface="Times New Roman" panose="02020603050405020304" pitchFamily="18" charset="0"/>
                <a:cs typeface="Times New Roman" panose="02020603050405020304" pitchFamily="18" charset="0"/>
              </a:rPr>
              <a:t>END</a:t>
            </a:r>
          </a:p>
        </p:txBody>
      </p:sp>
      <p:sp>
        <p:nvSpPr>
          <p:cNvPr id="10" name="TextBox 9">
            <a:extLst>
              <a:ext uri="{FF2B5EF4-FFF2-40B4-BE49-F238E27FC236}">
                <a16:creationId xmlns:a16="http://schemas.microsoft.com/office/drawing/2014/main" id="{40196176-CF20-4397-B776-1276940DE994}"/>
              </a:ext>
            </a:extLst>
          </p:cNvPr>
          <p:cNvSpPr txBox="1"/>
          <p:nvPr/>
        </p:nvSpPr>
        <p:spPr>
          <a:xfrm>
            <a:off x="457200" y="2588427"/>
            <a:ext cx="11460480" cy="1107996"/>
          </a:xfrm>
          <a:prstGeom prst="rect">
            <a:avLst/>
          </a:prstGeom>
          <a:noFill/>
        </p:spPr>
        <p:txBody>
          <a:bodyPr wrap="square">
            <a:spAutoFit/>
          </a:bodyPr>
          <a:lstStyle/>
          <a:p>
            <a:r>
              <a:rPr lang="en-US" b="1" dirty="0" err="1">
                <a:latin typeface="Times New Roman" panose="02020603050405020304" pitchFamily="18" charset="0"/>
                <a:cs typeface="Times New Roman" panose="02020603050405020304" pitchFamily="18" charset="0"/>
              </a:rPr>
              <a:t>Defintion</a:t>
            </a:r>
            <a:r>
              <a:rPr lang="en-US" b="1" dirty="0">
                <a:latin typeface="Times New Roman" panose="02020603050405020304" pitchFamily="18" charset="0"/>
                <a:cs typeface="Times New Roman" panose="02020603050405020304" pitchFamily="18" charset="0"/>
              </a:rPr>
              <a:t>:</a:t>
            </a:r>
          </a:p>
          <a:p>
            <a:r>
              <a:rPr lang="en-US" sz="1600" dirty="0">
                <a:latin typeface="Times New Roman" panose="02020603050405020304" pitchFamily="18" charset="0"/>
                <a:cs typeface="Times New Roman" panose="02020603050405020304" pitchFamily="18" charset="0"/>
              </a:rPr>
              <a:t>              A GAN-based detection algorithm uses a discriminator model trained to distinguish between real and fake media generated by a generator. It learns visual patterns and artifacts specific to deepfakes, enabling classification of images and videos as authentic or manipulated, but typically relies on single-modality features, which may limit robustness compared to multimodal approaches</a:t>
            </a:r>
            <a:r>
              <a:rPr lang="en-US" sz="1500" dirty="0">
                <a:latin typeface="Times New Roman" panose="02020603050405020304" pitchFamily="18" charset="0"/>
                <a:cs typeface="Times New Roman" panose="02020603050405020304" pitchFamily="18" charset="0"/>
              </a:rPr>
              <a:t>.</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054448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677E2D-9386-E2C7-5576-B46FC4004B99}"/>
              </a:ext>
            </a:extLst>
          </p:cNvPr>
          <p:cNvSpPr>
            <a:spLocks noGrp="1"/>
          </p:cNvSpPr>
          <p:nvPr>
            <p:ph type="title"/>
          </p:nvPr>
        </p:nvSpPr>
        <p:spPr>
          <a:xfrm>
            <a:off x="746248" y="740494"/>
            <a:ext cx="10515600" cy="1325563"/>
          </a:xfrm>
        </p:spPr>
        <p:txBody>
          <a:bodyPr>
            <a:normAutofit/>
          </a:bodyPr>
          <a:lstStyle/>
          <a:p>
            <a:pPr algn="ctr"/>
            <a:r>
              <a:rPr lang="en-US" sz="4000" b="1" dirty="0">
                <a:latin typeface="Times New Roman" panose="02020603050405020304" pitchFamily="18" charset="0"/>
                <a:cs typeface="Times New Roman" panose="02020603050405020304" pitchFamily="18" charset="0"/>
              </a:rPr>
              <a:t>PROCESS</a:t>
            </a:r>
            <a:endParaRPr lang="en-IN" sz="40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383C216F-F38B-8508-C6D6-52981EE2EB9C}"/>
              </a:ext>
            </a:extLst>
          </p:cNvPr>
          <p:cNvPicPr/>
          <p:nvPr/>
        </p:nvPicPr>
        <p:blipFill>
          <a:blip r:embed="rId2"/>
          <a:stretch>
            <a:fillRect/>
          </a:stretch>
        </p:blipFill>
        <p:spPr>
          <a:xfrm>
            <a:off x="410968" y="74445"/>
            <a:ext cx="11186160" cy="1137920"/>
          </a:xfrm>
          <a:prstGeom prst="rect">
            <a:avLst/>
          </a:prstGeom>
        </p:spPr>
      </p:pic>
      <p:sp>
        <p:nvSpPr>
          <p:cNvPr id="5" name="TextBox 4">
            <a:extLst>
              <a:ext uri="{FF2B5EF4-FFF2-40B4-BE49-F238E27FC236}">
                <a16:creationId xmlns:a16="http://schemas.microsoft.com/office/drawing/2014/main" id="{E9F4E027-87B6-0220-6E2A-C98DEDFE67CC}"/>
              </a:ext>
            </a:extLst>
          </p:cNvPr>
          <p:cNvSpPr txBox="1"/>
          <p:nvPr/>
        </p:nvSpPr>
        <p:spPr>
          <a:xfrm>
            <a:off x="609600" y="1541995"/>
            <a:ext cx="3183762" cy="5724644"/>
          </a:xfrm>
          <a:prstGeom prst="rect">
            <a:avLst/>
          </a:prstGeom>
          <a:noFill/>
        </p:spPr>
        <p:txBody>
          <a:bodyPr wrap="square">
            <a:spAutoFit/>
          </a:bodyPr>
          <a:lstStyle/>
          <a:p>
            <a:r>
              <a:rPr lang="en-IN" sz="1500" dirty="0">
                <a:latin typeface="Times New Roman" panose="02020603050405020304" pitchFamily="18" charset="0"/>
                <a:cs typeface="Times New Roman" panose="02020603050405020304" pitchFamily="18" charset="0"/>
              </a:rPr>
              <a:t>START</a:t>
            </a:r>
          </a:p>
          <a:p>
            <a:r>
              <a:rPr lang="en-IN" sz="1500" dirty="0">
                <a:latin typeface="Times New Roman" panose="02020603050405020304" pitchFamily="18" charset="0"/>
                <a:cs typeface="Times New Roman" panose="02020603050405020304" pitchFamily="18" charset="0"/>
              </a:rPr>
              <a:t>INPUT dataset D (images, videos, audio)</a:t>
            </a:r>
          </a:p>
          <a:p>
            <a:r>
              <a:rPr lang="en-IN" sz="1500" dirty="0">
                <a:latin typeface="Times New Roman" panose="02020603050405020304" pitchFamily="18" charset="0"/>
                <a:cs typeface="Times New Roman" panose="02020603050405020304" pitchFamily="18" charset="0"/>
              </a:rPr>
              <a:t>INPUT labels L (Deepfake / Real)</a:t>
            </a:r>
          </a:p>
          <a:p>
            <a:r>
              <a:rPr lang="en-IN" sz="1500" dirty="0">
                <a:latin typeface="Times New Roman" panose="02020603050405020304" pitchFamily="18" charset="0"/>
                <a:cs typeface="Times New Roman" panose="02020603050405020304" pitchFamily="18" charset="0"/>
              </a:rPr>
              <a:t>FEATURE EXTRACTION</a:t>
            </a:r>
          </a:p>
          <a:p>
            <a:r>
              <a:rPr lang="en-IN" sz="1500" dirty="0">
                <a:latin typeface="Times New Roman" panose="02020603050405020304" pitchFamily="18" charset="0"/>
                <a:cs typeface="Times New Roman" panose="02020603050405020304" pitchFamily="18" charset="0"/>
              </a:rPr>
              <a:t>FOR each video IN D DO</a:t>
            </a:r>
          </a:p>
          <a:p>
            <a:r>
              <a:rPr lang="en-IN" sz="1500" dirty="0">
                <a:latin typeface="Times New Roman" panose="02020603050405020304" pitchFamily="18" charset="0"/>
                <a:cs typeface="Times New Roman" panose="02020603050405020304" pitchFamily="18" charset="0"/>
              </a:rPr>
              <a:t>    Extract frames</a:t>
            </a:r>
          </a:p>
          <a:p>
            <a:r>
              <a:rPr lang="en-IN" sz="1500" dirty="0">
                <a:latin typeface="Times New Roman" panose="02020603050405020304" pitchFamily="18" charset="0"/>
                <a:cs typeface="Times New Roman" panose="02020603050405020304" pitchFamily="18" charset="0"/>
              </a:rPr>
              <a:t>END FOR</a:t>
            </a:r>
          </a:p>
          <a:p>
            <a:r>
              <a:rPr lang="en-IN" sz="1500" dirty="0">
                <a:latin typeface="Times New Roman" panose="02020603050405020304" pitchFamily="18" charset="0"/>
                <a:cs typeface="Times New Roman" panose="02020603050405020304" pitchFamily="18" charset="0"/>
              </a:rPr>
              <a:t>FOR each image/frame IN D DO</a:t>
            </a:r>
          </a:p>
          <a:p>
            <a:r>
              <a:rPr lang="en-IN" sz="1500" dirty="0">
                <a:latin typeface="Times New Roman" panose="02020603050405020304" pitchFamily="18" charset="0"/>
                <a:cs typeface="Times New Roman" panose="02020603050405020304" pitchFamily="18" charset="0"/>
              </a:rPr>
              <a:t>    Extract image features</a:t>
            </a:r>
          </a:p>
          <a:p>
            <a:r>
              <a:rPr lang="en-IN" sz="1500" dirty="0">
                <a:latin typeface="Times New Roman" panose="02020603050405020304" pitchFamily="18" charset="0"/>
                <a:cs typeface="Times New Roman" panose="02020603050405020304" pitchFamily="18" charset="0"/>
              </a:rPr>
              <a:t>END FOR</a:t>
            </a:r>
          </a:p>
          <a:p>
            <a:r>
              <a:rPr lang="en-IN" sz="1500" dirty="0">
                <a:latin typeface="Times New Roman" panose="02020603050405020304" pitchFamily="18" charset="0"/>
                <a:cs typeface="Times New Roman" panose="02020603050405020304" pitchFamily="18" charset="0"/>
              </a:rPr>
              <a:t>FOR each audio IN D DO</a:t>
            </a:r>
          </a:p>
          <a:p>
            <a:r>
              <a:rPr lang="en-IN" sz="1500" dirty="0">
                <a:latin typeface="Times New Roman" panose="02020603050405020304" pitchFamily="18" charset="0"/>
                <a:cs typeface="Times New Roman" panose="02020603050405020304" pitchFamily="18" charset="0"/>
              </a:rPr>
              <a:t>    Extract audio features</a:t>
            </a:r>
          </a:p>
          <a:p>
            <a:r>
              <a:rPr lang="en-IN" sz="1500" dirty="0">
                <a:latin typeface="Times New Roman" panose="02020603050405020304" pitchFamily="18" charset="0"/>
                <a:cs typeface="Times New Roman" panose="02020603050405020304" pitchFamily="18" charset="0"/>
              </a:rPr>
              <a:t>END FOR</a:t>
            </a:r>
          </a:p>
          <a:p>
            <a:r>
              <a:rPr lang="en-IN" sz="1500" dirty="0">
                <a:latin typeface="Times New Roman" panose="02020603050405020304" pitchFamily="18" charset="0"/>
                <a:cs typeface="Times New Roman" panose="02020603050405020304" pitchFamily="18" charset="0"/>
              </a:rPr>
              <a:t>FEATURE COMBINATION</a:t>
            </a:r>
          </a:p>
          <a:p>
            <a:r>
              <a:rPr lang="en-IN" sz="1500" dirty="0">
                <a:latin typeface="Times New Roman" panose="02020603050405020304" pitchFamily="18" charset="0"/>
                <a:cs typeface="Times New Roman" panose="02020603050405020304" pitchFamily="18" charset="0"/>
              </a:rPr>
              <a:t>COMBINE image features + audio features</a:t>
            </a:r>
          </a:p>
          <a:p>
            <a:r>
              <a:rPr lang="en-IN" sz="1500" dirty="0">
                <a:latin typeface="Times New Roman" panose="02020603050405020304" pitchFamily="18" charset="0"/>
                <a:cs typeface="Times New Roman" panose="02020603050405020304" pitchFamily="18" charset="0"/>
              </a:rPr>
              <a:t>FORM </a:t>
            </a:r>
            <a:r>
              <a:rPr lang="en-IN" sz="1500" dirty="0" err="1">
                <a:latin typeface="Times New Roman" panose="02020603050405020304" pitchFamily="18" charset="0"/>
                <a:cs typeface="Times New Roman" panose="02020603050405020304" pitchFamily="18" charset="0"/>
              </a:rPr>
              <a:t>Combined_Feature_Set</a:t>
            </a:r>
            <a:r>
              <a:rPr lang="en-IN" sz="1500" dirty="0">
                <a:latin typeface="Times New Roman" panose="02020603050405020304" pitchFamily="18" charset="0"/>
                <a:cs typeface="Times New Roman" panose="02020603050405020304" pitchFamily="18" charset="0"/>
              </a:rPr>
              <a:t> F</a:t>
            </a:r>
          </a:p>
          <a:p>
            <a:r>
              <a:rPr lang="en-IN" sz="1500" dirty="0">
                <a:latin typeface="Times New Roman" panose="02020603050405020304" pitchFamily="18" charset="0"/>
                <a:cs typeface="Times New Roman" panose="02020603050405020304" pitchFamily="18" charset="0"/>
              </a:rPr>
              <a:t>DATA SPLITTING</a:t>
            </a:r>
          </a:p>
          <a:p>
            <a:r>
              <a:rPr lang="en-IN" sz="1500" dirty="0">
                <a:latin typeface="Times New Roman" panose="02020603050405020304" pitchFamily="18" charset="0"/>
                <a:cs typeface="Times New Roman" panose="02020603050405020304" pitchFamily="18" charset="0"/>
              </a:rPr>
              <a:t>SPLIT F and L INTO:</a:t>
            </a:r>
          </a:p>
          <a:p>
            <a:r>
              <a:rPr lang="en-IN" sz="1500" dirty="0" err="1">
                <a:latin typeface="Times New Roman" panose="02020603050405020304" pitchFamily="18" charset="0"/>
                <a:cs typeface="Times New Roman" panose="02020603050405020304" pitchFamily="18" charset="0"/>
              </a:rPr>
              <a:t>Training_Set</a:t>
            </a:r>
            <a:r>
              <a:rPr lang="en-IN" sz="1500" dirty="0">
                <a:latin typeface="Times New Roman" panose="02020603050405020304" pitchFamily="18" charset="0"/>
                <a:cs typeface="Times New Roman" panose="02020603050405020304" pitchFamily="18" charset="0"/>
              </a:rPr>
              <a:t> (</a:t>
            </a:r>
            <a:r>
              <a:rPr lang="en-IN" sz="1500" dirty="0" err="1">
                <a:latin typeface="Times New Roman" panose="02020603050405020304" pitchFamily="18" charset="0"/>
                <a:cs typeface="Times New Roman" panose="02020603050405020304" pitchFamily="18" charset="0"/>
              </a:rPr>
              <a:t>Train_X</a:t>
            </a:r>
            <a:r>
              <a:rPr lang="en-IN" sz="1500" dirty="0">
                <a:latin typeface="Times New Roman" panose="02020603050405020304" pitchFamily="18" charset="0"/>
                <a:cs typeface="Times New Roman" panose="02020603050405020304" pitchFamily="18" charset="0"/>
              </a:rPr>
              <a:t>, </a:t>
            </a:r>
            <a:r>
              <a:rPr lang="en-IN" sz="1500" dirty="0" err="1">
                <a:latin typeface="Times New Roman" panose="02020603050405020304" pitchFamily="18" charset="0"/>
                <a:cs typeface="Times New Roman" panose="02020603050405020304" pitchFamily="18" charset="0"/>
              </a:rPr>
              <a:t>Train_Y</a:t>
            </a:r>
            <a:r>
              <a:rPr lang="en-IN" sz="1500" dirty="0">
                <a:latin typeface="Times New Roman" panose="02020603050405020304" pitchFamily="18" charset="0"/>
                <a:cs typeface="Times New Roman" panose="02020603050405020304" pitchFamily="18" charset="0"/>
              </a:rPr>
              <a:t>)</a:t>
            </a:r>
          </a:p>
          <a:p>
            <a:r>
              <a:rPr lang="en-IN" sz="1500" dirty="0">
                <a:latin typeface="Times New Roman" panose="02020603050405020304" pitchFamily="18" charset="0"/>
                <a:cs typeface="Times New Roman" panose="02020603050405020304" pitchFamily="18" charset="0"/>
              </a:rPr>
              <a:t>    </a:t>
            </a:r>
            <a:r>
              <a:rPr lang="en-IN" sz="1500" dirty="0" err="1">
                <a:latin typeface="Times New Roman" panose="02020603050405020304" pitchFamily="18" charset="0"/>
                <a:cs typeface="Times New Roman" panose="02020603050405020304" pitchFamily="18" charset="0"/>
              </a:rPr>
              <a:t>Testing_Set</a:t>
            </a:r>
            <a:r>
              <a:rPr lang="en-IN" sz="1500" dirty="0">
                <a:latin typeface="Times New Roman" panose="02020603050405020304" pitchFamily="18" charset="0"/>
                <a:cs typeface="Times New Roman" panose="02020603050405020304" pitchFamily="18" charset="0"/>
              </a:rPr>
              <a:t> (</a:t>
            </a:r>
            <a:r>
              <a:rPr lang="en-IN" sz="1500" dirty="0" err="1">
                <a:latin typeface="Times New Roman" panose="02020603050405020304" pitchFamily="18" charset="0"/>
                <a:cs typeface="Times New Roman" panose="02020603050405020304" pitchFamily="18" charset="0"/>
              </a:rPr>
              <a:t>Test_X</a:t>
            </a:r>
            <a:r>
              <a:rPr lang="en-IN" sz="1500" dirty="0">
                <a:latin typeface="Times New Roman" panose="02020603050405020304" pitchFamily="18" charset="0"/>
                <a:cs typeface="Times New Roman" panose="02020603050405020304" pitchFamily="18" charset="0"/>
              </a:rPr>
              <a:t>, </a:t>
            </a:r>
            <a:r>
              <a:rPr lang="en-IN" sz="1500" dirty="0" err="1">
                <a:latin typeface="Times New Roman" panose="02020603050405020304" pitchFamily="18" charset="0"/>
                <a:cs typeface="Times New Roman" panose="02020603050405020304" pitchFamily="18" charset="0"/>
              </a:rPr>
              <a:t>Test_Y</a:t>
            </a:r>
            <a:r>
              <a:rPr lang="en-IN" sz="1500" dirty="0">
                <a:latin typeface="Times New Roman" panose="02020603050405020304" pitchFamily="18" charset="0"/>
                <a:cs typeface="Times New Roman" panose="02020603050405020304" pitchFamily="18" charset="0"/>
              </a:rPr>
              <a:t>)</a:t>
            </a: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D9FDE2CE-4C37-85E2-D6E0-6554B424F439}"/>
              </a:ext>
            </a:extLst>
          </p:cNvPr>
          <p:cNvSpPr txBox="1"/>
          <p:nvPr/>
        </p:nvSpPr>
        <p:spPr>
          <a:xfrm>
            <a:off x="3929124" y="1541995"/>
            <a:ext cx="3183762" cy="5401479"/>
          </a:xfrm>
          <a:prstGeom prst="rect">
            <a:avLst/>
          </a:prstGeom>
          <a:noFill/>
        </p:spPr>
        <p:txBody>
          <a:bodyPr wrap="square">
            <a:spAutoFit/>
          </a:bodyPr>
          <a:lstStyle/>
          <a:p>
            <a:r>
              <a:rPr lang="en-IN" sz="1500" dirty="0">
                <a:latin typeface="Times New Roman" panose="02020603050405020304" pitchFamily="18" charset="0"/>
                <a:cs typeface="Times New Roman" panose="02020603050405020304" pitchFamily="18" charset="0"/>
              </a:rPr>
              <a:t>GAN MODEL (Existing)</a:t>
            </a:r>
          </a:p>
          <a:p>
            <a:r>
              <a:rPr lang="en-IN" sz="1500" dirty="0">
                <a:latin typeface="Times New Roman" panose="02020603050405020304" pitchFamily="18" charset="0"/>
                <a:cs typeface="Times New Roman" panose="02020603050405020304" pitchFamily="18" charset="0"/>
              </a:rPr>
              <a:t>INITIALIZE </a:t>
            </a:r>
            <a:r>
              <a:rPr lang="en-IN" sz="1500" dirty="0" err="1">
                <a:latin typeface="Times New Roman" panose="02020603050405020304" pitchFamily="18" charset="0"/>
                <a:cs typeface="Times New Roman" panose="02020603050405020304" pitchFamily="18" charset="0"/>
              </a:rPr>
              <a:t>GAN_Model</a:t>
            </a:r>
            <a:endParaRPr lang="en-IN" sz="1500" dirty="0">
              <a:latin typeface="Times New Roman" panose="02020603050405020304" pitchFamily="18" charset="0"/>
              <a:cs typeface="Times New Roman" panose="02020603050405020304" pitchFamily="18" charset="0"/>
            </a:endParaRPr>
          </a:p>
          <a:p>
            <a:r>
              <a:rPr lang="en-IN" sz="1500" dirty="0">
                <a:latin typeface="Times New Roman" panose="02020603050405020304" pitchFamily="18" charset="0"/>
                <a:cs typeface="Times New Roman" panose="02020603050405020304" pitchFamily="18" charset="0"/>
              </a:rPr>
              <a:t>TRAIN </a:t>
            </a:r>
            <a:r>
              <a:rPr lang="en-IN" sz="1500" dirty="0" err="1">
                <a:latin typeface="Times New Roman" panose="02020603050405020304" pitchFamily="18" charset="0"/>
                <a:cs typeface="Times New Roman" panose="02020603050405020304" pitchFamily="18" charset="0"/>
              </a:rPr>
              <a:t>GAN_Model</a:t>
            </a:r>
            <a:r>
              <a:rPr lang="en-IN" sz="1500" dirty="0">
                <a:latin typeface="Times New Roman" panose="02020603050405020304" pitchFamily="18" charset="0"/>
                <a:cs typeface="Times New Roman" panose="02020603050405020304" pitchFamily="18" charset="0"/>
              </a:rPr>
              <a:t> using </a:t>
            </a:r>
            <a:r>
              <a:rPr lang="en-IN" sz="1500" dirty="0" err="1">
                <a:latin typeface="Times New Roman" panose="02020603050405020304" pitchFamily="18" charset="0"/>
                <a:cs typeface="Times New Roman" panose="02020603050405020304" pitchFamily="18" charset="0"/>
              </a:rPr>
              <a:t>Train_X</a:t>
            </a:r>
            <a:r>
              <a:rPr lang="en-IN" sz="1500" dirty="0">
                <a:latin typeface="Times New Roman" panose="02020603050405020304" pitchFamily="18" charset="0"/>
                <a:cs typeface="Times New Roman" panose="02020603050405020304" pitchFamily="18" charset="0"/>
              </a:rPr>
              <a:t> and </a:t>
            </a:r>
            <a:r>
              <a:rPr lang="en-IN" sz="1500" dirty="0" err="1">
                <a:latin typeface="Times New Roman" panose="02020603050405020304" pitchFamily="18" charset="0"/>
                <a:cs typeface="Times New Roman" panose="02020603050405020304" pitchFamily="18" charset="0"/>
              </a:rPr>
              <a:t>Train_Y</a:t>
            </a:r>
            <a:endParaRPr lang="en-IN" sz="1500" dirty="0">
              <a:latin typeface="Times New Roman" panose="02020603050405020304" pitchFamily="18" charset="0"/>
              <a:cs typeface="Times New Roman" panose="02020603050405020304" pitchFamily="18" charset="0"/>
            </a:endParaRPr>
          </a:p>
          <a:p>
            <a:r>
              <a:rPr lang="en-IN" sz="1500" dirty="0">
                <a:latin typeface="Times New Roman" panose="02020603050405020304" pitchFamily="18" charset="0"/>
                <a:cs typeface="Times New Roman" panose="02020603050405020304" pitchFamily="18" charset="0"/>
              </a:rPr>
              <a:t>FOR each sample IN </a:t>
            </a:r>
            <a:r>
              <a:rPr lang="en-IN" sz="1500" dirty="0" err="1">
                <a:latin typeface="Times New Roman" panose="02020603050405020304" pitchFamily="18" charset="0"/>
                <a:cs typeface="Times New Roman" panose="02020603050405020304" pitchFamily="18" charset="0"/>
              </a:rPr>
              <a:t>Test_X</a:t>
            </a:r>
            <a:r>
              <a:rPr lang="en-IN" sz="1500" dirty="0">
                <a:latin typeface="Times New Roman" panose="02020603050405020304" pitchFamily="18" charset="0"/>
                <a:cs typeface="Times New Roman" panose="02020603050405020304" pitchFamily="18" charset="0"/>
              </a:rPr>
              <a:t> DO</a:t>
            </a:r>
          </a:p>
          <a:p>
            <a:r>
              <a:rPr lang="en-IN" sz="1500" dirty="0">
                <a:latin typeface="Times New Roman" panose="02020603050405020304" pitchFamily="18" charset="0"/>
                <a:cs typeface="Times New Roman" panose="02020603050405020304" pitchFamily="18" charset="0"/>
              </a:rPr>
              <a:t>    </a:t>
            </a:r>
            <a:r>
              <a:rPr lang="en-IN" sz="1500" dirty="0" err="1">
                <a:latin typeface="Times New Roman" panose="02020603050405020304" pitchFamily="18" charset="0"/>
                <a:cs typeface="Times New Roman" panose="02020603050405020304" pitchFamily="18" charset="0"/>
              </a:rPr>
              <a:t>gan_pred</a:t>
            </a:r>
            <a:r>
              <a:rPr lang="en-IN" sz="1500" dirty="0">
                <a:latin typeface="Times New Roman" panose="02020603050405020304" pitchFamily="18" charset="0"/>
                <a:cs typeface="Times New Roman" panose="02020603050405020304" pitchFamily="18" charset="0"/>
              </a:rPr>
              <a:t> ← PREDICT using </a:t>
            </a:r>
            <a:r>
              <a:rPr lang="en-IN" sz="1500" dirty="0" err="1">
                <a:latin typeface="Times New Roman" panose="02020603050405020304" pitchFamily="18" charset="0"/>
                <a:cs typeface="Times New Roman" panose="02020603050405020304" pitchFamily="18" charset="0"/>
              </a:rPr>
              <a:t>GAN_Model</a:t>
            </a:r>
            <a:endParaRPr lang="en-IN" sz="1500" dirty="0">
              <a:latin typeface="Times New Roman" panose="02020603050405020304" pitchFamily="18" charset="0"/>
              <a:cs typeface="Times New Roman" panose="02020603050405020304" pitchFamily="18" charset="0"/>
            </a:endParaRPr>
          </a:p>
          <a:p>
            <a:r>
              <a:rPr lang="en-IN" sz="1500" dirty="0">
                <a:latin typeface="Times New Roman" panose="02020603050405020304" pitchFamily="18" charset="0"/>
                <a:cs typeface="Times New Roman" panose="02020603050405020304" pitchFamily="18" charset="0"/>
              </a:rPr>
              <a:t>    STORE </a:t>
            </a:r>
            <a:r>
              <a:rPr lang="en-IN" sz="1500" dirty="0" err="1">
                <a:latin typeface="Times New Roman" panose="02020603050405020304" pitchFamily="18" charset="0"/>
                <a:cs typeface="Times New Roman" panose="02020603050405020304" pitchFamily="18" charset="0"/>
              </a:rPr>
              <a:t>gan_pred</a:t>
            </a:r>
            <a:endParaRPr lang="en-IN" sz="1500" dirty="0">
              <a:latin typeface="Times New Roman" panose="02020603050405020304" pitchFamily="18" charset="0"/>
              <a:cs typeface="Times New Roman" panose="02020603050405020304" pitchFamily="18" charset="0"/>
            </a:endParaRPr>
          </a:p>
          <a:p>
            <a:r>
              <a:rPr lang="en-IN" sz="1500" dirty="0">
                <a:latin typeface="Times New Roman" panose="02020603050405020304" pitchFamily="18" charset="0"/>
                <a:cs typeface="Times New Roman" panose="02020603050405020304" pitchFamily="18" charset="0"/>
              </a:rPr>
              <a:t>END FOR</a:t>
            </a:r>
          </a:p>
          <a:p>
            <a:r>
              <a:rPr lang="en-IN" sz="1500" dirty="0">
                <a:latin typeface="Times New Roman" panose="02020603050405020304" pitchFamily="18" charset="0"/>
                <a:cs typeface="Times New Roman" panose="02020603050405020304" pitchFamily="18" charset="0"/>
              </a:rPr>
              <a:t>CALCULATE:</a:t>
            </a:r>
          </a:p>
          <a:p>
            <a:r>
              <a:rPr lang="en-IN" sz="1500" dirty="0">
                <a:latin typeface="Times New Roman" panose="02020603050405020304" pitchFamily="18" charset="0"/>
                <a:cs typeface="Times New Roman" panose="02020603050405020304" pitchFamily="18" charset="0"/>
              </a:rPr>
              <a:t>    </a:t>
            </a:r>
            <a:r>
              <a:rPr lang="en-IN" sz="1500" dirty="0" err="1">
                <a:latin typeface="Times New Roman" panose="02020603050405020304" pitchFamily="18" charset="0"/>
                <a:cs typeface="Times New Roman" panose="02020603050405020304" pitchFamily="18" charset="0"/>
              </a:rPr>
              <a:t>Accuracy_GAN</a:t>
            </a:r>
            <a:endParaRPr lang="en-IN" sz="1500" dirty="0">
              <a:latin typeface="Times New Roman" panose="02020603050405020304" pitchFamily="18" charset="0"/>
              <a:cs typeface="Times New Roman" panose="02020603050405020304" pitchFamily="18" charset="0"/>
            </a:endParaRPr>
          </a:p>
          <a:p>
            <a:r>
              <a:rPr lang="en-IN" sz="1500" dirty="0">
                <a:latin typeface="Times New Roman" panose="02020603050405020304" pitchFamily="18" charset="0"/>
                <a:cs typeface="Times New Roman" panose="02020603050405020304" pitchFamily="18" charset="0"/>
              </a:rPr>
              <a:t>    </a:t>
            </a:r>
            <a:r>
              <a:rPr lang="en-IN" sz="1500" dirty="0" err="1">
                <a:latin typeface="Times New Roman" panose="02020603050405020304" pitchFamily="18" charset="0"/>
                <a:cs typeface="Times New Roman" panose="02020603050405020304" pitchFamily="18" charset="0"/>
              </a:rPr>
              <a:t>Precision_GAN</a:t>
            </a:r>
            <a:endParaRPr lang="en-IN" sz="1500" dirty="0">
              <a:latin typeface="Times New Roman" panose="02020603050405020304" pitchFamily="18" charset="0"/>
              <a:cs typeface="Times New Roman" panose="02020603050405020304" pitchFamily="18" charset="0"/>
            </a:endParaRPr>
          </a:p>
          <a:p>
            <a:r>
              <a:rPr lang="en-IN" sz="1500" dirty="0">
                <a:latin typeface="Times New Roman" panose="02020603050405020304" pitchFamily="18" charset="0"/>
                <a:cs typeface="Times New Roman" panose="02020603050405020304" pitchFamily="18" charset="0"/>
              </a:rPr>
              <a:t>    </a:t>
            </a:r>
            <a:r>
              <a:rPr lang="en-IN" sz="1500" dirty="0" err="1">
                <a:latin typeface="Times New Roman" panose="02020603050405020304" pitchFamily="18" charset="0"/>
                <a:cs typeface="Times New Roman" panose="02020603050405020304" pitchFamily="18" charset="0"/>
              </a:rPr>
              <a:t>Recall_GAN</a:t>
            </a:r>
            <a:endParaRPr lang="en-IN" sz="1500" dirty="0">
              <a:latin typeface="Times New Roman" panose="02020603050405020304" pitchFamily="18" charset="0"/>
              <a:cs typeface="Times New Roman" panose="02020603050405020304" pitchFamily="18" charset="0"/>
            </a:endParaRPr>
          </a:p>
          <a:p>
            <a:r>
              <a:rPr lang="en-IN" sz="1500" dirty="0">
                <a:latin typeface="Times New Roman" panose="02020603050405020304" pitchFamily="18" charset="0"/>
                <a:cs typeface="Times New Roman" panose="02020603050405020304" pitchFamily="18" charset="0"/>
              </a:rPr>
              <a:t> F1_GAN</a:t>
            </a:r>
          </a:p>
          <a:p>
            <a:r>
              <a:rPr lang="en-IN" sz="1500" dirty="0">
                <a:latin typeface="Times New Roman" panose="02020603050405020304" pitchFamily="18" charset="0"/>
                <a:cs typeface="Times New Roman" panose="02020603050405020304" pitchFamily="18" charset="0"/>
              </a:rPr>
              <a:t>MULTIMODAL AI MODEL (Proposed)</a:t>
            </a:r>
          </a:p>
          <a:p>
            <a:r>
              <a:rPr lang="en-IN" sz="1500" dirty="0">
                <a:latin typeface="Times New Roman" panose="02020603050405020304" pitchFamily="18" charset="0"/>
                <a:cs typeface="Times New Roman" panose="02020603050405020304" pitchFamily="18" charset="0"/>
              </a:rPr>
              <a:t>INITIALIZE </a:t>
            </a:r>
            <a:r>
              <a:rPr lang="en-IN" sz="1500" dirty="0" err="1">
                <a:latin typeface="Times New Roman" panose="02020603050405020304" pitchFamily="18" charset="0"/>
                <a:cs typeface="Times New Roman" panose="02020603050405020304" pitchFamily="18" charset="0"/>
              </a:rPr>
              <a:t>Multimodal_Model</a:t>
            </a:r>
            <a:endParaRPr lang="en-IN" sz="1500" dirty="0">
              <a:latin typeface="Times New Roman" panose="02020603050405020304" pitchFamily="18" charset="0"/>
              <a:cs typeface="Times New Roman" panose="02020603050405020304" pitchFamily="18" charset="0"/>
            </a:endParaRPr>
          </a:p>
          <a:p>
            <a:r>
              <a:rPr lang="en-IN" sz="1500" dirty="0">
                <a:latin typeface="Times New Roman" panose="02020603050405020304" pitchFamily="18" charset="0"/>
                <a:cs typeface="Times New Roman" panose="02020603050405020304" pitchFamily="18" charset="0"/>
              </a:rPr>
              <a:t>TRAIN </a:t>
            </a:r>
            <a:r>
              <a:rPr lang="en-IN" sz="1500" dirty="0" err="1">
                <a:latin typeface="Times New Roman" panose="02020603050405020304" pitchFamily="18" charset="0"/>
                <a:cs typeface="Times New Roman" panose="02020603050405020304" pitchFamily="18" charset="0"/>
              </a:rPr>
              <a:t>Multimodal_Model</a:t>
            </a:r>
            <a:r>
              <a:rPr lang="en-IN" sz="1500" dirty="0">
                <a:latin typeface="Times New Roman" panose="02020603050405020304" pitchFamily="18" charset="0"/>
                <a:cs typeface="Times New Roman" panose="02020603050405020304" pitchFamily="18" charset="0"/>
              </a:rPr>
              <a:t> using </a:t>
            </a:r>
            <a:r>
              <a:rPr lang="en-IN" sz="1500" dirty="0" err="1">
                <a:latin typeface="Times New Roman" panose="02020603050405020304" pitchFamily="18" charset="0"/>
                <a:cs typeface="Times New Roman" panose="02020603050405020304" pitchFamily="18" charset="0"/>
              </a:rPr>
              <a:t>Train_X</a:t>
            </a:r>
            <a:r>
              <a:rPr lang="en-IN" sz="1500" dirty="0">
                <a:latin typeface="Times New Roman" panose="02020603050405020304" pitchFamily="18" charset="0"/>
                <a:cs typeface="Times New Roman" panose="02020603050405020304" pitchFamily="18" charset="0"/>
              </a:rPr>
              <a:t> and </a:t>
            </a:r>
            <a:r>
              <a:rPr lang="en-IN" sz="1500" dirty="0" err="1">
                <a:latin typeface="Times New Roman" panose="02020603050405020304" pitchFamily="18" charset="0"/>
                <a:cs typeface="Times New Roman" panose="02020603050405020304" pitchFamily="18" charset="0"/>
              </a:rPr>
              <a:t>Train_Y</a:t>
            </a:r>
            <a:endParaRPr lang="en-IN" sz="1500" dirty="0">
              <a:latin typeface="Times New Roman" panose="02020603050405020304" pitchFamily="18" charset="0"/>
              <a:cs typeface="Times New Roman" panose="02020603050405020304" pitchFamily="18" charset="0"/>
            </a:endParaRPr>
          </a:p>
          <a:p>
            <a:r>
              <a:rPr lang="en-IN" sz="1500" dirty="0">
                <a:latin typeface="Times New Roman" panose="02020603050405020304" pitchFamily="18" charset="0"/>
                <a:cs typeface="Times New Roman" panose="02020603050405020304" pitchFamily="18" charset="0"/>
              </a:rPr>
              <a:t>FOR each sample IN </a:t>
            </a:r>
            <a:r>
              <a:rPr lang="en-IN" sz="1500" dirty="0" err="1">
                <a:latin typeface="Times New Roman" panose="02020603050405020304" pitchFamily="18" charset="0"/>
                <a:cs typeface="Times New Roman" panose="02020603050405020304" pitchFamily="18" charset="0"/>
              </a:rPr>
              <a:t>Test_X</a:t>
            </a:r>
            <a:r>
              <a:rPr lang="en-IN" sz="1500" dirty="0">
                <a:latin typeface="Times New Roman" panose="02020603050405020304" pitchFamily="18" charset="0"/>
                <a:cs typeface="Times New Roman" panose="02020603050405020304" pitchFamily="18" charset="0"/>
              </a:rPr>
              <a:t> DO</a:t>
            </a:r>
          </a:p>
          <a:p>
            <a:r>
              <a:rPr lang="en-IN" sz="1500" dirty="0">
                <a:latin typeface="Times New Roman" panose="02020603050405020304" pitchFamily="18" charset="0"/>
                <a:cs typeface="Times New Roman" panose="02020603050405020304" pitchFamily="18" charset="0"/>
              </a:rPr>
              <a:t>    </a:t>
            </a:r>
            <a:r>
              <a:rPr lang="en-IN" sz="1500" dirty="0" err="1">
                <a:latin typeface="Times New Roman" panose="02020603050405020304" pitchFamily="18" charset="0"/>
                <a:cs typeface="Times New Roman" panose="02020603050405020304" pitchFamily="18" charset="0"/>
              </a:rPr>
              <a:t>multi_pred</a:t>
            </a:r>
            <a:r>
              <a:rPr lang="en-IN" sz="1500" dirty="0">
                <a:latin typeface="Times New Roman" panose="02020603050405020304" pitchFamily="18" charset="0"/>
                <a:cs typeface="Times New Roman" panose="02020603050405020304" pitchFamily="18" charset="0"/>
              </a:rPr>
              <a:t> ← PREDICT using </a:t>
            </a:r>
            <a:r>
              <a:rPr lang="en-IN" sz="1500" dirty="0" err="1">
                <a:latin typeface="Times New Roman" panose="02020603050405020304" pitchFamily="18" charset="0"/>
                <a:cs typeface="Times New Roman" panose="02020603050405020304" pitchFamily="18" charset="0"/>
              </a:rPr>
              <a:t>Multimodal_Model</a:t>
            </a:r>
            <a:endParaRPr lang="en-IN" sz="1500" dirty="0">
              <a:latin typeface="Times New Roman" panose="02020603050405020304" pitchFamily="18" charset="0"/>
              <a:cs typeface="Times New Roman" panose="02020603050405020304" pitchFamily="18" charset="0"/>
            </a:endParaRPr>
          </a:p>
          <a:p>
            <a:r>
              <a:rPr lang="en-IN" sz="1500" dirty="0">
                <a:latin typeface="Times New Roman" panose="02020603050405020304" pitchFamily="18" charset="0"/>
                <a:cs typeface="Times New Roman" panose="02020603050405020304" pitchFamily="18" charset="0"/>
              </a:rPr>
              <a:t>    STORE </a:t>
            </a:r>
            <a:r>
              <a:rPr lang="en-IN" sz="1500" dirty="0" err="1">
                <a:latin typeface="Times New Roman" panose="02020603050405020304" pitchFamily="18" charset="0"/>
                <a:cs typeface="Times New Roman" panose="02020603050405020304" pitchFamily="18" charset="0"/>
              </a:rPr>
              <a:t>multi_pred</a:t>
            </a:r>
            <a:endParaRPr lang="en-IN" sz="1500" dirty="0"/>
          </a:p>
        </p:txBody>
      </p:sp>
      <p:sp>
        <p:nvSpPr>
          <p:cNvPr id="9" name="TextBox 8">
            <a:extLst>
              <a:ext uri="{FF2B5EF4-FFF2-40B4-BE49-F238E27FC236}">
                <a16:creationId xmlns:a16="http://schemas.microsoft.com/office/drawing/2014/main" id="{CE31FFB6-132F-3229-6DB3-48DD064AB027}"/>
              </a:ext>
            </a:extLst>
          </p:cNvPr>
          <p:cNvSpPr txBox="1"/>
          <p:nvPr/>
        </p:nvSpPr>
        <p:spPr>
          <a:xfrm>
            <a:off x="7384410" y="1541995"/>
            <a:ext cx="4695830" cy="5401479"/>
          </a:xfrm>
          <a:prstGeom prst="rect">
            <a:avLst/>
          </a:prstGeom>
          <a:noFill/>
        </p:spPr>
        <p:txBody>
          <a:bodyPr wrap="square">
            <a:spAutoFit/>
          </a:bodyPr>
          <a:lstStyle/>
          <a:p>
            <a:r>
              <a:rPr lang="en-IN" sz="1500" dirty="0">
                <a:latin typeface="Times New Roman" panose="02020603050405020304" pitchFamily="18" charset="0"/>
                <a:cs typeface="Times New Roman" panose="02020603050405020304" pitchFamily="18" charset="0"/>
              </a:rPr>
              <a:t>END FOR</a:t>
            </a:r>
          </a:p>
          <a:p>
            <a:r>
              <a:rPr lang="en-IN" sz="1500" dirty="0">
                <a:latin typeface="Times New Roman" panose="02020603050405020304" pitchFamily="18" charset="0"/>
                <a:cs typeface="Times New Roman" panose="02020603050405020304" pitchFamily="18" charset="0"/>
              </a:rPr>
              <a:t>CALCULATE:</a:t>
            </a:r>
          </a:p>
          <a:p>
            <a:r>
              <a:rPr lang="en-IN" sz="1500" dirty="0">
                <a:latin typeface="Times New Roman" panose="02020603050405020304" pitchFamily="18" charset="0"/>
                <a:cs typeface="Times New Roman" panose="02020603050405020304" pitchFamily="18" charset="0"/>
              </a:rPr>
              <a:t>    </a:t>
            </a:r>
            <a:r>
              <a:rPr lang="en-IN" sz="1500" dirty="0" err="1">
                <a:latin typeface="Times New Roman" panose="02020603050405020304" pitchFamily="18" charset="0"/>
                <a:cs typeface="Times New Roman" panose="02020603050405020304" pitchFamily="18" charset="0"/>
              </a:rPr>
              <a:t>Accuracy_Multi</a:t>
            </a:r>
            <a:endParaRPr lang="en-IN" sz="1500" dirty="0">
              <a:latin typeface="Times New Roman" panose="02020603050405020304" pitchFamily="18" charset="0"/>
              <a:cs typeface="Times New Roman" panose="02020603050405020304" pitchFamily="18" charset="0"/>
            </a:endParaRPr>
          </a:p>
          <a:p>
            <a:r>
              <a:rPr lang="en-IN" sz="1500" dirty="0">
                <a:latin typeface="Times New Roman" panose="02020603050405020304" pitchFamily="18" charset="0"/>
                <a:cs typeface="Times New Roman" panose="02020603050405020304" pitchFamily="18" charset="0"/>
              </a:rPr>
              <a:t>    </a:t>
            </a:r>
            <a:r>
              <a:rPr lang="en-IN" sz="1500" dirty="0" err="1">
                <a:latin typeface="Times New Roman" panose="02020603050405020304" pitchFamily="18" charset="0"/>
                <a:cs typeface="Times New Roman" panose="02020603050405020304" pitchFamily="18" charset="0"/>
              </a:rPr>
              <a:t>Precision_Multi</a:t>
            </a:r>
            <a:endParaRPr lang="en-IN" sz="1500" dirty="0">
              <a:latin typeface="Times New Roman" panose="02020603050405020304" pitchFamily="18" charset="0"/>
              <a:cs typeface="Times New Roman" panose="02020603050405020304" pitchFamily="18" charset="0"/>
            </a:endParaRPr>
          </a:p>
          <a:p>
            <a:r>
              <a:rPr lang="en-IN" sz="1500" dirty="0">
                <a:latin typeface="Times New Roman" panose="02020603050405020304" pitchFamily="18" charset="0"/>
                <a:cs typeface="Times New Roman" panose="02020603050405020304" pitchFamily="18" charset="0"/>
              </a:rPr>
              <a:t>    </a:t>
            </a:r>
            <a:r>
              <a:rPr lang="en-IN" sz="1500" dirty="0" err="1">
                <a:latin typeface="Times New Roman" panose="02020603050405020304" pitchFamily="18" charset="0"/>
                <a:cs typeface="Times New Roman" panose="02020603050405020304" pitchFamily="18" charset="0"/>
              </a:rPr>
              <a:t>Recall_Multi</a:t>
            </a:r>
            <a:endParaRPr lang="en-IN" sz="1500" dirty="0">
              <a:latin typeface="Times New Roman" panose="02020603050405020304" pitchFamily="18" charset="0"/>
              <a:cs typeface="Times New Roman" panose="02020603050405020304" pitchFamily="18" charset="0"/>
            </a:endParaRPr>
          </a:p>
          <a:p>
            <a:r>
              <a:rPr lang="en-IN" sz="1500" dirty="0">
                <a:latin typeface="Times New Roman" panose="02020603050405020304" pitchFamily="18" charset="0"/>
                <a:cs typeface="Times New Roman" panose="02020603050405020304" pitchFamily="18" charset="0"/>
              </a:rPr>
              <a:t>    F1_Multi</a:t>
            </a:r>
          </a:p>
          <a:p>
            <a:r>
              <a:rPr lang="en-IN" sz="1500" dirty="0">
                <a:latin typeface="Times New Roman" panose="02020603050405020304" pitchFamily="18" charset="0"/>
                <a:cs typeface="Times New Roman" panose="02020603050405020304" pitchFamily="18" charset="0"/>
              </a:rPr>
              <a:t>COMPARISON</a:t>
            </a:r>
          </a:p>
          <a:p>
            <a:r>
              <a:rPr lang="en-IN" sz="1500" dirty="0">
                <a:latin typeface="Times New Roman" panose="02020603050405020304" pitchFamily="18" charset="0"/>
                <a:cs typeface="Times New Roman" panose="02020603050405020304" pitchFamily="18" charset="0"/>
              </a:rPr>
              <a:t>IF </a:t>
            </a:r>
            <a:r>
              <a:rPr lang="en-IN" sz="1500" dirty="0" err="1">
                <a:latin typeface="Times New Roman" panose="02020603050405020304" pitchFamily="18" charset="0"/>
                <a:cs typeface="Times New Roman" panose="02020603050405020304" pitchFamily="18" charset="0"/>
              </a:rPr>
              <a:t>Accuracy_Multi</a:t>
            </a:r>
            <a:r>
              <a:rPr lang="en-IN" sz="1500" dirty="0">
                <a:latin typeface="Times New Roman" panose="02020603050405020304" pitchFamily="18" charset="0"/>
                <a:cs typeface="Times New Roman" panose="02020603050405020304" pitchFamily="18" charset="0"/>
              </a:rPr>
              <a:t> &gt; </a:t>
            </a:r>
            <a:r>
              <a:rPr lang="en-IN" sz="1500" dirty="0" err="1">
                <a:latin typeface="Times New Roman" panose="02020603050405020304" pitchFamily="18" charset="0"/>
                <a:cs typeface="Times New Roman" panose="02020603050405020304" pitchFamily="18" charset="0"/>
              </a:rPr>
              <a:t>Accuracy_GAN</a:t>
            </a:r>
            <a:r>
              <a:rPr lang="en-IN" sz="1500" dirty="0">
                <a:latin typeface="Times New Roman" panose="02020603050405020304" pitchFamily="18" charset="0"/>
                <a:cs typeface="Times New Roman" panose="02020603050405020304" pitchFamily="18" charset="0"/>
              </a:rPr>
              <a:t> THEN</a:t>
            </a:r>
          </a:p>
          <a:p>
            <a:r>
              <a:rPr lang="en-IN" sz="1500" dirty="0">
                <a:latin typeface="Times New Roman" panose="02020603050405020304" pitchFamily="18" charset="0"/>
                <a:cs typeface="Times New Roman" panose="02020603050405020304" pitchFamily="18" charset="0"/>
              </a:rPr>
              <a:t>    </a:t>
            </a:r>
            <a:r>
              <a:rPr lang="en-IN" sz="1500" dirty="0" err="1">
                <a:latin typeface="Times New Roman" panose="02020603050405020304" pitchFamily="18" charset="0"/>
                <a:cs typeface="Times New Roman" panose="02020603050405020304" pitchFamily="18" charset="0"/>
              </a:rPr>
              <a:t>Best_Model</a:t>
            </a:r>
            <a:r>
              <a:rPr lang="en-IN" sz="1500" dirty="0">
                <a:latin typeface="Times New Roman" panose="02020603050405020304" pitchFamily="18" charset="0"/>
                <a:cs typeface="Times New Roman" panose="02020603050405020304" pitchFamily="18" charset="0"/>
              </a:rPr>
              <a:t> ← "Multimodal AI"</a:t>
            </a:r>
          </a:p>
          <a:p>
            <a:r>
              <a:rPr lang="en-IN" sz="1500" dirty="0">
                <a:latin typeface="Times New Roman" panose="02020603050405020304" pitchFamily="18" charset="0"/>
                <a:cs typeface="Times New Roman" panose="02020603050405020304" pitchFamily="18" charset="0"/>
              </a:rPr>
              <a:t>ELSE IF </a:t>
            </a:r>
            <a:r>
              <a:rPr lang="en-IN" sz="1500" dirty="0" err="1">
                <a:latin typeface="Times New Roman" panose="02020603050405020304" pitchFamily="18" charset="0"/>
                <a:cs typeface="Times New Roman" panose="02020603050405020304" pitchFamily="18" charset="0"/>
              </a:rPr>
              <a:t>Accuracy_Multi</a:t>
            </a:r>
            <a:r>
              <a:rPr lang="en-IN" sz="1500" dirty="0">
                <a:latin typeface="Times New Roman" panose="02020603050405020304" pitchFamily="18" charset="0"/>
                <a:cs typeface="Times New Roman" panose="02020603050405020304" pitchFamily="18" charset="0"/>
              </a:rPr>
              <a:t> &lt; </a:t>
            </a:r>
            <a:r>
              <a:rPr lang="en-IN" sz="1500" dirty="0" err="1">
                <a:latin typeface="Times New Roman" panose="02020603050405020304" pitchFamily="18" charset="0"/>
                <a:cs typeface="Times New Roman" panose="02020603050405020304" pitchFamily="18" charset="0"/>
              </a:rPr>
              <a:t>Accuracy_GAN</a:t>
            </a:r>
            <a:r>
              <a:rPr lang="en-IN" sz="1500" dirty="0">
                <a:latin typeface="Times New Roman" panose="02020603050405020304" pitchFamily="18" charset="0"/>
                <a:cs typeface="Times New Roman" panose="02020603050405020304" pitchFamily="18" charset="0"/>
              </a:rPr>
              <a:t> THEN</a:t>
            </a:r>
          </a:p>
          <a:p>
            <a:r>
              <a:rPr lang="en-IN" sz="1500" dirty="0">
                <a:latin typeface="Times New Roman" panose="02020603050405020304" pitchFamily="18" charset="0"/>
                <a:cs typeface="Times New Roman" panose="02020603050405020304" pitchFamily="18" charset="0"/>
              </a:rPr>
              <a:t>    </a:t>
            </a:r>
            <a:r>
              <a:rPr lang="en-IN" sz="1500" dirty="0" err="1">
                <a:latin typeface="Times New Roman" panose="02020603050405020304" pitchFamily="18" charset="0"/>
                <a:cs typeface="Times New Roman" panose="02020603050405020304" pitchFamily="18" charset="0"/>
              </a:rPr>
              <a:t>Best_Model</a:t>
            </a:r>
            <a:r>
              <a:rPr lang="en-IN" sz="1500" dirty="0">
                <a:latin typeface="Times New Roman" panose="02020603050405020304" pitchFamily="18" charset="0"/>
                <a:cs typeface="Times New Roman" panose="02020603050405020304" pitchFamily="18" charset="0"/>
              </a:rPr>
              <a:t> ← "GAN"</a:t>
            </a:r>
          </a:p>
          <a:p>
            <a:r>
              <a:rPr lang="en-IN" sz="1500" dirty="0">
                <a:latin typeface="Times New Roman" panose="02020603050405020304" pitchFamily="18" charset="0"/>
                <a:cs typeface="Times New Roman" panose="02020603050405020304" pitchFamily="18" charset="0"/>
              </a:rPr>
              <a:t>ELSE</a:t>
            </a:r>
          </a:p>
          <a:p>
            <a:r>
              <a:rPr lang="en-IN" sz="1500" dirty="0">
                <a:latin typeface="Times New Roman" panose="02020603050405020304" pitchFamily="18" charset="0"/>
                <a:cs typeface="Times New Roman" panose="02020603050405020304" pitchFamily="18" charset="0"/>
              </a:rPr>
              <a:t>    </a:t>
            </a:r>
            <a:r>
              <a:rPr lang="en-IN" sz="1500" dirty="0" err="1">
                <a:latin typeface="Times New Roman" panose="02020603050405020304" pitchFamily="18" charset="0"/>
                <a:cs typeface="Times New Roman" panose="02020603050405020304" pitchFamily="18" charset="0"/>
              </a:rPr>
              <a:t>Best_Model</a:t>
            </a:r>
            <a:r>
              <a:rPr lang="en-IN" sz="1500" dirty="0">
                <a:latin typeface="Times New Roman" panose="02020603050405020304" pitchFamily="18" charset="0"/>
                <a:cs typeface="Times New Roman" panose="02020603050405020304" pitchFamily="18" charset="0"/>
              </a:rPr>
              <a:t> ← "Both are Equal"</a:t>
            </a:r>
          </a:p>
          <a:p>
            <a:r>
              <a:rPr lang="en-IN" sz="1500" dirty="0">
                <a:latin typeface="Times New Roman" panose="02020603050405020304" pitchFamily="18" charset="0"/>
                <a:cs typeface="Times New Roman" panose="02020603050405020304" pitchFamily="18" charset="0"/>
              </a:rPr>
              <a:t>END IF</a:t>
            </a:r>
          </a:p>
          <a:p>
            <a:r>
              <a:rPr lang="en-IN" sz="1500" dirty="0">
                <a:latin typeface="Times New Roman" panose="02020603050405020304" pitchFamily="18" charset="0"/>
                <a:cs typeface="Times New Roman" panose="02020603050405020304" pitchFamily="18" charset="0"/>
              </a:rPr>
              <a:t>OUTPUT</a:t>
            </a:r>
          </a:p>
          <a:p>
            <a:r>
              <a:rPr lang="en-IN" sz="1500" dirty="0">
                <a:latin typeface="Times New Roman" panose="02020603050405020304" pitchFamily="18" charset="0"/>
                <a:cs typeface="Times New Roman" panose="02020603050405020304" pitchFamily="18" charset="0"/>
              </a:rPr>
              <a:t>DISPLAY "GAN Results:"</a:t>
            </a:r>
          </a:p>
          <a:p>
            <a:r>
              <a:rPr lang="en-IN" sz="1500" dirty="0">
                <a:latin typeface="Times New Roman" panose="02020603050405020304" pitchFamily="18" charset="0"/>
                <a:cs typeface="Times New Roman" panose="02020603050405020304" pitchFamily="18" charset="0"/>
              </a:rPr>
              <a:t>DISPLAY </a:t>
            </a:r>
            <a:r>
              <a:rPr lang="en-IN" sz="1500" dirty="0" err="1">
                <a:latin typeface="Times New Roman" panose="02020603050405020304" pitchFamily="18" charset="0"/>
                <a:cs typeface="Times New Roman" panose="02020603050405020304" pitchFamily="18" charset="0"/>
              </a:rPr>
              <a:t>Accuracy_GAN</a:t>
            </a:r>
            <a:r>
              <a:rPr lang="en-IN" sz="1500" dirty="0">
                <a:latin typeface="Times New Roman" panose="02020603050405020304" pitchFamily="18" charset="0"/>
                <a:cs typeface="Times New Roman" panose="02020603050405020304" pitchFamily="18" charset="0"/>
              </a:rPr>
              <a:t>, </a:t>
            </a:r>
            <a:r>
              <a:rPr lang="en-IN" sz="1500" dirty="0" err="1">
                <a:latin typeface="Times New Roman" panose="02020603050405020304" pitchFamily="18" charset="0"/>
                <a:cs typeface="Times New Roman" panose="02020603050405020304" pitchFamily="18" charset="0"/>
              </a:rPr>
              <a:t>Precision_GAN</a:t>
            </a:r>
            <a:r>
              <a:rPr lang="en-IN" sz="1500" dirty="0">
                <a:latin typeface="Times New Roman" panose="02020603050405020304" pitchFamily="18" charset="0"/>
                <a:cs typeface="Times New Roman" panose="02020603050405020304" pitchFamily="18" charset="0"/>
              </a:rPr>
              <a:t>, </a:t>
            </a:r>
            <a:r>
              <a:rPr lang="en-IN" sz="1500" dirty="0" err="1">
                <a:latin typeface="Times New Roman" panose="02020603050405020304" pitchFamily="18" charset="0"/>
                <a:cs typeface="Times New Roman" panose="02020603050405020304" pitchFamily="18" charset="0"/>
              </a:rPr>
              <a:t>Recall_GAN</a:t>
            </a:r>
            <a:r>
              <a:rPr lang="en-IN" sz="1500" dirty="0">
                <a:latin typeface="Times New Roman" panose="02020603050405020304" pitchFamily="18" charset="0"/>
                <a:cs typeface="Times New Roman" panose="02020603050405020304" pitchFamily="18" charset="0"/>
              </a:rPr>
              <a:t>, F1_GAN</a:t>
            </a:r>
          </a:p>
          <a:p>
            <a:r>
              <a:rPr lang="en-IN" sz="1500" dirty="0">
                <a:latin typeface="Times New Roman" panose="02020603050405020304" pitchFamily="18" charset="0"/>
                <a:cs typeface="Times New Roman" panose="02020603050405020304" pitchFamily="18" charset="0"/>
              </a:rPr>
              <a:t>DISPLAY "Multimodal AI Results:"</a:t>
            </a:r>
          </a:p>
          <a:p>
            <a:r>
              <a:rPr lang="en-IN" sz="1500" dirty="0">
                <a:latin typeface="Times New Roman" panose="02020603050405020304" pitchFamily="18" charset="0"/>
                <a:cs typeface="Times New Roman" panose="02020603050405020304" pitchFamily="18" charset="0"/>
              </a:rPr>
              <a:t>DISPLAY </a:t>
            </a:r>
            <a:r>
              <a:rPr lang="en-IN" sz="1500" dirty="0" err="1">
                <a:latin typeface="Times New Roman" panose="02020603050405020304" pitchFamily="18" charset="0"/>
                <a:cs typeface="Times New Roman" panose="02020603050405020304" pitchFamily="18" charset="0"/>
              </a:rPr>
              <a:t>Accuracy_Multi</a:t>
            </a:r>
            <a:r>
              <a:rPr lang="en-IN" sz="1500" dirty="0">
                <a:latin typeface="Times New Roman" panose="02020603050405020304" pitchFamily="18" charset="0"/>
                <a:cs typeface="Times New Roman" panose="02020603050405020304" pitchFamily="18" charset="0"/>
              </a:rPr>
              <a:t>, </a:t>
            </a:r>
            <a:r>
              <a:rPr lang="en-IN" sz="1500" dirty="0" err="1">
                <a:latin typeface="Times New Roman" panose="02020603050405020304" pitchFamily="18" charset="0"/>
                <a:cs typeface="Times New Roman" panose="02020603050405020304" pitchFamily="18" charset="0"/>
              </a:rPr>
              <a:t>Precision_Multi</a:t>
            </a:r>
            <a:r>
              <a:rPr lang="en-IN" sz="1500" dirty="0">
                <a:latin typeface="Times New Roman" panose="02020603050405020304" pitchFamily="18" charset="0"/>
                <a:cs typeface="Times New Roman" panose="02020603050405020304" pitchFamily="18" charset="0"/>
              </a:rPr>
              <a:t>, </a:t>
            </a:r>
            <a:r>
              <a:rPr lang="en-IN" sz="1500" dirty="0" err="1">
                <a:latin typeface="Times New Roman" panose="02020603050405020304" pitchFamily="18" charset="0"/>
                <a:cs typeface="Times New Roman" panose="02020603050405020304" pitchFamily="18" charset="0"/>
              </a:rPr>
              <a:t>Recall_Multi</a:t>
            </a:r>
            <a:r>
              <a:rPr lang="en-IN" sz="1500" dirty="0">
                <a:latin typeface="Times New Roman" panose="02020603050405020304" pitchFamily="18" charset="0"/>
                <a:cs typeface="Times New Roman" panose="02020603050405020304" pitchFamily="18" charset="0"/>
              </a:rPr>
              <a:t>, F1_Multi</a:t>
            </a:r>
          </a:p>
          <a:p>
            <a:r>
              <a:rPr lang="en-IN" sz="1500" dirty="0">
                <a:latin typeface="Times New Roman" panose="02020603050405020304" pitchFamily="18" charset="0"/>
                <a:cs typeface="Times New Roman" panose="02020603050405020304" pitchFamily="18" charset="0"/>
              </a:rPr>
              <a:t>DISPLAY "Best Model:", </a:t>
            </a:r>
            <a:r>
              <a:rPr lang="en-IN" sz="1500" dirty="0" err="1">
                <a:latin typeface="Times New Roman" panose="02020603050405020304" pitchFamily="18" charset="0"/>
                <a:cs typeface="Times New Roman" panose="02020603050405020304" pitchFamily="18" charset="0"/>
              </a:rPr>
              <a:t>Best_Model</a:t>
            </a:r>
            <a:endParaRPr lang="en-IN" sz="1500" dirty="0">
              <a:latin typeface="Times New Roman" panose="02020603050405020304" pitchFamily="18" charset="0"/>
              <a:cs typeface="Times New Roman" panose="02020603050405020304" pitchFamily="18" charset="0"/>
            </a:endParaRPr>
          </a:p>
          <a:p>
            <a:r>
              <a:rPr lang="en-IN" sz="1500" dirty="0">
                <a:latin typeface="Times New Roman" panose="02020603050405020304" pitchFamily="18" charset="0"/>
                <a:cs typeface="Times New Roman" panose="02020603050405020304" pitchFamily="18" charset="0"/>
              </a:rPr>
              <a:t>END</a:t>
            </a:r>
            <a:endParaRPr lang="en-IN" sz="1500" dirty="0"/>
          </a:p>
        </p:txBody>
      </p:sp>
    </p:spTree>
    <p:extLst>
      <p:ext uri="{BB962C8B-B14F-4D97-AF65-F5344CB8AC3E}">
        <p14:creationId xmlns:p14="http://schemas.microsoft.com/office/powerpoint/2010/main" val="15122648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1707B-6A07-AC59-7FF9-A213BBF04EBB}"/>
              </a:ext>
            </a:extLst>
          </p:cNvPr>
          <p:cNvSpPr>
            <a:spLocks noGrp="1"/>
          </p:cNvSpPr>
          <p:nvPr>
            <p:ph type="title"/>
          </p:nvPr>
        </p:nvSpPr>
        <p:spPr>
          <a:xfrm>
            <a:off x="838200" y="1166547"/>
            <a:ext cx="10515600" cy="819438"/>
          </a:xfrm>
        </p:spPr>
        <p:txBody>
          <a:bodyPr>
            <a:normAutofit/>
          </a:bodyPr>
          <a:lstStyle/>
          <a:p>
            <a:pPr algn="ctr"/>
            <a:r>
              <a:rPr lang="en-US" sz="4000" b="1" dirty="0">
                <a:latin typeface="Times New Roman" panose="02020603050405020304" pitchFamily="18" charset="0"/>
                <a:cs typeface="Times New Roman" panose="02020603050405020304" pitchFamily="18" charset="0"/>
              </a:rPr>
              <a:t>OUTPUT</a:t>
            </a:r>
            <a:endParaRPr lang="en-IN" sz="40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5732EB2B-6034-F906-801B-1ACB5C489DBA}"/>
              </a:ext>
            </a:extLst>
          </p:cNvPr>
          <p:cNvPicPr/>
          <p:nvPr/>
        </p:nvPicPr>
        <p:blipFill>
          <a:blip r:embed="rId2"/>
          <a:stretch>
            <a:fillRect/>
          </a:stretch>
        </p:blipFill>
        <p:spPr>
          <a:xfrm>
            <a:off x="558800" y="65877"/>
            <a:ext cx="11074400" cy="1264555"/>
          </a:xfrm>
          <a:prstGeom prst="rect">
            <a:avLst/>
          </a:prstGeom>
        </p:spPr>
      </p:pic>
      <p:sp>
        <p:nvSpPr>
          <p:cNvPr id="3" name="AutoShape 2" descr="https://chatgpt.com/backend-api/estuary/content?id=file_000000009ce07208a74ee700182a46be&amp;ts=492608&amp;p=fs&amp;cid=1&amp;sig=54175c98bf80ce8f19762433ae80b944147abce831f7174da89bf4da9d1c53d1&amp;v=0"/>
          <p:cNvSpPr>
            <a:spLocks noChangeAspect="1" noChangeArrowheads="1"/>
          </p:cNvSpPr>
          <p:nvPr/>
        </p:nvSpPr>
        <p:spPr bwMode="auto">
          <a:xfrm>
            <a:off x="804798" y="3738156"/>
            <a:ext cx="304800" cy="23025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aphicFrame>
        <p:nvGraphicFramePr>
          <p:cNvPr id="7" name="Table 6">
            <a:extLst>
              <a:ext uri="{FF2B5EF4-FFF2-40B4-BE49-F238E27FC236}">
                <a16:creationId xmlns:a16="http://schemas.microsoft.com/office/drawing/2014/main" id="{E80D4BF4-226C-DC0B-785A-AED0D1C26C60}"/>
              </a:ext>
            </a:extLst>
          </p:cNvPr>
          <p:cNvGraphicFramePr>
            <a:graphicFrameLocks noGrp="1"/>
          </p:cNvGraphicFramePr>
          <p:nvPr>
            <p:extLst>
              <p:ext uri="{D42A27DB-BD31-4B8C-83A1-F6EECF244321}">
                <p14:modId xmlns:p14="http://schemas.microsoft.com/office/powerpoint/2010/main" val="2770488366"/>
              </p:ext>
            </p:extLst>
          </p:nvPr>
        </p:nvGraphicFramePr>
        <p:xfrm>
          <a:off x="2755750" y="1822099"/>
          <a:ext cx="6680500" cy="4970024"/>
        </p:xfrm>
        <a:graphic>
          <a:graphicData uri="http://schemas.openxmlformats.org/drawingml/2006/table">
            <a:tbl>
              <a:tblPr firstRow="1" firstCol="1" bandRow="1">
                <a:tableStyleId>{2D5ABB26-0587-4C30-8999-92F81FD0307C}</a:tableStyleId>
              </a:tblPr>
              <a:tblGrid>
                <a:gridCol w="901382">
                  <a:extLst>
                    <a:ext uri="{9D8B030D-6E8A-4147-A177-3AD203B41FA5}">
                      <a16:colId xmlns:a16="http://schemas.microsoft.com/office/drawing/2014/main" val="2300007351"/>
                    </a:ext>
                  </a:extLst>
                </a:gridCol>
                <a:gridCol w="2889559">
                  <a:extLst>
                    <a:ext uri="{9D8B030D-6E8A-4147-A177-3AD203B41FA5}">
                      <a16:colId xmlns:a16="http://schemas.microsoft.com/office/drawing/2014/main" val="1826416039"/>
                    </a:ext>
                  </a:extLst>
                </a:gridCol>
                <a:gridCol w="2889559">
                  <a:extLst>
                    <a:ext uri="{9D8B030D-6E8A-4147-A177-3AD203B41FA5}">
                      <a16:colId xmlns:a16="http://schemas.microsoft.com/office/drawing/2014/main" val="2002070680"/>
                    </a:ext>
                  </a:extLst>
                </a:gridCol>
              </a:tblGrid>
              <a:tr h="459624">
                <a:tc>
                  <a:txBody>
                    <a:bodyPr/>
                    <a:lstStyle/>
                    <a:p>
                      <a:pPr marL="0" marR="0" algn="ctr">
                        <a:lnSpc>
                          <a:spcPct val="107000"/>
                        </a:lnSpc>
                        <a:spcAft>
                          <a:spcPts val="800"/>
                        </a:spcAft>
                        <a:buNone/>
                      </a:pPr>
                      <a:r>
                        <a:rPr lang="en-IN" sz="1200" b="1" kern="0" dirty="0">
                          <a:effectLst/>
                          <a:latin typeface="Times New Roman" panose="02020603050405020304" pitchFamily="18" charset="0"/>
                          <a:cs typeface="Times New Roman" panose="02020603050405020304" pitchFamily="18" charset="0"/>
                        </a:rPr>
                        <a:t>Iteration</a:t>
                      </a:r>
                      <a:endPar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IN" sz="1200" b="1" kern="0" dirty="0">
                          <a:effectLst/>
                          <a:latin typeface="Times New Roman" panose="02020603050405020304" pitchFamily="18" charset="0"/>
                          <a:cs typeface="Times New Roman" panose="02020603050405020304" pitchFamily="18" charset="0"/>
                        </a:rPr>
                        <a:t>Multimodal AI Algorithm</a:t>
                      </a:r>
                      <a:endPar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IN" sz="1200" b="1" kern="0" dirty="0">
                          <a:effectLst/>
                          <a:latin typeface="Times New Roman" panose="02020603050405020304" pitchFamily="18" charset="0"/>
                          <a:cs typeface="Times New Roman" panose="02020603050405020304" pitchFamily="18" charset="0"/>
                        </a:rPr>
                        <a:t>GAN Algorithm</a:t>
                      </a:r>
                      <a:endPar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27347862"/>
                  </a:ext>
                </a:extLst>
              </a:tr>
              <a:tr h="225520">
                <a:tc>
                  <a:txBody>
                    <a:bodyPr/>
                    <a:lstStyle/>
                    <a:p>
                      <a:pPr marL="0" marR="0" algn="ctr">
                        <a:lnSpc>
                          <a:spcPct val="107000"/>
                        </a:lnSpc>
                        <a:spcAft>
                          <a:spcPts val="800"/>
                        </a:spcAft>
                        <a:buNone/>
                      </a:pPr>
                      <a:r>
                        <a:rPr lang="en-IN" sz="1200" kern="0">
                          <a:effectLst/>
                          <a:latin typeface="Times New Roman" panose="02020603050405020304" pitchFamily="18" charset="0"/>
                          <a:cs typeface="Times New Roman" panose="02020603050405020304" pitchFamily="18" charset="0"/>
                        </a:rPr>
                        <a:t>1</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IN" sz="1200" kern="0" dirty="0">
                          <a:effectLst/>
                          <a:latin typeface="Times New Roman" panose="02020603050405020304" pitchFamily="18" charset="0"/>
                          <a:cs typeface="Times New Roman" panose="02020603050405020304" pitchFamily="18" charset="0"/>
                        </a:rPr>
                        <a:t>96.12</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8</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8.45</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90897157"/>
                  </a:ext>
                </a:extLst>
              </a:tr>
              <a:tr h="225520">
                <a:tc>
                  <a:txBody>
                    <a:bodyPr/>
                    <a:lstStyle/>
                    <a:p>
                      <a:pPr marL="0" marR="0" algn="ctr">
                        <a:lnSpc>
                          <a:spcPct val="107000"/>
                        </a:lnSpc>
                        <a:spcAft>
                          <a:spcPts val="800"/>
                        </a:spcAft>
                        <a:buNone/>
                      </a:pPr>
                      <a:r>
                        <a:rPr lang="en-IN" sz="1200" kern="0">
                          <a:effectLst/>
                          <a:latin typeface="Times New Roman" panose="02020603050405020304" pitchFamily="18" charset="0"/>
                          <a:cs typeface="Times New Roman" panose="02020603050405020304" pitchFamily="18" charset="0"/>
                        </a:rPr>
                        <a:t>2</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IN" sz="1200" kern="0" dirty="0">
                          <a:effectLst/>
                          <a:latin typeface="Times New Roman" panose="02020603050405020304" pitchFamily="18" charset="0"/>
                          <a:cs typeface="Times New Roman" panose="02020603050405020304" pitchFamily="18" charset="0"/>
                        </a:rPr>
                        <a:t>95.87</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87.</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92</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84818780"/>
                  </a:ext>
                </a:extLst>
              </a:tr>
              <a:tr h="225520">
                <a:tc>
                  <a:txBody>
                    <a:bodyPr/>
                    <a:lstStyle/>
                    <a:p>
                      <a:pPr marL="0" marR="0" algn="ctr">
                        <a:lnSpc>
                          <a:spcPct val="107000"/>
                        </a:lnSpc>
                        <a:spcAft>
                          <a:spcPts val="800"/>
                        </a:spcAft>
                        <a:buNone/>
                      </a:pPr>
                      <a:r>
                        <a:rPr lang="en-IN" sz="1200" kern="0">
                          <a:effectLst/>
                          <a:latin typeface="Times New Roman" panose="02020603050405020304" pitchFamily="18" charset="0"/>
                          <a:cs typeface="Times New Roman" panose="02020603050405020304" pitchFamily="18" charset="0"/>
                        </a:rPr>
                        <a:t>3</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IN" sz="1200" kern="0" dirty="0">
                          <a:effectLst/>
                          <a:latin typeface="Times New Roman" panose="02020603050405020304" pitchFamily="18" charset="0"/>
                          <a:cs typeface="Times New Roman" panose="02020603050405020304" pitchFamily="18" charset="0"/>
                        </a:rPr>
                        <a:t>96.34</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88.10</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86675064"/>
                  </a:ext>
                </a:extLst>
              </a:tr>
              <a:tr h="225520">
                <a:tc>
                  <a:txBody>
                    <a:bodyPr/>
                    <a:lstStyle/>
                    <a:p>
                      <a:pPr marL="0" marR="0" algn="ctr">
                        <a:lnSpc>
                          <a:spcPct val="107000"/>
                        </a:lnSpc>
                        <a:spcAft>
                          <a:spcPts val="800"/>
                        </a:spcAft>
                        <a:buNone/>
                      </a:pPr>
                      <a:r>
                        <a:rPr lang="en-IN" sz="1200" kern="0">
                          <a:effectLst/>
                          <a:latin typeface="Times New Roman" panose="02020603050405020304" pitchFamily="18" charset="0"/>
                          <a:cs typeface="Times New Roman" panose="02020603050405020304" pitchFamily="18" charset="0"/>
                        </a:rPr>
                        <a:t>4</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9</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6.01</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8</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7.75</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52312001"/>
                  </a:ext>
                </a:extLst>
              </a:tr>
              <a:tr h="225520">
                <a:tc>
                  <a:txBody>
                    <a:bodyPr/>
                    <a:lstStyle/>
                    <a:p>
                      <a:pPr marL="0" marR="0" algn="ctr">
                        <a:lnSpc>
                          <a:spcPct val="107000"/>
                        </a:lnSpc>
                        <a:spcAft>
                          <a:spcPts val="800"/>
                        </a:spcAft>
                        <a:buNone/>
                      </a:pPr>
                      <a:r>
                        <a:rPr lang="en-IN" sz="1200" kern="0">
                          <a:effectLst/>
                          <a:latin typeface="Times New Roman" panose="02020603050405020304" pitchFamily="18" charset="0"/>
                          <a:cs typeface="Times New Roman" panose="02020603050405020304" pitchFamily="18" charset="0"/>
                        </a:rPr>
                        <a:t>5</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IN" sz="1200" kern="0" dirty="0">
                          <a:effectLst/>
                          <a:latin typeface="Times New Roman" panose="02020603050405020304" pitchFamily="18" charset="0"/>
                          <a:cs typeface="Times New Roman" panose="02020603050405020304" pitchFamily="18" charset="0"/>
                        </a:rPr>
                        <a:t>95.68</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8</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6.90</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1262392"/>
                  </a:ext>
                </a:extLst>
              </a:tr>
              <a:tr h="225520">
                <a:tc>
                  <a:txBody>
                    <a:bodyPr/>
                    <a:lstStyle/>
                    <a:p>
                      <a:pPr marL="0" marR="0" algn="ctr">
                        <a:lnSpc>
                          <a:spcPct val="107000"/>
                        </a:lnSpc>
                        <a:spcAft>
                          <a:spcPts val="800"/>
                        </a:spcAft>
                        <a:buNone/>
                      </a:pPr>
                      <a:r>
                        <a:rPr lang="en-IN" sz="1200" kern="0">
                          <a:effectLst/>
                          <a:latin typeface="Times New Roman" panose="02020603050405020304" pitchFamily="18" charset="0"/>
                          <a:cs typeface="Times New Roman" panose="02020603050405020304" pitchFamily="18" charset="0"/>
                        </a:rPr>
                        <a:t>6</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9</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6.45</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8</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8.63</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2514102"/>
                  </a:ext>
                </a:extLst>
              </a:tr>
              <a:tr h="225520">
                <a:tc>
                  <a:txBody>
                    <a:bodyPr/>
                    <a:lstStyle/>
                    <a:p>
                      <a:pPr marL="0" marR="0" algn="ctr">
                        <a:lnSpc>
                          <a:spcPct val="107000"/>
                        </a:lnSpc>
                        <a:spcAft>
                          <a:spcPts val="800"/>
                        </a:spcAft>
                        <a:buNone/>
                      </a:pPr>
                      <a:r>
                        <a:rPr lang="en-IN" sz="1200" kern="0">
                          <a:effectLst/>
                          <a:latin typeface="Times New Roman" panose="02020603050405020304" pitchFamily="18" charset="0"/>
                          <a:cs typeface="Times New Roman" panose="02020603050405020304" pitchFamily="18" charset="0"/>
                        </a:rPr>
                        <a:t>7</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9</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6.22</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8</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8.01</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87092641"/>
                  </a:ext>
                </a:extLst>
              </a:tr>
              <a:tr h="225520">
                <a:tc>
                  <a:txBody>
                    <a:bodyPr/>
                    <a:lstStyle/>
                    <a:p>
                      <a:pPr marL="0" marR="0" algn="ctr">
                        <a:lnSpc>
                          <a:spcPct val="107000"/>
                        </a:lnSpc>
                        <a:spcAft>
                          <a:spcPts val="800"/>
                        </a:spcAft>
                        <a:buNone/>
                      </a:pPr>
                      <a:r>
                        <a:rPr lang="en-IN" sz="1200" kern="0">
                          <a:effectLst/>
                          <a:latin typeface="Times New Roman" panose="02020603050405020304" pitchFamily="18" charset="0"/>
                          <a:cs typeface="Times New Roman" panose="02020603050405020304" pitchFamily="18" charset="0"/>
                        </a:rPr>
                        <a:t>8</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IN" sz="1200" kern="0" dirty="0">
                          <a:effectLst/>
                          <a:latin typeface="Times New Roman" panose="02020603050405020304" pitchFamily="18" charset="0"/>
                          <a:cs typeface="Times New Roman" panose="02020603050405020304" pitchFamily="18" charset="0"/>
                        </a:rPr>
                        <a:t>95.90</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8</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7.30</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49889508"/>
                  </a:ext>
                </a:extLst>
              </a:tr>
              <a:tr h="225520">
                <a:tc>
                  <a:txBody>
                    <a:bodyPr/>
                    <a:lstStyle/>
                    <a:p>
                      <a:pPr marL="0" marR="0" algn="ctr">
                        <a:lnSpc>
                          <a:spcPct val="107000"/>
                        </a:lnSpc>
                        <a:spcAft>
                          <a:spcPts val="800"/>
                        </a:spcAft>
                        <a:buNone/>
                      </a:pPr>
                      <a:r>
                        <a:rPr lang="en-IN" sz="1200" kern="0">
                          <a:effectLst/>
                          <a:latin typeface="Times New Roman" panose="02020603050405020304" pitchFamily="18" charset="0"/>
                          <a:cs typeface="Times New Roman" panose="02020603050405020304" pitchFamily="18" charset="0"/>
                        </a:rPr>
                        <a:t>9</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IN" sz="1200" kern="0" dirty="0">
                          <a:effectLst/>
                          <a:latin typeface="Times New Roman" panose="02020603050405020304" pitchFamily="18" charset="0"/>
                          <a:cs typeface="Times New Roman" panose="02020603050405020304" pitchFamily="18" charset="0"/>
                        </a:rPr>
                        <a:t>96.30</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8</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8.40</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28440782"/>
                  </a:ext>
                </a:extLst>
              </a:tr>
              <a:tr h="225520">
                <a:tc>
                  <a:txBody>
                    <a:bodyPr/>
                    <a:lstStyle/>
                    <a:p>
                      <a:pPr marL="0" marR="0" algn="ctr">
                        <a:lnSpc>
                          <a:spcPct val="107000"/>
                        </a:lnSpc>
                        <a:spcAft>
                          <a:spcPts val="800"/>
                        </a:spcAft>
                        <a:buNone/>
                      </a:pPr>
                      <a:r>
                        <a:rPr lang="en-IN" sz="1200" kern="0">
                          <a:effectLst/>
                          <a:latin typeface="Times New Roman" panose="02020603050405020304" pitchFamily="18" charset="0"/>
                          <a:cs typeface="Times New Roman" panose="02020603050405020304" pitchFamily="18" charset="0"/>
                        </a:rPr>
                        <a:t>10</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9</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5.75</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8</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7.12</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58571640"/>
                  </a:ext>
                </a:extLst>
              </a:tr>
              <a:tr h="225520">
                <a:tc>
                  <a:txBody>
                    <a:bodyPr/>
                    <a:lstStyle/>
                    <a:p>
                      <a:pPr marL="0" marR="0" algn="ctr">
                        <a:lnSpc>
                          <a:spcPct val="107000"/>
                        </a:lnSpc>
                        <a:spcAft>
                          <a:spcPts val="800"/>
                        </a:spcAft>
                        <a:buNone/>
                      </a:pPr>
                      <a:r>
                        <a:rPr lang="en-IN" sz="1200" kern="0">
                          <a:effectLst/>
                          <a:latin typeface="Times New Roman" panose="02020603050405020304" pitchFamily="18" charset="0"/>
                          <a:cs typeface="Times New Roman" panose="02020603050405020304" pitchFamily="18" charset="0"/>
                        </a:rPr>
                        <a:t>11</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9</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6.18</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8</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8.05</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73137734"/>
                  </a:ext>
                </a:extLst>
              </a:tr>
              <a:tr h="225520">
                <a:tc>
                  <a:txBody>
                    <a:bodyPr/>
                    <a:lstStyle/>
                    <a:p>
                      <a:pPr marL="0" marR="0" algn="ctr">
                        <a:lnSpc>
                          <a:spcPct val="107000"/>
                        </a:lnSpc>
                        <a:spcAft>
                          <a:spcPts val="800"/>
                        </a:spcAft>
                        <a:buNone/>
                      </a:pPr>
                      <a:r>
                        <a:rPr lang="en-IN" sz="1200" kern="0">
                          <a:effectLst/>
                          <a:latin typeface="Times New Roman" panose="02020603050405020304" pitchFamily="18" charset="0"/>
                          <a:cs typeface="Times New Roman" panose="02020603050405020304" pitchFamily="18" charset="0"/>
                        </a:rPr>
                        <a:t>12</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IN" sz="1200" kern="0" dirty="0">
                          <a:effectLst/>
                          <a:latin typeface="Times New Roman" panose="02020603050405020304" pitchFamily="18" charset="0"/>
                          <a:cs typeface="Times New Roman" panose="02020603050405020304" pitchFamily="18" charset="0"/>
                        </a:rPr>
                        <a:t>96.40</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8</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8.72</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06275874"/>
                  </a:ext>
                </a:extLst>
              </a:tr>
              <a:tr h="225520">
                <a:tc>
                  <a:txBody>
                    <a:bodyPr/>
                    <a:lstStyle/>
                    <a:p>
                      <a:pPr marL="0" marR="0" algn="ctr">
                        <a:lnSpc>
                          <a:spcPct val="107000"/>
                        </a:lnSpc>
                        <a:spcAft>
                          <a:spcPts val="800"/>
                        </a:spcAft>
                        <a:buNone/>
                      </a:pPr>
                      <a:r>
                        <a:rPr lang="en-IN" sz="1200" kern="0">
                          <a:effectLst/>
                          <a:latin typeface="Times New Roman" panose="02020603050405020304" pitchFamily="18" charset="0"/>
                          <a:cs typeface="Times New Roman" panose="02020603050405020304" pitchFamily="18" charset="0"/>
                        </a:rPr>
                        <a:t>13</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IN" sz="1200" kern="0" dirty="0">
                          <a:effectLst/>
                          <a:latin typeface="Times New Roman" panose="02020603050405020304" pitchFamily="18" charset="0"/>
                          <a:cs typeface="Times New Roman" panose="02020603050405020304" pitchFamily="18" charset="0"/>
                        </a:rPr>
                        <a:t>96.05</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8</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7.88</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45800274"/>
                  </a:ext>
                </a:extLst>
              </a:tr>
              <a:tr h="225520">
                <a:tc>
                  <a:txBody>
                    <a:bodyPr/>
                    <a:lstStyle/>
                    <a:p>
                      <a:pPr marL="0" marR="0" algn="ctr">
                        <a:lnSpc>
                          <a:spcPct val="107000"/>
                        </a:lnSpc>
                        <a:spcAft>
                          <a:spcPts val="800"/>
                        </a:spcAft>
                        <a:buNone/>
                      </a:pPr>
                      <a:r>
                        <a:rPr lang="en-IN" sz="1200" kern="0">
                          <a:effectLst/>
                          <a:latin typeface="Times New Roman" panose="02020603050405020304" pitchFamily="18" charset="0"/>
                          <a:cs typeface="Times New Roman" panose="02020603050405020304" pitchFamily="18" charset="0"/>
                        </a:rPr>
                        <a:t>14</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IN" sz="1200" kern="0" dirty="0">
                          <a:effectLst/>
                          <a:latin typeface="Times New Roman" panose="02020603050405020304" pitchFamily="18" charset="0"/>
                          <a:cs typeface="Times New Roman" panose="02020603050405020304" pitchFamily="18" charset="0"/>
                        </a:rPr>
                        <a:t>96.27</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8</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8.20</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80222311"/>
                  </a:ext>
                </a:extLst>
              </a:tr>
              <a:tr h="225520">
                <a:tc>
                  <a:txBody>
                    <a:bodyPr/>
                    <a:lstStyle/>
                    <a:p>
                      <a:pPr marL="0" marR="0" algn="ctr">
                        <a:lnSpc>
                          <a:spcPct val="107000"/>
                        </a:lnSpc>
                        <a:spcAft>
                          <a:spcPts val="800"/>
                        </a:spcAft>
                        <a:buNone/>
                      </a:pPr>
                      <a:r>
                        <a:rPr lang="en-IN" sz="1200" kern="0">
                          <a:effectLst/>
                          <a:latin typeface="Times New Roman" panose="02020603050405020304" pitchFamily="18" charset="0"/>
                          <a:cs typeface="Times New Roman" panose="02020603050405020304" pitchFamily="18" charset="0"/>
                        </a:rPr>
                        <a:t>15</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9</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5.82</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8</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7.44</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53645357"/>
                  </a:ext>
                </a:extLst>
              </a:tr>
              <a:tr h="225520">
                <a:tc>
                  <a:txBody>
                    <a:bodyPr/>
                    <a:lstStyle/>
                    <a:p>
                      <a:pPr marL="0" marR="0" algn="ctr">
                        <a:lnSpc>
                          <a:spcPct val="107000"/>
                        </a:lnSpc>
                        <a:spcAft>
                          <a:spcPts val="800"/>
                        </a:spcAft>
                        <a:buNone/>
                      </a:pPr>
                      <a:r>
                        <a:rPr lang="en-IN" sz="1200" kern="0">
                          <a:effectLst/>
                          <a:latin typeface="Times New Roman" panose="02020603050405020304" pitchFamily="18" charset="0"/>
                          <a:cs typeface="Times New Roman" panose="02020603050405020304" pitchFamily="18" charset="0"/>
                        </a:rPr>
                        <a:t>16</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IN" sz="1200" kern="0" dirty="0">
                          <a:effectLst/>
                          <a:latin typeface="Times New Roman" panose="02020603050405020304" pitchFamily="18" charset="0"/>
                          <a:cs typeface="Times New Roman" panose="02020603050405020304" pitchFamily="18" charset="0"/>
                        </a:rPr>
                        <a:t>96.36</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cs typeface="Times New Roman" panose="02020603050405020304" pitchFamily="18" charset="0"/>
                        </a:rPr>
                        <a:t>8</a:t>
                      </a:r>
                      <a:r>
                        <a:rPr lang="en-IN" sz="1200" kern="0" dirty="0">
                          <a:effectLst/>
                          <a:latin typeface="Times New Roman" panose="02020603050405020304" pitchFamily="18" charset="0"/>
                          <a:cs typeface="Times New Roman" panose="02020603050405020304" pitchFamily="18" charset="0"/>
                        </a:rPr>
                        <a:t>8.55</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77697322"/>
                  </a:ext>
                </a:extLst>
              </a:tr>
              <a:tr h="225520">
                <a:tc>
                  <a:txBody>
                    <a:bodyPr/>
                    <a:lstStyle/>
                    <a:p>
                      <a:pPr marL="0" marR="0" algn="ctr">
                        <a:lnSpc>
                          <a:spcPct val="107000"/>
                        </a:lnSpc>
                        <a:spcAft>
                          <a:spcPts val="800"/>
                        </a:spcAft>
                        <a:buNone/>
                      </a:pPr>
                      <a:r>
                        <a:rPr lang="en-IN" sz="1200" kern="0">
                          <a:effectLst/>
                          <a:latin typeface="Times New Roman" panose="02020603050405020304" pitchFamily="18" charset="0"/>
                          <a:cs typeface="Times New Roman" panose="02020603050405020304" pitchFamily="18" charset="0"/>
                        </a:rPr>
                        <a:t>17</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95.91</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8</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7.60</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95422546"/>
                  </a:ext>
                </a:extLst>
              </a:tr>
              <a:tr h="225520">
                <a:tc>
                  <a:txBody>
                    <a:bodyPr/>
                    <a:lstStyle/>
                    <a:p>
                      <a:pPr marL="0" marR="0" algn="ctr">
                        <a:lnSpc>
                          <a:spcPct val="107000"/>
                        </a:lnSpc>
                        <a:spcAft>
                          <a:spcPts val="800"/>
                        </a:spcAft>
                        <a:buNone/>
                      </a:pPr>
                      <a:r>
                        <a:rPr lang="en-IN" sz="1200" kern="0">
                          <a:effectLst/>
                          <a:latin typeface="Times New Roman" panose="02020603050405020304" pitchFamily="18" charset="0"/>
                          <a:cs typeface="Times New Roman" panose="02020603050405020304" pitchFamily="18" charset="0"/>
                        </a:rPr>
                        <a:t>18</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IN" sz="1200" kern="0" dirty="0">
                          <a:effectLst/>
                          <a:latin typeface="Times New Roman" panose="02020603050405020304" pitchFamily="18" charset="0"/>
                          <a:cs typeface="Times New Roman" panose="02020603050405020304" pitchFamily="18" charset="0"/>
                        </a:rPr>
                        <a:t>96.50</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8</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8.90</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75125356"/>
                  </a:ext>
                </a:extLst>
              </a:tr>
              <a:tr h="225520">
                <a:tc>
                  <a:txBody>
                    <a:bodyPr/>
                    <a:lstStyle/>
                    <a:p>
                      <a:pPr marL="0" marR="0" algn="ctr">
                        <a:lnSpc>
                          <a:spcPct val="107000"/>
                        </a:lnSpc>
                        <a:spcAft>
                          <a:spcPts val="800"/>
                        </a:spcAft>
                        <a:buNone/>
                      </a:pPr>
                      <a:r>
                        <a:rPr lang="en-IN" sz="1200" kern="0">
                          <a:effectLst/>
                          <a:latin typeface="Times New Roman" panose="02020603050405020304" pitchFamily="18" charset="0"/>
                          <a:cs typeface="Times New Roman" panose="02020603050405020304" pitchFamily="18" charset="0"/>
                        </a:rPr>
                        <a:t>19</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IN" sz="1200" kern="0" dirty="0">
                          <a:effectLst/>
                          <a:latin typeface="Times New Roman" panose="02020603050405020304" pitchFamily="18" charset="0"/>
                          <a:cs typeface="Times New Roman" panose="02020603050405020304" pitchFamily="18" charset="0"/>
                        </a:rPr>
                        <a:t>96.08</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8</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8.12</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11880227"/>
                  </a:ext>
                </a:extLst>
              </a:tr>
              <a:tr h="225520">
                <a:tc>
                  <a:txBody>
                    <a:bodyPr/>
                    <a:lstStyle/>
                    <a:p>
                      <a:pPr marL="0" marR="0" algn="ctr">
                        <a:lnSpc>
                          <a:spcPct val="107000"/>
                        </a:lnSpc>
                        <a:spcAft>
                          <a:spcPts val="800"/>
                        </a:spcAft>
                        <a:buNone/>
                      </a:pPr>
                      <a:r>
                        <a:rPr lang="en-IN" sz="1200" kern="0" dirty="0">
                          <a:effectLst/>
                          <a:latin typeface="Times New Roman" panose="02020603050405020304" pitchFamily="18" charset="0"/>
                          <a:cs typeface="Times New Roman" panose="02020603050405020304" pitchFamily="18" charset="0"/>
                        </a:rPr>
                        <a:t>20</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IN" sz="1200" kern="0" dirty="0">
                          <a:effectLst/>
                          <a:latin typeface="Times New Roman" panose="02020603050405020304" pitchFamily="18" charset="0"/>
                          <a:cs typeface="Times New Roman" panose="02020603050405020304" pitchFamily="18" charset="0"/>
                        </a:rPr>
                        <a:t>95.99</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8</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7.50</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99713282"/>
                  </a:ext>
                </a:extLst>
              </a:tr>
            </a:tbl>
          </a:graphicData>
        </a:graphic>
      </p:graphicFrame>
    </p:spTree>
    <p:extLst>
      <p:ext uri="{BB962C8B-B14F-4D97-AF65-F5344CB8AC3E}">
        <p14:creationId xmlns:p14="http://schemas.microsoft.com/office/powerpoint/2010/main" val="39405416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27751-C3B0-44A4-CEB3-8902B818DD2E}"/>
              </a:ext>
            </a:extLst>
          </p:cNvPr>
          <p:cNvSpPr>
            <a:spLocks noGrp="1"/>
          </p:cNvSpPr>
          <p:nvPr>
            <p:ph type="title"/>
          </p:nvPr>
        </p:nvSpPr>
        <p:spPr>
          <a:xfrm>
            <a:off x="1188085" y="1370195"/>
            <a:ext cx="10515600" cy="627112"/>
          </a:xfrm>
        </p:spPr>
        <p:txBody>
          <a:bodyPr>
            <a:normAutofit fontScale="90000"/>
          </a:bodyPr>
          <a:lstStyle/>
          <a:p>
            <a:r>
              <a:rPr lang="en-US" b="1" dirty="0">
                <a:latin typeface="Times New Roman" panose="02020603050405020304" pitchFamily="18" charset="0"/>
                <a:cs typeface="Times New Roman" panose="02020603050405020304" pitchFamily="18" charset="0"/>
              </a:rPr>
              <a:t>                   SPSS ANALYSIS </a:t>
            </a:r>
            <a:endParaRPr lang="en-IN" dirty="0"/>
          </a:p>
        </p:txBody>
      </p:sp>
      <p:sp>
        <p:nvSpPr>
          <p:cNvPr id="6" name="Content Placeholder 5">
            <a:extLst>
              <a:ext uri="{FF2B5EF4-FFF2-40B4-BE49-F238E27FC236}">
                <a16:creationId xmlns:a16="http://schemas.microsoft.com/office/drawing/2014/main" id="{70776BFE-F406-1213-847D-D5404CF54937}"/>
              </a:ext>
            </a:extLst>
          </p:cNvPr>
          <p:cNvSpPr>
            <a:spLocks noGrp="1"/>
          </p:cNvSpPr>
          <p:nvPr>
            <p:ph idx="1"/>
          </p:nvPr>
        </p:nvSpPr>
        <p:spPr>
          <a:xfrm>
            <a:off x="2230120" y="5608319"/>
            <a:ext cx="10515600" cy="456883"/>
          </a:xfrm>
        </p:spPr>
        <p:txBody>
          <a:bodyPr>
            <a:normAutofit lnSpcReduction="10000"/>
          </a:bodyPr>
          <a:lstStyle/>
          <a:p>
            <a:pPr marL="0" indent="0">
              <a:buNone/>
            </a:pPr>
            <a:r>
              <a:rPr lang="en-US" dirty="0">
                <a:latin typeface="Times New Roman" panose="02020603050405020304" pitchFamily="18" charset="0"/>
                <a:cs typeface="Times New Roman" panose="02020603050405020304" pitchFamily="18" charset="0"/>
              </a:rPr>
              <a:t>Hence it is significant since p=0.042</a:t>
            </a: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BE16C95-59AB-D3BB-D737-8218EBA1D0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9000" y="2102947"/>
            <a:ext cx="10195560" cy="3159933"/>
          </a:xfrm>
          <a:prstGeom prst="rect">
            <a:avLst/>
          </a:prstGeom>
        </p:spPr>
      </p:pic>
      <p:pic>
        <p:nvPicPr>
          <p:cNvPr id="8" name="Picture 7">
            <a:extLst>
              <a:ext uri="{FF2B5EF4-FFF2-40B4-BE49-F238E27FC236}">
                <a16:creationId xmlns:a16="http://schemas.microsoft.com/office/drawing/2014/main" id="{843E5C79-7A38-84EE-F2D3-228ADD9A7C2C}"/>
              </a:ext>
            </a:extLst>
          </p:cNvPr>
          <p:cNvPicPr/>
          <p:nvPr/>
        </p:nvPicPr>
        <p:blipFill>
          <a:blip r:embed="rId3"/>
          <a:stretch>
            <a:fillRect/>
          </a:stretch>
        </p:blipFill>
        <p:spPr>
          <a:xfrm>
            <a:off x="568960" y="52820"/>
            <a:ext cx="11134723" cy="1264555"/>
          </a:xfrm>
          <a:prstGeom prst="rect">
            <a:avLst/>
          </a:prstGeom>
        </p:spPr>
      </p:pic>
    </p:spTree>
    <p:extLst>
      <p:ext uri="{BB962C8B-B14F-4D97-AF65-F5344CB8AC3E}">
        <p14:creationId xmlns:p14="http://schemas.microsoft.com/office/powerpoint/2010/main" val="16177224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4DCFE3-92C9-3C8D-C000-8EE34A9657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425A55-4865-7914-31B6-271CB49E2DFD}"/>
              </a:ext>
            </a:extLst>
          </p:cNvPr>
          <p:cNvSpPr>
            <a:spLocks noGrp="1"/>
          </p:cNvSpPr>
          <p:nvPr>
            <p:ph type="title"/>
          </p:nvPr>
        </p:nvSpPr>
        <p:spPr>
          <a:xfrm>
            <a:off x="770872" y="1530360"/>
            <a:ext cx="10515600" cy="859549"/>
          </a:xfrm>
        </p:spPr>
        <p:txBody>
          <a:bodyPr>
            <a:normAutofit/>
          </a:bodyPr>
          <a:lstStyle/>
          <a:p>
            <a:pPr algn="ctr"/>
            <a:r>
              <a:rPr lang="en-US" sz="4000" b="1" dirty="0">
                <a:latin typeface="Times New Roman" panose="02020603050405020304" pitchFamily="18" charset="0"/>
                <a:cs typeface="Times New Roman" panose="02020603050405020304" pitchFamily="18" charset="0"/>
              </a:rPr>
              <a:t>SPSS ANALYSIS </a:t>
            </a:r>
          </a:p>
        </p:txBody>
      </p:sp>
      <p:pic>
        <p:nvPicPr>
          <p:cNvPr id="4" name="Picture 3">
            <a:extLst>
              <a:ext uri="{FF2B5EF4-FFF2-40B4-BE49-F238E27FC236}">
                <a16:creationId xmlns:a16="http://schemas.microsoft.com/office/drawing/2014/main" id="{0F62EFE5-4B6C-C43D-1CE2-425668A7F706}"/>
              </a:ext>
            </a:extLst>
          </p:cNvPr>
          <p:cNvPicPr/>
          <p:nvPr/>
        </p:nvPicPr>
        <p:blipFill>
          <a:blip r:embed="rId3"/>
          <a:stretch>
            <a:fillRect/>
          </a:stretch>
        </p:blipFill>
        <p:spPr>
          <a:xfrm>
            <a:off x="579120" y="65242"/>
            <a:ext cx="10932160" cy="1264555"/>
          </a:xfrm>
          <a:prstGeom prst="rect">
            <a:avLst/>
          </a:prstGeom>
        </p:spPr>
      </p:pic>
      <p:pic>
        <p:nvPicPr>
          <p:cNvPr id="7" name="Picture 6">
            <a:extLst>
              <a:ext uri="{FF2B5EF4-FFF2-40B4-BE49-F238E27FC236}">
                <a16:creationId xmlns:a16="http://schemas.microsoft.com/office/drawing/2014/main" id="{36911582-01D0-E05D-0859-7B01E41EF7C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47520" y="2255520"/>
            <a:ext cx="8341360" cy="4206240"/>
          </a:xfrm>
          <a:prstGeom prst="rect">
            <a:avLst/>
          </a:prstGeom>
        </p:spPr>
      </p:pic>
    </p:spTree>
    <p:extLst>
      <p:ext uri="{BB962C8B-B14F-4D97-AF65-F5344CB8AC3E}">
        <p14:creationId xmlns:p14="http://schemas.microsoft.com/office/powerpoint/2010/main" val="38477553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872D7-68B5-5981-F962-87E7D4AD8073}"/>
              </a:ext>
            </a:extLst>
          </p:cNvPr>
          <p:cNvSpPr>
            <a:spLocks noGrp="1"/>
          </p:cNvSpPr>
          <p:nvPr>
            <p:ph type="title"/>
          </p:nvPr>
        </p:nvSpPr>
        <p:spPr>
          <a:xfrm>
            <a:off x="662836" y="1637656"/>
            <a:ext cx="10515600" cy="814600"/>
          </a:xfrm>
        </p:spPr>
        <p:txBody>
          <a:bodyPr/>
          <a:lstStyle/>
          <a:p>
            <a:pPr algn="ctr"/>
            <a:r>
              <a:rPr lang="en-US" b="1" dirty="0">
                <a:latin typeface="Times New Roman" panose="02020603050405020304" pitchFamily="18" charset="0"/>
                <a:cs typeface="Times New Roman" panose="02020603050405020304" pitchFamily="18" charset="0"/>
              </a:rPr>
              <a:t>RESULT</a:t>
            </a:r>
            <a:endParaRPr lang="en-IN"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EFF07851-DCFA-5A0D-4B8C-023FE0C31882}"/>
              </a:ext>
            </a:extLst>
          </p:cNvPr>
          <p:cNvPicPr/>
          <p:nvPr/>
        </p:nvPicPr>
        <p:blipFill>
          <a:blip r:embed="rId2"/>
          <a:stretch>
            <a:fillRect/>
          </a:stretch>
        </p:blipFill>
        <p:spPr>
          <a:xfrm>
            <a:off x="487680" y="177234"/>
            <a:ext cx="11135360" cy="1264555"/>
          </a:xfrm>
          <a:prstGeom prst="rect">
            <a:avLst/>
          </a:prstGeom>
        </p:spPr>
      </p:pic>
      <p:sp>
        <p:nvSpPr>
          <p:cNvPr id="5" name="TextBox 4">
            <a:extLst>
              <a:ext uri="{FF2B5EF4-FFF2-40B4-BE49-F238E27FC236}">
                <a16:creationId xmlns:a16="http://schemas.microsoft.com/office/drawing/2014/main" id="{24613958-9755-F765-6C46-ABD85D1A6F08}"/>
              </a:ext>
            </a:extLst>
          </p:cNvPr>
          <p:cNvSpPr txBox="1"/>
          <p:nvPr/>
        </p:nvSpPr>
        <p:spPr>
          <a:xfrm>
            <a:off x="974977" y="2452256"/>
            <a:ext cx="9886063" cy="3477875"/>
          </a:xfrm>
          <a:prstGeom prst="rect">
            <a:avLst/>
          </a:prstGeom>
          <a:noFill/>
        </p:spPr>
        <p:txBody>
          <a:bodyPr wrap="square">
            <a:spAutoFit/>
          </a:bodyPr>
          <a:lstStyle/>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proposed approach using </a:t>
            </a:r>
            <a:r>
              <a:rPr lang="en-US" sz="2000" b="1" dirty="0">
                <a:latin typeface="Times New Roman" panose="02020603050405020304" pitchFamily="18" charset="0"/>
                <a:cs typeface="Times New Roman" panose="02020603050405020304" pitchFamily="18" charset="0"/>
              </a:rPr>
              <a:t>Multimodal AI (Multimodal Artificial Intelligence)</a:t>
            </a:r>
            <a:r>
              <a:rPr lang="en-US" sz="2000" dirty="0">
                <a:latin typeface="Times New Roman" panose="02020603050405020304" pitchFamily="18" charset="0"/>
                <a:cs typeface="Times New Roman" panose="02020603050405020304" pitchFamily="18" charset="0"/>
              </a:rPr>
              <a:t> having a mean accuracy of </a:t>
            </a:r>
            <a:r>
              <a:rPr lang="en-US" sz="2000" b="1" dirty="0">
                <a:latin typeface="Times New Roman" panose="02020603050405020304" pitchFamily="18" charset="0"/>
                <a:cs typeface="Times New Roman" panose="02020603050405020304" pitchFamily="18" charset="0"/>
              </a:rPr>
              <a:t>94.10%</a:t>
            </a:r>
            <a:r>
              <a:rPr lang="en-US" sz="2000" dirty="0">
                <a:latin typeface="Times New Roman" panose="02020603050405020304" pitchFamily="18" charset="0"/>
                <a:cs typeface="Times New Roman" panose="02020603050405020304" pitchFamily="18" charset="0"/>
              </a:rPr>
              <a:t> demonstrates a clear improvement in deepfake detection performance compared to </a:t>
            </a:r>
            <a:r>
              <a:rPr lang="en-US" sz="2000" b="1" dirty="0">
                <a:latin typeface="Times New Roman" panose="02020603050405020304" pitchFamily="18" charset="0"/>
                <a:cs typeface="Times New Roman" panose="02020603050405020304" pitchFamily="18" charset="0"/>
              </a:rPr>
              <a:t>GAN (Generative Adversarial Networks)</a:t>
            </a:r>
            <a:r>
              <a:rPr lang="en-US" sz="2000" dirty="0">
                <a:latin typeface="Times New Roman" panose="02020603050405020304" pitchFamily="18" charset="0"/>
                <a:cs typeface="Times New Roman" panose="02020603050405020304" pitchFamily="18" charset="0"/>
              </a:rPr>
              <a:t> having a mean accuracy of </a:t>
            </a:r>
            <a:r>
              <a:rPr lang="en-US" sz="2000" b="1" dirty="0">
                <a:latin typeface="Times New Roman" panose="02020603050405020304" pitchFamily="18" charset="0"/>
                <a:cs typeface="Times New Roman" panose="02020603050405020304" pitchFamily="18" charset="0"/>
              </a:rPr>
              <a:t>83.15%</a:t>
            </a:r>
            <a:r>
              <a:rPr lang="en-US" sz="2000" dirty="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higher mean accuracy of the proposed model indicates its superior capability in identifying fake and real images by effectively combining multiple feature representations such as pixel, texture, and edge features.</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This improvement is further supported by the statistical analysis obtained from the T-Test, where the significance value (</a:t>
            </a:r>
            <a:r>
              <a:rPr lang="en-US" sz="2000" b="1" dirty="0">
                <a:latin typeface="Times New Roman" panose="02020603050405020304" pitchFamily="18" charset="0"/>
                <a:cs typeface="Times New Roman" panose="02020603050405020304" pitchFamily="18" charset="0"/>
              </a:rPr>
              <a:t>p = 0.042</a:t>
            </a:r>
            <a:r>
              <a:rPr lang="en-US" sz="2000" dirty="0">
                <a:latin typeface="Times New Roman" panose="02020603050405020304" pitchFamily="18" charset="0"/>
                <a:cs typeface="Times New Roman" panose="02020603050405020304" pitchFamily="18" charset="0"/>
              </a:rPr>
              <a:t>) is less than </a:t>
            </a:r>
            <a:r>
              <a:rPr lang="en-US" sz="2000" b="1" dirty="0">
                <a:latin typeface="Times New Roman" panose="02020603050405020304" pitchFamily="18" charset="0"/>
                <a:cs typeface="Times New Roman" panose="02020603050405020304" pitchFamily="18" charset="0"/>
              </a:rPr>
              <a:t>0.05</a:t>
            </a:r>
            <a:r>
              <a:rPr lang="en-US" sz="2000" dirty="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Therefore, the observed enhancement in detection accuracy is statistically significant and not due to random variation.</a:t>
            </a:r>
          </a:p>
        </p:txBody>
      </p:sp>
    </p:spTree>
    <p:extLst>
      <p:ext uri="{BB962C8B-B14F-4D97-AF65-F5344CB8AC3E}">
        <p14:creationId xmlns:p14="http://schemas.microsoft.com/office/powerpoint/2010/main" val="2466199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BC7511-57AC-13E4-DD84-0852C77272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4D0427-986F-D692-2B3F-58F8118C6683}"/>
              </a:ext>
            </a:extLst>
          </p:cNvPr>
          <p:cNvSpPr>
            <a:spLocks noGrp="1"/>
          </p:cNvSpPr>
          <p:nvPr>
            <p:ph type="title"/>
          </p:nvPr>
        </p:nvSpPr>
        <p:spPr>
          <a:xfrm>
            <a:off x="1014712" y="2609965"/>
            <a:ext cx="10506728" cy="1638069"/>
          </a:xfrm>
        </p:spPr>
        <p:txBody>
          <a:bodyPr>
            <a:normAutofit/>
          </a:bodyPr>
          <a:lstStyle/>
          <a:p>
            <a:pPr algn="ctr" fontAlgn="ctr"/>
            <a:r>
              <a:rPr lang="en-US" sz="3200" b="1" dirty="0">
                <a:latin typeface="Times New Roman" panose="02020603050405020304" pitchFamily="18" charset="0"/>
                <a:cs typeface="Times New Roman" panose="02020603050405020304" pitchFamily="18" charset="0"/>
              </a:rPr>
              <a:t>Title 2: Evaluation of Enhanced Deepfake Detection Performance Using Multimodal AI Compared with Explainable AI Techniques</a:t>
            </a:r>
          </a:p>
        </p:txBody>
      </p:sp>
      <p:pic>
        <p:nvPicPr>
          <p:cNvPr id="4" name="Picture 3">
            <a:extLst>
              <a:ext uri="{FF2B5EF4-FFF2-40B4-BE49-F238E27FC236}">
                <a16:creationId xmlns:a16="http://schemas.microsoft.com/office/drawing/2014/main" id="{B04FCA90-857D-0267-1418-6B32FB54B0C6}"/>
              </a:ext>
            </a:extLst>
          </p:cNvPr>
          <p:cNvPicPr/>
          <p:nvPr/>
        </p:nvPicPr>
        <p:blipFill>
          <a:blip r:embed="rId3"/>
          <a:stretch>
            <a:fillRect/>
          </a:stretch>
        </p:blipFill>
        <p:spPr>
          <a:xfrm>
            <a:off x="640080" y="65242"/>
            <a:ext cx="11003279" cy="1264555"/>
          </a:xfrm>
          <a:prstGeom prst="rect">
            <a:avLst/>
          </a:prstGeom>
        </p:spPr>
      </p:pic>
    </p:spTree>
    <p:extLst>
      <p:ext uri="{BB962C8B-B14F-4D97-AF65-F5344CB8AC3E}">
        <p14:creationId xmlns:p14="http://schemas.microsoft.com/office/powerpoint/2010/main" val="34702392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C06A1A4-14B8-593E-0DE5-A03D08907C55}"/>
              </a:ext>
            </a:extLst>
          </p:cNvPr>
          <p:cNvPicPr/>
          <p:nvPr/>
        </p:nvPicPr>
        <p:blipFill>
          <a:blip r:embed="rId2"/>
          <a:stretch>
            <a:fillRect/>
          </a:stretch>
        </p:blipFill>
        <p:spPr>
          <a:xfrm>
            <a:off x="294640" y="364900"/>
            <a:ext cx="11379200" cy="1264555"/>
          </a:xfrm>
          <a:prstGeom prst="rect">
            <a:avLst/>
          </a:prstGeom>
        </p:spPr>
      </p:pic>
      <p:sp>
        <p:nvSpPr>
          <p:cNvPr id="5" name="TextBox 4">
            <a:extLst>
              <a:ext uri="{FF2B5EF4-FFF2-40B4-BE49-F238E27FC236}">
                <a16:creationId xmlns:a16="http://schemas.microsoft.com/office/drawing/2014/main" id="{B9B4404E-E8FC-E565-1D72-53B26CF1EF5E}"/>
              </a:ext>
            </a:extLst>
          </p:cNvPr>
          <p:cNvSpPr txBox="1"/>
          <p:nvPr/>
        </p:nvSpPr>
        <p:spPr>
          <a:xfrm>
            <a:off x="518160" y="1623807"/>
            <a:ext cx="10627360" cy="769441"/>
          </a:xfrm>
          <a:prstGeom prst="rect">
            <a:avLst/>
          </a:prstGeom>
          <a:noFill/>
        </p:spPr>
        <p:txBody>
          <a:bodyPr wrap="square">
            <a:spAutoFit/>
          </a:bodyPr>
          <a:lstStyle/>
          <a:p>
            <a:pPr algn="ctr" fontAlgn="ctr"/>
            <a:r>
              <a:rPr lang="en-US" sz="4400" b="1" dirty="0">
                <a:latin typeface="Times New Roman" panose="02020603050405020304" pitchFamily="18" charset="0"/>
                <a:cs typeface="Times New Roman" panose="02020603050405020304" pitchFamily="18" charset="0"/>
              </a:rPr>
              <a:t>PICO</a:t>
            </a:r>
          </a:p>
        </p:txBody>
      </p:sp>
      <p:sp>
        <p:nvSpPr>
          <p:cNvPr id="9" name="TextBox 8">
            <a:extLst>
              <a:ext uri="{FF2B5EF4-FFF2-40B4-BE49-F238E27FC236}">
                <a16:creationId xmlns:a16="http://schemas.microsoft.com/office/drawing/2014/main" id="{E3477263-8BAF-4556-3F9A-53B15F10B371}"/>
              </a:ext>
            </a:extLst>
          </p:cNvPr>
          <p:cNvSpPr txBox="1"/>
          <p:nvPr/>
        </p:nvSpPr>
        <p:spPr>
          <a:xfrm>
            <a:off x="838200" y="2235777"/>
            <a:ext cx="10627360" cy="4457952"/>
          </a:xfrm>
          <a:prstGeom prst="rect">
            <a:avLst/>
          </a:prstGeom>
          <a:noFill/>
        </p:spPr>
        <p:txBody>
          <a:bodyPr wrap="square">
            <a:spAutoFit/>
          </a:bodyPr>
          <a:lstStyle/>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P(Population)</a:t>
            </a:r>
          </a:p>
          <a:p>
            <a:pPr lvl="0" eaLnBrk="0" fontAlgn="base" hangingPunct="0">
              <a:lnSpc>
                <a:spcPct val="150000"/>
              </a:lnSpc>
              <a:spcBef>
                <a:spcPct val="0"/>
              </a:spcBef>
              <a:spcAft>
                <a:spcPct val="0"/>
              </a:spcAft>
            </a:pPr>
            <a:r>
              <a:rPr lang="en-US" altLang="en-US" b="1"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 </a:t>
            </a:r>
            <a:r>
              <a:rPr lang="en-US" altLang="en-US" sz="2400" dirty="0">
                <a:latin typeface="Times New Roman" panose="02020603050405020304" pitchFamily="18" charset="0"/>
                <a:cs typeface="Times New Roman" panose="02020603050405020304" pitchFamily="18" charset="0"/>
              </a:rPr>
              <a:t>Datasets of real and deepfake images/videos</a:t>
            </a: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I(Intervention)</a:t>
            </a:r>
          </a:p>
          <a:p>
            <a:pPr lvl="0" eaLnBrk="0" fontAlgn="base" hangingPunct="0">
              <a:lnSpc>
                <a:spcPct val="150000"/>
              </a:lnSpc>
              <a:spcBef>
                <a:spcPct val="0"/>
              </a:spcBef>
              <a:spcAft>
                <a:spcPct val="0"/>
              </a:spcAft>
            </a:pPr>
            <a:r>
              <a:rPr lang="en-US" altLang="en-US" b="1" dirty="0">
                <a:latin typeface="Times New Roman" panose="02020603050405020304" pitchFamily="18" charset="0"/>
                <a:cs typeface="Times New Roman" panose="02020603050405020304" pitchFamily="18" charset="0"/>
              </a:rPr>
              <a:t>        </a:t>
            </a:r>
            <a:r>
              <a:rPr lang="en-US" altLang="en-US" sz="2400" dirty="0">
                <a:latin typeface="Times New Roman" panose="02020603050405020304" pitchFamily="18" charset="0"/>
                <a:cs typeface="Times New Roman" panose="02020603050405020304" pitchFamily="18" charset="0"/>
              </a:rPr>
              <a:t>Multimodal AI detection frameworks</a:t>
            </a: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C(Comparison)</a:t>
            </a:r>
          </a:p>
          <a:p>
            <a:pPr lvl="0" eaLnBrk="0" fontAlgn="base" hangingPunct="0">
              <a:lnSpc>
                <a:spcPct val="150000"/>
              </a:lnSpc>
              <a:spcBef>
                <a:spcPct val="0"/>
              </a:spcBef>
              <a:spcAft>
                <a:spcPct val="0"/>
              </a:spcAft>
            </a:pPr>
            <a:r>
              <a:rPr lang="en-US" altLang="en-US" sz="2400" b="1" dirty="0">
                <a:latin typeface="Times New Roman" panose="02020603050405020304" pitchFamily="18" charset="0"/>
                <a:cs typeface="Times New Roman" panose="02020603050405020304" pitchFamily="18" charset="0"/>
              </a:rPr>
              <a:t>        </a:t>
            </a:r>
            <a:r>
              <a:rPr lang="en-US" altLang="en-US" sz="2400" dirty="0">
                <a:latin typeface="Times New Roman" panose="02020603050405020304" pitchFamily="18" charset="0"/>
                <a:cs typeface="Times New Roman" panose="02020603050405020304" pitchFamily="18" charset="0"/>
              </a:rPr>
              <a:t> Explainable AI-based detection approaches</a:t>
            </a: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O(Outcome)</a:t>
            </a:r>
          </a:p>
          <a:p>
            <a:pPr lvl="0" eaLnBrk="0" fontAlgn="base" hangingPunct="0">
              <a:lnSpc>
                <a:spcPct val="150000"/>
              </a:lnSpc>
              <a:spcBef>
                <a:spcPct val="0"/>
              </a:spcBef>
              <a:spcAft>
                <a:spcPct val="0"/>
              </a:spcAft>
            </a:pPr>
            <a:r>
              <a:rPr lang="en-US" altLang="en-US" b="1"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 </a:t>
            </a:r>
            <a:r>
              <a:rPr lang="en-US" altLang="en-US" sz="2400" dirty="0">
                <a:latin typeface="Times New Roman" panose="02020603050405020304" pitchFamily="18" charset="0"/>
                <a:cs typeface="Times New Roman" panose="02020603050405020304" pitchFamily="18" charset="0"/>
              </a:rPr>
              <a:t>Improvement in detection performance and model interpretability</a:t>
            </a:r>
          </a:p>
        </p:txBody>
      </p:sp>
    </p:spTree>
    <p:extLst>
      <p:ext uri="{BB962C8B-B14F-4D97-AF65-F5344CB8AC3E}">
        <p14:creationId xmlns:p14="http://schemas.microsoft.com/office/powerpoint/2010/main" val="13092956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6A69036-4DC1-5FAA-7B99-4607049C037F}"/>
              </a:ext>
            </a:extLst>
          </p:cNvPr>
          <p:cNvPicPr/>
          <p:nvPr/>
        </p:nvPicPr>
        <p:blipFill>
          <a:blip r:embed="rId2"/>
          <a:stretch>
            <a:fillRect/>
          </a:stretch>
        </p:blipFill>
        <p:spPr>
          <a:xfrm>
            <a:off x="497840" y="364900"/>
            <a:ext cx="11094720" cy="1264555"/>
          </a:xfrm>
          <a:prstGeom prst="rect">
            <a:avLst/>
          </a:prstGeom>
        </p:spPr>
      </p:pic>
      <p:sp>
        <p:nvSpPr>
          <p:cNvPr id="7" name="Title 1">
            <a:extLst>
              <a:ext uri="{FF2B5EF4-FFF2-40B4-BE49-F238E27FC236}">
                <a16:creationId xmlns:a16="http://schemas.microsoft.com/office/drawing/2014/main" id="{0792FEC2-1BCF-48FD-5890-9368874378E9}"/>
              </a:ext>
            </a:extLst>
          </p:cNvPr>
          <p:cNvSpPr>
            <a:spLocks noGrp="1"/>
          </p:cNvSpPr>
          <p:nvPr>
            <p:ph type="title"/>
          </p:nvPr>
        </p:nvSpPr>
        <p:spPr>
          <a:xfrm>
            <a:off x="838200" y="1629455"/>
            <a:ext cx="10515600" cy="727363"/>
          </a:xfrm>
        </p:spPr>
        <p:txBody>
          <a:bodyPr/>
          <a:lstStyle/>
          <a:p>
            <a:pPr algn="ctr"/>
            <a:r>
              <a:rPr lang="en-US" b="1" dirty="0">
                <a:latin typeface="Times New Roman" panose="02020603050405020304" pitchFamily="18" charset="0"/>
                <a:cs typeface="Times New Roman" panose="02020603050405020304" pitchFamily="18" charset="0"/>
              </a:rPr>
              <a:t>DATA SET</a:t>
            </a:r>
            <a:endParaRPr lang="en-IN" b="1" dirty="0">
              <a:latin typeface="Times New Roman" panose="02020603050405020304" pitchFamily="18" charset="0"/>
              <a:cs typeface="Times New Roman" panose="02020603050405020304" pitchFamily="18" charset="0"/>
            </a:endParaRPr>
          </a:p>
        </p:txBody>
      </p:sp>
      <p:sp>
        <p:nvSpPr>
          <p:cNvPr id="8" name="Rectangle 1">
            <a:extLst>
              <a:ext uri="{FF2B5EF4-FFF2-40B4-BE49-F238E27FC236}">
                <a16:creationId xmlns:a16="http://schemas.microsoft.com/office/drawing/2014/main" id="{321D983B-0514-EAA9-584C-D39B54DF4C83}"/>
              </a:ext>
            </a:extLst>
          </p:cNvPr>
          <p:cNvSpPr>
            <a:spLocks noGrp="1" noChangeArrowheads="1"/>
          </p:cNvSpPr>
          <p:nvPr>
            <p:ph idx="1"/>
          </p:nvPr>
        </p:nvSpPr>
        <p:spPr bwMode="auto">
          <a:xfrm>
            <a:off x="2052320" y="2181771"/>
            <a:ext cx="8849360" cy="1047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50000"/>
              </a:lnSpc>
              <a:spcBef>
                <a:spcPct val="0"/>
              </a:spcBef>
              <a:spcAft>
                <a:spcPct val="0"/>
              </a:spcAft>
              <a:buNone/>
            </a:pPr>
            <a:r>
              <a:rPr lang="en-US" altLang="en-US" sz="2200" dirty="0">
                <a:latin typeface="Times New Roman" panose="02020603050405020304" pitchFamily="18" charset="0"/>
                <a:cs typeface="Times New Roman" panose="02020603050405020304" pitchFamily="18" charset="0"/>
                <a:hlinkClick r:id="rId3"/>
              </a:rPr>
              <a:t>https://www.kaggle.com/code/aditya48/real-and-fake-face-detection</a:t>
            </a:r>
            <a:endParaRPr lang="en-US" altLang="en-US" sz="2200" dirty="0">
              <a:latin typeface="Times New Roman" panose="02020603050405020304" pitchFamily="18" charset="0"/>
              <a:cs typeface="Times New Roman" panose="02020603050405020304" pitchFamily="18" charset="0"/>
            </a:endParaRPr>
          </a:p>
          <a:p>
            <a:pPr marL="0" lvl="0" indent="0" eaLnBrk="0" fontAlgn="base" hangingPunct="0">
              <a:lnSpc>
                <a:spcPct val="150000"/>
              </a:lnSpc>
              <a:spcBef>
                <a:spcPct val="0"/>
              </a:spcBef>
              <a:spcAft>
                <a:spcPct val="0"/>
              </a:spcAft>
              <a:buNone/>
            </a:pP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29F40410-72DC-0ADC-CDFA-8E2B56634A9B}"/>
              </a:ext>
            </a:extLst>
          </p:cNvPr>
          <p:cNvSpPr txBox="1"/>
          <p:nvPr/>
        </p:nvSpPr>
        <p:spPr>
          <a:xfrm>
            <a:off x="304800" y="2894010"/>
            <a:ext cx="11582400" cy="1323439"/>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The dataset consists of approximately </a:t>
            </a:r>
            <a:r>
              <a:rPr lang="en-US" sz="2000" b="1" dirty="0">
                <a:latin typeface="Times New Roman" panose="02020603050405020304" pitchFamily="18" charset="0"/>
                <a:cs typeface="Times New Roman" panose="02020603050405020304" pitchFamily="18" charset="0"/>
              </a:rPr>
              <a:t>2000+ instances</a:t>
            </a:r>
            <a:r>
              <a:rPr lang="en-US" sz="2000" dirty="0">
                <a:latin typeface="Times New Roman" panose="02020603050405020304" pitchFamily="18" charset="0"/>
                <a:cs typeface="Times New Roman" panose="02020603050405020304" pitchFamily="18" charset="0"/>
              </a:rPr>
              <a:t> with attributes representing facial image data for deepfake detection. It includes both real and manipulated (fake) face images created using advanced editing techniques such as facial feature swapping and image synthesis, enabling analysis of detection performance across multiple AI techniques.</a:t>
            </a:r>
            <a:endParaRPr lang="en-IN" sz="2000"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0BEBAAA1-3A6B-8521-B65C-5E5F2EC553F3}"/>
              </a:ext>
            </a:extLst>
          </p:cNvPr>
          <p:cNvSpPr txBox="1"/>
          <p:nvPr/>
        </p:nvSpPr>
        <p:spPr>
          <a:xfrm>
            <a:off x="1188720" y="4489880"/>
            <a:ext cx="3190240" cy="1631216"/>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List of Attributes</a:t>
            </a:r>
          </a:p>
          <a:p>
            <a:pPr>
              <a:buFont typeface="Arial" panose="020B0604020202020204" pitchFamily="34" charset="0"/>
              <a:buChar char="•"/>
            </a:pPr>
            <a:r>
              <a:rPr lang="en-US" sz="2000" dirty="0" err="1">
                <a:latin typeface="Times New Roman" panose="02020603050405020304" pitchFamily="18" charset="0"/>
                <a:cs typeface="Times New Roman" panose="02020603050405020304" pitchFamily="18" charset="0"/>
              </a:rPr>
              <a:t>Image_Data</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PixelValues</a:t>
            </a:r>
            <a:r>
              <a:rPr lang="en-US" sz="2000"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sz="2000" dirty="0" err="1">
                <a:latin typeface="Times New Roman" panose="02020603050405020304" pitchFamily="18" charset="0"/>
                <a:cs typeface="Times New Roman" panose="02020603050405020304" pitchFamily="18" charset="0"/>
              </a:rPr>
              <a:t>Image_Width</a:t>
            </a:r>
            <a:r>
              <a:rPr lang="en-US" sz="2000"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sz="2000" dirty="0" err="1">
                <a:latin typeface="Times New Roman" panose="02020603050405020304" pitchFamily="18" charset="0"/>
                <a:cs typeface="Times New Roman" panose="02020603050405020304" pitchFamily="18" charset="0"/>
              </a:rPr>
              <a:t>Image_Height</a:t>
            </a:r>
            <a:r>
              <a:rPr lang="en-US" sz="2000"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sz="2000" dirty="0" err="1">
                <a:latin typeface="Times New Roman" panose="02020603050405020304" pitchFamily="18" charset="0"/>
                <a:cs typeface="Times New Roman" panose="02020603050405020304" pitchFamily="18" charset="0"/>
              </a:rPr>
              <a:t>Color_Channels</a:t>
            </a:r>
            <a:r>
              <a:rPr lang="en-US" sz="2000" dirty="0">
                <a:latin typeface="Times New Roman" panose="02020603050405020304" pitchFamily="18" charset="0"/>
                <a:cs typeface="Times New Roman" panose="02020603050405020304" pitchFamily="18" charset="0"/>
              </a:rPr>
              <a:t> (RGB)</a:t>
            </a:r>
            <a:endParaRPr lang="en-IN" sz="2000" dirty="0"/>
          </a:p>
        </p:txBody>
      </p:sp>
      <p:sp>
        <p:nvSpPr>
          <p:cNvPr id="17" name="TextBox 16">
            <a:extLst>
              <a:ext uri="{FF2B5EF4-FFF2-40B4-BE49-F238E27FC236}">
                <a16:creationId xmlns:a16="http://schemas.microsoft.com/office/drawing/2014/main" id="{25AEF15F-F456-D905-53CF-36F9D38AB38C}"/>
              </a:ext>
            </a:extLst>
          </p:cNvPr>
          <p:cNvSpPr txBox="1"/>
          <p:nvPr/>
        </p:nvSpPr>
        <p:spPr>
          <a:xfrm>
            <a:off x="4968242" y="4489880"/>
            <a:ext cx="2844800" cy="1631216"/>
          </a:xfrm>
          <a:prstGeom prst="rect">
            <a:avLst/>
          </a:prstGeom>
          <a:noFill/>
        </p:spPr>
        <p:txBody>
          <a:bodyPr wrap="square">
            <a:spAutoFit/>
          </a:bodyPr>
          <a:lstStyle/>
          <a:p>
            <a:pPr>
              <a:buFont typeface="Arial" panose="020B0604020202020204" pitchFamily="34" charset="0"/>
              <a:buChar char="•"/>
            </a:pPr>
            <a:r>
              <a:rPr lang="en-US" sz="2000" dirty="0" err="1">
                <a:latin typeface="Times New Roman" panose="02020603050405020304" pitchFamily="18" charset="0"/>
                <a:cs typeface="Times New Roman" panose="02020603050405020304" pitchFamily="18" charset="0"/>
              </a:rPr>
              <a:t>Texture_Features</a:t>
            </a:r>
            <a:r>
              <a:rPr lang="en-US" sz="2000"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sz="2000" dirty="0" err="1">
                <a:latin typeface="Times New Roman" panose="02020603050405020304" pitchFamily="18" charset="0"/>
                <a:cs typeface="Times New Roman" panose="02020603050405020304" pitchFamily="18" charset="0"/>
              </a:rPr>
              <a:t>Edge_Features</a:t>
            </a:r>
            <a:r>
              <a:rPr lang="en-US" sz="2000"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sz="2000" dirty="0" err="1">
                <a:latin typeface="Times New Roman" panose="02020603050405020304" pitchFamily="18" charset="0"/>
                <a:cs typeface="Times New Roman" panose="02020603050405020304" pitchFamily="18" charset="0"/>
              </a:rPr>
              <a:t>Facial_Regions</a:t>
            </a:r>
            <a:r>
              <a:rPr lang="en-US" sz="2000"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Resolution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Label (Real/Fake)</a:t>
            </a:r>
            <a:endParaRPr lang="en-IN" sz="2000" dirty="0"/>
          </a:p>
        </p:txBody>
      </p:sp>
    </p:spTree>
    <p:extLst>
      <p:ext uri="{BB962C8B-B14F-4D97-AF65-F5344CB8AC3E}">
        <p14:creationId xmlns:p14="http://schemas.microsoft.com/office/powerpoint/2010/main" val="8363708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3954B4A-3478-9BA3-A778-A8009C52A818}"/>
              </a:ext>
            </a:extLst>
          </p:cNvPr>
          <p:cNvPicPr/>
          <p:nvPr/>
        </p:nvPicPr>
        <p:blipFill>
          <a:blip r:embed="rId2"/>
          <a:stretch>
            <a:fillRect/>
          </a:stretch>
        </p:blipFill>
        <p:spPr>
          <a:xfrm>
            <a:off x="518160" y="364900"/>
            <a:ext cx="11176000" cy="1264555"/>
          </a:xfrm>
          <a:prstGeom prst="rect">
            <a:avLst/>
          </a:prstGeom>
        </p:spPr>
      </p:pic>
      <p:sp>
        <p:nvSpPr>
          <p:cNvPr id="6" name="TextBox 5">
            <a:extLst>
              <a:ext uri="{FF2B5EF4-FFF2-40B4-BE49-F238E27FC236}">
                <a16:creationId xmlns:a16="http://schemas.microsoft.com/office/drawing/2014/main" id="{0A7D35A0-4736-34FA-EF81-AB5938E5BDE0}"/>
              </a:ext>
            </a:extLst>
          </p:cNvPr>
          <p:cNvSpPr txBox="1"/>
          <p:nvPr/>
        </p:nvSpPr>
        <p:spPr>
          <a:xfrm>
            <a:off x="3190240" y="1760975"/>
            <a:ext cx="6187440" cy="769441"/>
          </a:xfrm>
          <a:prstGeom prst="rect">
            <a:avLst/>
          </a:prstGeom>
          <a:noFill/>
        </p:spPr>
        <p:txBody>
          <a:bodyPr wrap="square">
            <a:spAutoFit/>
          </a:bodyPr>
          <a:lstStyle/>
          <a:p>
            <a:pPr algn="ctr"/>
            <a:r>
              <a:rPr lang="en-US" sz="4400" b="1" dirty="0">
                <a:latin typeface="Times New Roman" panose="02020603050405020304" pitchFamily="18" charset="0"/>
                <a:cs typeface="Times New Roman" panose="02020603050405020304" pitchFamily="18" charset="0"/>
              </a:rPr>
              <a:t>KEY ATTRIBUTES </a:t>
            </a:r>
            <a:endParaRPr lang="en-IN" sz="4400" dirty="0"/>
          </a:p>
        </p:txBody>
      </p:sp>
      <p:sp>
        <p:nvSpPr>
          <p:cNvPr id="8" name="TextBox 7">
            <a:extLst>
              <a:ext uri="{FF2B5EF4-FFF2-40B4-BE49-F238E27FC236}">
                <a16:creationId xmlns:a16="http://schemas.microsoft.com/office/drawing/2014/main" id="{6FC8A869-522B-7E20-874C-5A40C639C20A}"/>
              </a:ext>
            </a:extLst>
          </p:cNvPr>
          <p:cNvSpPr txBox="1"/>
          <p:nvPr/>
        </p:nvSpPr>
        <p:spPr>
          <a:xfrm>
            <a:off x="1153160" y="2661936"/>
            <a:ext cx="10261600" cy="347787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Image_Data</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(Pixel Values)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Core numerical representation of images used for model training and prediction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Color_Channels</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(RGB)</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Provides color information that helps detect unnatural patterns in fake images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Texture_Features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Identifies irregular skin textures and smoothing artifacts in manipulated faces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Edge_Features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Detects sharp transitions and inconsistencies caused by editing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Facial_Regions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Focuses on key areas like eyes, nose, and mouth where manipulation is common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Resolution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Affects feature quality and model accuracy in detecting deepfakes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Label (Real/Fake)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Target variable used for classification of images </a:t>
            </a:r>
          </a:p>
        </p:txBody>
      </p:sp>
    </p:spTree>
    <p:extLst>
      <p:ext uri="{BB962C8B-B14F-4D97-AF65-F5344CB8AC3E}">
        <p14:creationId xmlns:p14="http://schemas.microsoft.com/office/powerpoint/2010/main" val="27137667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11766C8-929C-7EA2-5969-9159033DBC25}"/>
              </a:ext>
            </a:extLst>
          </p:cNvPr>
          <p:cNvPicPr/>
          <p:nvPr/>
        </p:nvPicPr>
        <p:blipFill>
          <a:blip r:embed="rId2"/>
          <a:stretch>
            <a:fillRect/>
          </a:stretch>
        </p:blipFill>
        <p:spPr>
          <a:xfrm>
            <a:off x="477520" y="364900"/>
            <a:ext cx="11186160" cy="1264555"/>
          </a:xfrm>
          <a:prstGeom prst="rect">
            <a:avLst/>
          </a:prstGeom>
        </p:spPr>
      </p:pic>
      <p:sp>
        <p:nvSpPr>
          <p:cNvPr id="6" name="TextBox 5">
            <a:extLst>
              <a:ext uri="{FF2B5EF4-FFF2-40B4-BE49-F238E27FC236}">
                <a16:creationId xmlns:a16="http://schemas.microsoft.com/office/drawing/2014/main" id="{0A6BB02A-ABAD-D9A3-1AF8-9196B3E956B3}"/>
              </a:ext>
            </a:extLst>
          </p:cNvPr>
          <p:cNvSpPr txBox="1"/>
          <p:nvPr/>
        </p:nvSpPr>
        <p:spPr>
          <a:xfrm>
            <a:off x="1991360" y="1700575"/>
            <a:ext cx="8382000" cy="707886"/>
          </a:xfrm>
          <a:prstGeom prst="rect">
            <a:avLst/>
          </a:prstGeom>
          <a:noFill/>
        </p:spPr>
        <p:txBody>
          <a:bodyPr wrap="square">
            <a:spAutoFit/>
          </a:bodyPr>
          <a:lstStyle/>
          <a:p>
            <a:pPr algn="ctr"/>
            <a:r>
              <a:rPr lang="en-US" sz="4000" b="1" dirty="0">
                <a:latin typeface="Times New Roman" panose="02020603050405020304" pitchFamily="18" charset="0"/>
                <a:cs typeface="Times New Roman" panose="02020603050405020304" pitchFamily="18" charset="0"/>
              </a:rPr>
              <a:t>SAMPLE SIZE CALCULATION </a:t>
            </a:r>
            <a:endParaRPr lang="en-IN" sz="4000" dirty="0"/>
          </a:p>
        </p:txBody>
      </p:sp>
      <p:sp>
        <p:nvSpPr>
          <p:cNvPr id="8" name="TextBox 7">
            <a:extLst>
              <a:ext uri="{FF2B5EF4-FFF2-40B4-BE49-F238E27FC236}">
                <a16:creationId xmlns:a16="http://schemas.microsoft.com/office/drawing/2014/main" id="{A1F6034E-CE98-C9BC-9D90-6464E4A92405}"/>
              </a:ext>
            </a:extLst>
          </p:cNvPr>
          <p:cNvSpPr txBox="1"/>
          <p:nvPr/>
        </p:nvSpPr>
        <p:spPr>
          <a:xfrm>
            <a:off x="3134360" y="2479581"/>
            <a:ext cx="6096000" cy="369332"/>
          </a:xfrm>
          <a:prstGeom prst="rect">
            <a:avLst/>
          </a:prstGeom>
          <a:noFill/>
        </p:spPr>
        <p:txBody>
          <a:bodyPr wrap="square">
            <a:spAutoFit/>
          </a:bodyPr>
          <a:lstStyle/>
          <a:p>
            <a:pPr algn="ctr"/>
            <a:r>
              <a:rPr lang="en-IN" b="1" dirty="0">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Link: </a:t>
            </a:r>
            <a:r>
              <a:rPr lang="en-IN" dirty="0">
                <a:solidFill>
                  <a:srgbClr val="467886"/>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https://clincalc.com/stats/samplesize.aspx</a:t>
            </a:r>
            <a:endParaRPr lang="en-IN" dirty="0">
              <a:latin typeface="Times New Roman" panose="02020603050405020304" pitchFamily="18" charset="0"/>
              <a:cs typeface="Times New Roman" panose="02020603050405020304" pitchFamily="18" charset="0"/>
            </a:endParaRPr>
          </a:p>
        </p:txBody>
      </p:sp>
      <p:graphicFrame>
        <p:nvGraphicFramePr>
          <p:cNvPr id="9" name="Table 8">
            <a:extLst>
              <a:ext uri="{FF2B5EF4-FFF2-40B4-BE49-F238E27FC236}">
                <a16:creationId xmlns:a16="http://schemas.microsoft.com/office/drawing/2014/main" id="{D7FA6E39-6E5F-D0F6-3937-B8BCB0033C4B}"/>
              </a:ext>
            </a:extLst>
          </p:cNvPr>
          <p:cNvGraphicFramePr>
            <a:graphicFrameLocks noGrp="1"/>
          </p:cNvGraphicFramePr>
          <p:nvPr>
            <p:extLst>
              <p:ext uri="{D42A27DB-BD31-4B8C-83A1-F6EECF244321}">
                <p14:modId xmlns:p14="http://schemas.microsoft.com/office/powerpoint/2010/main" val="356130939"/>
              </p:ext>
            </p:extLst>
          </p:nvPr>
        </p:nvGraphicFramePr>
        <p:xfrm>
          <a:off x="838200" y="3429000"/>
          <a:ext cx="4301267" cy="2399385"/>
        </p:xfrm>
        <a:graphic>
          <a:graphicData uri="http://schemas.openxmlformats.org/drawingml/2006/table">
            <a:tbl>
              <a:tblPr firstRow="1" bandRow="1">
                <a:tableStyleId>{2D5ABB26-0587-4C30-8999-92F81FD0307C}</a:tableStyleId>
              </a:tblPr>
              <a:tblGrid>
                <a:gridCol w="2166955">
                  <a:extLst>
                    <a:ext uri="{9D8B030D-6E8A-4147-A177-3AD203B41FA5}">
                      <a16:colId xmlns:a16="http://schemas.microsoft.com/office/drawing/2014/main" val="1818047483"/>
                    </a:ext>
                  </a:extLst>
                </a:gridCol>
                <a:gridCol w="2134312">
                  <a:extLst>
                    <a:ext uri="{9D8B030D-6E8A-4147-A177-3AD203B41FA5}">
                      <a16:colId xmlns:a16="http://schemas.microsoft.com/office/drawing/2014/main" val="1183571754"/>
                    </a:ext>
                  </a:extLst>
                </a:gridCol>
              </a:tblGrid>
              <a:tr h="484920">
                <a:tc gridSpan="2">
                  <a:txBody>
                    <a:bodyPr/>
                    <a:lstStyle/>
                    <a:p>
                      <a:pPr algn="ctr"/>
                      <a:r>
                        <a:rPr lang="en-US" sz="2400" b="1" dirty="0">
                          <a:latin typeface="Times New Roman" panose="02020603050405020304" pitchFamily="18" charset="0"/>
                          <a:cs typeface="Times New Roman" panose="02020603050405020304" pitchFamily="18" charset="0"/>
                        </a:rPr>
                        <a:t>Sample Size</a:t>
                      </a:r>
                      <a:endParaRPr lang="en-IN" sz="24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a:p>
                  </a:txBody>
                  <a:tcPr/>
                </a:tc>
                <a:extLst>
                  <a:ext uri="{0D108BD9-81ED-4DB2-BD59-A6C34878D82A}">
                    <a16:rowId xmlns:a16="http://schemas.microsoft.com/office/drawing/2014/main" val="2408391168"/>
                  </a:ext>
                </a:extLst>
              </a:tr>
              <a:tr h="622294">
                <a:tc>
                  <a:txBody>
                    <a:bodyPr/>
                    <a:lstStyle/>
                    <a:p>
                      <a:pPr algn="ctr"/>
                      <a:r>
                        <a:rPr lang="en-US" sz="2400" b="1" dirty="0">
                          <a:latin typeface="Times New Roman" panose="02020603050405020304" pitchFamily="18" charset="0"/>
                          <a:cs typeface="Times New Roman" panose="02020603050405020304" pitchFamily="18" charset="0"/>
                        </a:rPr>
                        <a:t>Group 1</a:t>
                      </a:r>
                      <a:endParaRPr lang="en-IN" sz="24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latin typeface="Times New Roman" panose="02020603050405020304" pitchFamily="18" charset="0"/>
                          <a:cs typeface="Times New Roman" panose="02020603050405020304" pitchFamily="18" charset="0"/>
                        </a:rPr>
                        <a:t>200</a:t>
                      </a:r>
                      <a:endParaRPr lang="en-IN"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41149453"/>
                  </a:ext>
                </a:extLst>
              </a:tr>
              <a:tr h="585945">
                <a:tc>
                  <a:txBody>
                    <a:bodyPr/>
                    <a:lstStyle/>
                    <a:p>
                      <a:pPr algn="ctr"/>
                      <a:r>
                        <a:rPr lang="en-US" sz="2400" b="1" dirty="0">
                          <a:latin typeface="Times New Roman" panose="02020603050405020304" pitchFamily="18" charset="0"/>
                          <a:cs typeface="Times New Roman" panose="02020603050405020304" pitchFamily="18" charset="0"/>
                        </a:rPr>
                        <a:t>Group 2</a:t>
                      </a:r>
                      <a:endParaRPr lang="en-IN" sz="24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latin typeface="Times New Roman" panose="02020603050405020304" pitchFamily="18" charset="0"/>
                          <a:cs typeface="Times New Roman" panose="02020603050405020304" pitchFamily="18" charset="0"/>
                        </a:rPr>
                        <a:t>200</a:t>
                      </a:r>
                      <a:endParaRPr lang="en-IN"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04489674"/>
                  </a:ext>
                </a:extLst>
              </a:tr>
              <a:tr h="706226">
                <a:tc>
                  <a:txBody>
                    <a:bodyPr/>
                    <a:lstStyle/>
                    <a:p>
                      <a:pPr algn="ctr"/>
                      <a:r>
                        <a:rPr lang="en-US" sz="2400" b="1" dirty="0">
                          <a:latin typeface="Times New Roman" panose="02020603050405020304" pitchFamily="18" charset="0"/>
                          <a:cs typeface="Times New Roman" panose="02020603050405020304" pitchFamily="18" charset="0"/>
                        </a:rPr>
                        <a:t>Total</a:t>
                      </a:r>
                      <a:endParaRPr lang="en-IN" sz="24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latin typeface="Times New Roman" panose="02020603050405020304" pitchFamily="18" charset="0"/>
                          <a:cs typeface="Times New Roman" panose="02020603050405020304" pitchFamily="18" charset="0"/>
                        </a:rPr>
                        <a:t>400</a:t>
                      </a:r>
                      <a:endParaRPr lang="en-IN"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68833956"/>
                  </a:ext>
                </a:extLst>
              </a:tr>
            </a:tbl>
          </a:graphicData>
        </a:graphic>
      </p:graphicFrame>
      <p:graphicFrame>
        <p:nvGraphicFramePr>
          <p:cNvPr id="10" name="Table 9">
            <a:extLst>
              <a:ext uri="{FF2B5EF4-FFF2-40B4-BE49-F238E27FC236}">
                <a16:creationId xmlns:a16="http://schemas.microsoft.com/office/drawing/2014/main" id="{15F0125D-4C4E-D1FC-83CB-51E1D96B910A}"/>
              </a:ext>
            </a:extLst>
          </p:cNvPr>
          <p:cNvGraphicFramePr>
            <a:graphicFrameLocks noGrp="1"/>
          </p:cNvGraphicFramePr>
          <p:nvPr>
            <p:extLst>
              <p:ext uri="{D42A27DB-BD31-4B8C-83A1-F6EECF244321}">
                <p14:modId xmlns:p14="http://schemas.microsoft.com/office/powerpoint/2010/main" val="4044401520"/>
              </p:ext>
            </p:extLst>
          </p:nvPr>
        </p:nvGraphicFramePr>
        <p:xfrm>
          <a:off x="5833932" y="3009841"/>
          <a:ext cx="5519868" cy="3237702"/>
        </p:xfrm>
        <a:graphic>
          <a:graphicData uri="http://schemas.openxmlformats.org/drawingml/2006/table">
            <a:tbl>
              <a:tblPr firstRow="1" bandRow="1">
                <a:tableStyleId>{2D5ABB26-0587-4C30-8999-92F81FD0307C}</a:tableStyleId>
              </a:tblPr>
              <a:tblGrid>
                <a:gridCol w="2780880">
                  <a:extLst>
                    <a:ext uri="{9D8B030D-6E8A-4147-A177-3AD203B41FA5}">
                      <a16:colId xmlns:a16="http://schemas.microsoft.com/office/drawing/2014/main" val="3249574147"/>
                    </a:ext>
                  </a:extLst>
                </a:gridCol>
                <a:gridCol w="2738988">
                  <a:extLst>
                    <a:ext uri="{9D8B030D-6E8A-4147-A177-3AD203B41FA5}">
                      <a16:colId xmlns:a16="http://schemas.microsoft.com/office/drawing/2014/main" val="3705614851"/>
                    </a:ext>
                  </a:extLst>
                </a:gridCol>
              </a:tblGrid>
              <a:tr h="535096">
                <a:tc gridSpan="2">
                  <a:txBody>
                    <a:bodyPr/>
                    <a:lstStyle/>
                    <a:p>
                      <a:pPr algn="ctr"/>
                      <a:r>
                        <a:rPr lang="en-US" sz="2400" b="1" dirty="0">
                          <a:latin typeface="Times New Roman" panose="02020603050405020304" pitchFamily="18" charset="0"/>
                          <a:cs typeface="Times New Roman" panose="02020603050405020304" pitchFamily="18" charset="0"/>
                        </a:rPr>
                        <a:t>Study Parameters</a:t>
                      </a:r>
                      <a:endParaRPr lang="en-IN" sz="24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a:p>
                  </a:txBody>
                  <a:tcPr/>
                </a:tc>
                <a:extLst>
                  <a:ext uri="{0D108BD9-81ED-4DB2-BD59-A6C34878D82A}">
                    <a16:rowId xmlns:a16="http://schemas.microsoft.com/office/drawing/2014/main" val="1473300227"/>
                  </a:ext>
                </a:extLst>
              </a:tr>
              <a:tr h="562222">
                <a:tc>
                  <a:txBody>
                    <a:bodyPr/>
                    <a:lstStyle/>
                    <a:p>
                      <a:pPr algn="ctr"/>
                      <a:r>
                        <a:rPr lang="en-US" sz="2400" b="1" dirty="0">
                          <a:latin typeface="Times New Roman" panose="02020603050405020304" pitchFamily="18" charset="0"/>
                          <a:cs typeface="Times New Roman" panose="02020603050405020304" pitchFamily="18" charset="0"/>
                        </a:rPr>
                        <a:t>Incidence, Group 1</a:t>
                      </a:r>
                      <a:endParaRPr lang="en-IN" sz="24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latin typeface="Times New Roman" panose="02020603050405020304" pitchFamily="18" charset="0"/>
                          <a:cs typeface="Times New Roman" panose="02020603050405020304" pitchFamily="18" charset="0"/>
                        </a:rPr>
                        <a:t>95%</a:t>
                      </a:r>
                      <a:endParaRPr lang="en-IN"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04419347"/>
                  </a:ext>
                </a:extLst>
              </a:tr>
              <a:tr h="535096">
                <a:tc>
                  <a:txBody>
                    <a:bodyPr/>
                    <a:lstStyle/>
                    <a:p>
                      <a:pPr algn="ctr"/>
                      <a:r>
                        <a:rPr lang="en-US" sz="2400" b="1" dirty="0">
                          <a:latin typeface="Times New Roman" panose="02020603050405020304" pitchFamily="18" charset="0"/>
                          <a:cs typeface="Times New Roman" panose="02020603050405020304" pitchFamily="18" charset="0"/>
                        </a:rPr>
                        <a:t>Incidence, Group 2</a:t>
                      </a:r>
                      <a:endParaRPr lang="en-IN" sz="24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latin typeface="Times New Roman" panose="02020603050405020304" pitchFamily="18" charset="0"/>
                          <a:cs typeface="Times New Roman" panose="02020603050405020304" pitchFamily="18" charset="0"/>
                        </a:rPr>
                        <a:t>87%</a:t>
                      </a:r>
                      <a:endParaRPr lang="en-IN"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33666525"/>
                  </a:ext>
                </a:extLst>
              </a:tr>
              <a:tr h="535096">
                <a:tc>
                  <a:txBody>
                    <a:bodyPr/>
                    <a:lstStyle/>
                    <a:p>
                      <a:pPr algn="ctr"/>
                      <a:r>
                        <a:rPr lang="en-US" sz="2400" b="1" dirty="0">
                          <a:latin typeface="Times New Roman" panose="02020603050405020304" pitchFamily="18" charset="0"/>
                          <a:cs typeface="Times New Roman" panose="02020603050405020304" pitchFamily="18" charset="0"/>
                        </a:rPr>
                        <a:t>Alpha</a:t>
                      </a:r>
                      <a:endParaRPr lang="en-IN" sz="24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latin typeface="Times New Roman" panose="02020603050405020304" pitchFamily="18" charset="0"/>
                          <a:cs typeface="Times New Roman" panose="02020603050405020304" pitchFamily="18" charset="0"/>
                        </a:rPr>
                        <a:t>0.05</a:t>
                      </a:r>
                      <a:endParaRPr lang="en-IN"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8284009"/>
                  </a:ext>
                </a:extLst>
              </a:tr>
              <a:tr h="535096">
                <a:tc>
                  <a:txBody>
                    <a:bodyPr/>
                    <a:lstStyle/>
                    <a:p>
                      <a:pPr algn="ctr"/>
                      <a:r>
                        <a:rPr lang="en-US" sz="2400" b="1" dirty="0">
                          <a:latin typeface="Times New Roman" panose="02020603050405020304" pitchFamily="18" charset="0"/>
                          <a:cs typeface="Times New Roman" panose="02020603050405020304" pitchFamily="18" charset="0"/>
                        </a:rPr>
                        <a:t>Beta</a:t>
                      </a:r>
                      <a:endParaRPr lang="en-IN" sz="24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latin typeface="Times New Roman" panose="02020603050405020304" pitchFamily="18" charset="0"/>
                          <a:cs typeface="Times New Roman" panose="02020603050405020304" pitchFamily="18" charset="0"/>
                        </a:rPr>
                        <a:t>0.2</a:t>
                      </a:r>
                      <a:endParaRPr lang="en-IN"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96355160"/>
                  </a:ext>
                </a:extLst>
              </a:tr>
              <a:tr h="535096">
                <a:tc>
                  <a:txBody>
                    <a:bodyPr/>
                    <a:lstStyle/>
                    <a:p>
                      <a:pPr algn="ctr"/>
                      <a:r>
                        <a:rPr lang="en-US" sz="2400" b="1" dirty="0">
                          <a:latin typeface="Times New Roman" panose="02020603050405020304" pitchFamily="18" charset="0"/>
                          <a:cs typeface="Times New Roman" panose="02020603050405020304" pitchFamily="18" charset="0"/>
                        </a:rPr>
                        <a:t>Power</a:t>
                      </a:r>
                      <a:endParaRPr lang="en-IN" sz="24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latin typeface="Times New Roman" panose="02020603050405020304" pitchFamily="18" charset="0"/>
                          <a:cs typeface="Times New Roman" panose="02020603050405020304" pitchFamily="18" charset="0"/>
                        </a:rPr>
                        <a:t>0.8</a:t>
                      </a:r>
                      <a:endParaRPr lang="en-IN"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3253170"/>
                  </a:ext>
                </a:extLst>
              </a:tr>
            </a:tbl>
          </a:graphicData>
        </a:graphic>
      </p:graphicFrame>
    </p:spTree>
    <p:extLst>
      <p:ext uri="{BB962C8B-B14F-4D97-AF65-F5344CB8AC3E}">
        <p14:creationId xmlns:p14="http://schemas.microsoft.com/office/powerpoint/2010/main" val="24349042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6FF39A1-9976-2409-9C25-5A6347BD0CAF}"/>
              </a:ext>
            </a:extLst>
          </p:cNvPr>
          <p:cNvPicPr/>
          <p:nvPr/>
        </p:nvPicPr>
        <p:blipFill>
          <a:blip r:embed="rId2"/>
          <a:stretch>
            <a:fillRect/>
          </a:stretch>
        </p:blipFill>
        <p:spPr>
          <a:xfrm>
            <a:off x="436880" y="87900"/>
            <a:ext cx="11043920" cy="1264555"/>
          </a:xfrm>
          <a:prstGeom prst="rect">
            <a:avLst/>
          </a:prstGeom>
        </p:spPr>
      </p:pic>
      <p:sp>
        <p:nvSpPr>
          <p:cNvPr id="6" name="TextBox 5">
            <a:extLst>
              <a:ext uri="{FF2B5EF4-FFF2-40B4-BE49-F238E27FC236}">
                <a16:creationId xmlns:a16="http://schemas.microsoft.com/office/drawing/2014/main" id="{D611CEBF-719D-5ED1-E2E4-6973DCBC9755}"/>
              </a:ext>
            </a:extLst>
          </p:cNvPr>
          <p:cNvSpPr txBox="1"/>
          <p:nvPr/>
        </p:nvSpPr>
        <p:spPr>
          <a:xfrm>
            <a:off x="1554480" y="1367056"/>
            <a:ext cx="9799320" cy="1200329"/>
          </a:xfrm>
          <a:prstGeom prst="rect">
            <a:avLst/>
          </a:prstGeom>
          <a:noFill/>
        </p:spPr>
        <p:txBody>
          <a:bodyPr wrap="square">
            <a:spAutoFit/>
          </a:bodyPr>
          <a:lstStyle/>
          <a:p>
            <a:pPr algn="ctr"/>
            <a:r>
              <a:rPr lang="en-US" sz="3600" b="1" dirty="0">
                <a:latin typeface="Times New Roman" panose="02020603050405020304" pitchFamily="18" charset="0"/>
                <a:cs typeface="Times New Roman" panose="02020603050405020304" pitchFamily="18" charset="0"/>
              </a:rPr>
              <a:t>INTERVENTION ALGORITHM </a:t>
            </a:r>
            <a:br>
              <a:rPr lang="en-US" sz="3600" b="1" dirty="0">
                <a:latin typeface="Times New Roman" panose="02020603050405020304" pitchFamily="18" charset="0"/>
                <a:cs typeface="Times New Roman" panose="02020603050405020304" pitchFamily="18" charset="0"/>
              </a:rPr>
            </a:br>
            <a:r>
              <a:rPr lang="en-US" sz="3600" b="1" dirty="0">
                <a:latin typeface="Times New Roman" panose="02020603050405020304" pitchFamily="18" charset="0"/>
                <a:cs typeface="Times New Roman" panose="02020603050405020304" pitchFamily="18" charset="0"/>
              </a:rPr>
              <a:t>Proposed-Multimodal Artificial Intelligence</a:t>
            </a:r>
            <a:endParaRPr lang="en-IN" sz="3600" dirty="0"/>
          </a:p>
        </p:txBody>
      </p:sp>
      <p:sp>
        <p:nvSpPr>
          <p:cNvPr id="8" name="TextBox 7">
            <a:extLst>
              <a:ext uri="{FF2B5EF4-FFF2-40B4-BE49-F238E27FC236}">
                <a16:creationId xmlns:a16="http://schemas.microsoft.com/office/drawing/2014/main" id="{56BE35FA-6648-623D-0B81-81E1FAB26C05}"/>
              </a:ext>
            </a:extLst>
          </p:cNvPr>
          <p:cNvSpPr txBox="1"/>
          <p:nvPr/>
        </p:nvSpPr>
        <p:spPr>
          <a:xfrm>
            <a:off x="127000" y="2581986"/>
            <a:ext cx="11938000" cy="1415772"/>
          </a:xfrm>
          <a:prstGeom prst="rect">
            <a:avLst/>
          </a:prstGeom>
          <a:noFill/>
        </p:spPr>
        <p:txBody>
          <a:bodyPr wrap="square">
            <a:spAutoFit/>
          </a:bodyPr>
          <a:lstStyle/>
          <a:p>
            <a:r>
              <a:rPr lang="en-US" b="1" dirty="0" err="1">
                <a:latin typeface="Times New Roman" panose="02020603050405020304" pitchFamily="18" charset="0"/>
                <a:cs typeface="Times New Roman" panose="02020603050405020304" pitchFamily="18" charset="0"/>
              </a:rPr>
              <a:t>Defintion</a:t>
            </a:r>
            <a:r>
              <a:rPr lang="en-US" b="1" dirty="0">
                <a:latin typeface="Times New Roman" panose="02020603050405020304" pitchFamily="18" charset="0"/>
                <a:cs typeface="Times New Roman" panose="02020603050405020304" pitchFamily="18" charset="0"/>
              </a:rPr>
              <a:t>:</a:t>
            </a:r>
          </a:p>
          <a:p>
            <a:r>
              <a:rPr lang="en-US" sz="1600" dirty="0">
                <a:latin typeface="Times New Roman" panose="02020603050405020304" pitchFamily="18" charset="0"/>
                <a:cs typeface="Times New Roman" panose="02020603050405020304" pitchFamily="18" charset="0"/>
              </a:rPr>
              <a:t>              </a:t>
            </a:r>
            <a:r>
              <a:rPr lang="en-US" sz="1700" dirty="0">
                <a:latin typeface="Times New Roman" panose="02020603050405020304" pitchFamily="18" charset="0"/>
                <a:cs typeface="Times New Roman" panose="02020603050405020304" pitchFamily="18" charset="0"/>
              </a:rPr>
              <a:t>A Multimodal AI algorithm integrates and processes multiple data types—such as image frames, video sequences, and audio signals—by extracting features from each modality and combining them into a unified model. This approach improves deepfake detection by capturing cross-modal inconsistencies, leading to higher accuracy and robustness in authentication compared to single-modality methods.</a:t>
            </a:r>
            <a:endParaRPr lang="en-IN" sz="17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18880C92-E086-9CDF-4F10-C2C97B0A0EBF}"/>
              </a:ext>
            </a:extLst>
          </p:cNvPr>
          <p:cNvSpPr txBox="1"/>
          <p:nvPr/>
        </p:nvSpPr>
        <p:spPr>
          <a:xfrm>
            <a:off x="520700" y="4092444"/>
            <a:ext cx="4884420" cy="2677656"/>
          </a:xfrm>
          <a:prstGeom prst="rect">
            <a:avLst/>
          </a:prstGeom>
          <a:noFill/>
        </p:spPr>
        <p:txBody>
          <a:bodyPr wrap="square">
            <a:spAutoFit/>
          </a:bodyPr>
          <a:lstStyle/>
          <a:p>
            <a:r>
              <a:rPr lang="en-IN" sz="1400" dirty="0">
                <a:latin typeface="Times New Roman" panose="02020603050405020304" pitchFamily="18" charset="0"/>
                <a:cs typeface="Times New Roman" panose="02020603050405020304" pitchFamily="18" charset="0"/>
              </a:rPr>
              <a:t>START</a:t>
            </a:r>
          </a:p>
          <a:p>
            <a:r>
              <a:rPr lang="en-IN" sz="1400" dirty="0">
                <a:latin typeface="Times New Roman" panose="02020603050405020304" pitchFamily="18" charset="0"/>
                <a:cs typeface="Times New Roman" panose="02020603050405020304" pitchFamily="18" charset="0"/>
              </a:rPr>
              <a:t>INPUT dataset (images + videos)</a:t>
            </a:r>
          </a:p>
          <a:p>
            <a:r>
              <a:rPr lang="en-IN" sz="1400" dirty="0">
                <a:latin typeface="Times New Roman" panose="02020603050405020304" pitchFamily="18" charset="0"/>
                <a:cs typeface="Times New Roman" panose="02020603050405020304" pitchFamily="18" charset="0"/>
              </a:rPr>
              <a:t>FOR each sample in dataset DO</a:t>
            </a:r>
          </a:p>
          <a:p>
            <a:r>
              <a:rPr lang="en-IN" sz="1400" dirty="0">
                <a:latin typeface="Times New Roman" panose="02020603050405020304" pitchFamily="18" charset="0"/>
                <a:cs typeface="Times New Roman" panose="02020603050405020304" pitchFamily="18" charset="0"/>
              </a:rPr>
              <a:t>    EXTRACT </a:t>
            </a:r>
            <a:r>
              <a:rPr lang="en-IN" sz="1400" dirty="0" err="1">
                <a:latin typeface="Times New Roman" panose="02020603050405020304" pitchFamily="18" charset="0"/>
                <a:cs typeface="Times New Roman" panose="02020603050405020304" pitchFamily="18" charset="0"/>
              </a:rPr>
              <a:t>visual_features</a:t>
            </a:r>
            <a:r>
              <a:rPr lang="en-IN" sz="1400" dirty="0">
                <a:latin typeface="Times New Roman" panose="02020603050405020304" pitchFamily="18" charset="0"/>
                <a:cs typeface="Times New Roman" panose="02020603050405020304" pitchFamily="18" charset="0"/>
              </a:rPr>
              <a:t> using CNN</a:t>
            </a:r>
          </a:p>
          <a:p>
            <a:r>
              <a:rPr lang="en-IN" sz="1400" dirty="0">
                <a:latin typeface="Times New Roman" panose="02020603050405020304" pitchFamily="18" charset="0"/>
                <a:cs typeface="Times New Roman" panose="02020603050405020304" pitchFamily="18" charset="0"/>
              </a:rPr>
              <a:t>    EXTRACT </a:t>
            </a:r>
            <a:r>
              <a:rPr lang="en-IN" sz="1400" dirty="0" err="1">
                <a:latin typeface="Times New Roman" panose="02020603050405020304" pitchFamily="18" charset="0"/>
                <a:cs typeface="Times New Roman" panose="02020603050405020304" pitchFamily="18" charset="0"/>
              </a:rPr>
              <a:t>temporal_features</a:t>
            </a:r>
            <a:r>
              <a:rPr lang="en-IN" sz="1400" dirty="0">
                <a:latin typeface="Times New Roman" panose="02020603050405020304" pitchFamily="18" charset="0"/>
                <a:cs typeface="Times New Roman" panose="02020603050405020304" pitchFamily="18" charset="0"/>
              </a:rPr>
              <a:t> using RNN/LSTM (for video)</a:t>
            </a:r>
          </a:p>
          <a:p>
            <a:r>
              <a:rPr lang="en-IN" sz="1400" dirty="0">
                <a:latin typeface="Times New Roman" panose="02020603050405020304" pitchFamily="18" charset="0"/>
                <a:cs typeface="Times New Roman" panose="02020603050405020304" pitchFamily="18" charset="0"/>
              </a:rPr>
              <a:t>    EXTRACT </a:t>
            </a:r>
            <a:r>
              <a:rPr lang="en-IN" sz="1400" dirty="0" err="1">
                <a:latin typeface="Times New Roman" panose="02020603050405020304" pitchFamily="18" charset="0"/>
                <a:cs typeface="Times New Roman" panose="02020603050405020304" pitchFamily="18" charset="0"/>
              </a:rPr>
              <a:t>audio_features</a:t>
            </a:r>
            <a:r>
              <a:rPr lang="en-IN" sz="1400" dirty="0">
                <a:latin typeface="Times New Roman" panose="02020603050405020304" pitchFamily="18" charset="0"/>
                <a:cs typeface="Times New Roman" panose="02020603050405020304" pitchFamily="18" charset="0"/>
              </a:rPr>
              <a:t> using MFCC (if audio exists)</a:t>
            </a:r>
          </a:p>
          <a:p>
            <a:r>
              <a:rPr lang="en-IN" sz="1400" dirty="0">
                <a:latin typeface="Times New Roman" panose="02020603050405020304" pitchFamily="18" charset="0"/>
                <a:cs typeface="Times New Roman" panose="02020603050405020304" pitchFamily="18" charset="0"/>
              </a:rPr>
              <a:t>END FOR</a:t>
            </a:r>
          </a:p>
          <a:p>
            <a:r>
              <a:rPr lang="en-IN" sz="1400" dirty="0">
                <a:latin typeface="Times New Roman" panose="02020603050405020304" pitchFamily="18" charset="0"/>
                <a:cs typeface="Times New Roman" panose="02020603050405020304" pitchFamily="18" charset="0"/>
              </a:rPr>
              <a:t>FOR each sample DO</a:t>
            </a:r>
          </a:p>
          <a:p>
            <a:r>
              <a:rPr lang="en-IN" sz="1400" dirty="0">
                <a:latin typeface="Times New Roman" panose="02020603050405020304" pitchFamily="18" charset="0"/>
                <a:cs typeface="Times New Roman" panose="02020603050405020304" pitchFamily="18" charset="0"/>
              </a:rPr>
              <a:t>    COMBINE all features into </a:t>
            </a:r>
            <a:r>
              <a:rPr lang="en-IN" sz="1400" dirty="0" err="1">
                <a:latin typeface="Times New Roman" panose="02020603050405020304" pitchFamily="18" charset="0"/>
                <a:cs typeface="Times New Roman" panose="02020603050405020304" pitchFamily="18" charset="0"/>
              </a:rPr>
              <a:t>multimodal_vector</a:t>
            </a:r>
            <a:endParaRPr lang="en-IN"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END FOR</a:t>
            </a:r>
          </a:p>
          <a:p>
            <a:r>
              <a:rPr lang="en-IN" sz="1400" dirty="0">
                <a:latin typeface="Times New Roman" panose="02020603050405020304" pitchFamily="18" charset="0"/>
                <a:cs typeface="Times New Roman" panose="02020603050405020304" pitchFamily="18" charset="0"/>
              </a:rPr>
              <a:t>INITIALIZE </a:t>
            </a:r>
            <a:r>
              <a:rPr lang="en-IN" sz="1400" dirty="0" err="1">
                <a:latin typeface="Times New Roman" panose="02020603050405020304" pitchFamily="18" charset="0"/>
                <a:cs typeface="Times New Roman" panose="02020603050405020304" pitchFamily="18" charset="0"/>
              </a:rPr>
              <a:t>Multimodal_Model</a:t>
            </a:r>
            <a:endParaRPr lang="en-IN"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TRAIN </a:t>
            </a:r>
            <a:r>
              <a:rPr lang="en-IN" sz="1400" dirty="0" err="1">
                <a:latin typeface="Times New Roman" panose="02020603050405020304" pitchFamily="18" charset="0"/>
                <a:cs typeface="Times New Roman" panose="02020603050405020304" pitchFamily="18" charset="0"/>
              </a:rPr>
              <a:t>Multimodal_Model</a:t>
            </a:r>
            <a:r>
              <a:rPr lang="en-IN" sz="1400" dirty="0">
                <a:latin typeface="Times New Roman" panose="02020603050405020304" pitchFamily="18" charset="0"/>
                <a:cs typeface="Times New Roman" panose="02020603050405020304" pitchFamily="18" charset="0"/>
              </a:rPr>
              <a:t> using </a:t>
            </a:r>
            <a:r>
              <a:rPr lang="en-IN" sz="1400" dirty="0" err="1">
                <a:latin typeface="Times New Roman" panose="02020603050405020304" pitchFamily="18" charset="0"/>
                <a:cs typeface="Times New Roman" panose="02020603050405020304" pitchFamily="18" charset="0"/>
              </a:rPr>
              <a:t>multimodal_vector</a:t>
            </a:r>
            <a:r>
              <a:rPr lang="en-IN" sz="1400" dirty="0">
                <a:latin typeface="Times New Roman" panose="02020603050405020304" pitchFamily="18" charset="0"/>
                <a:cs typeface="Times New Roman" panose="02020603050405020304" pitchFamily="18" charset="0"/>
              </a:rPr>
              <a:t> and labels</a:t>
            </a:r>
          </a:p>
        </p:txBody>
      </p:sp>
      <p:sp>
        <p:nvSpPr>
          <p:cNvPr id="12" name="TextBox 11">
            <a:extLst>
              <a:ext uri="{FF2B5EF4-FFF2-40B4-BE49-F238E27FC236}">
                <a16:creationId xmlns:a16="http://schemas.microsoft.com/office/drawing/2014/main" id="{301E2FF4-E818-2B1B-0730-11ACA5EDD77F}"/>
              </a:ext>
            </a:extLst>
          </p:cNvPr>
          <p:cNvSpPr txBox="1"/>
          <p:nvPr/>
        </p:nvSpPr>
        <p:spPr>
          <a:xfrm>
            <a:off x="6329680" y="3878895"/>
            <a:ext cx="4561842" cy="2893100"/>
          </a:xfrm>
          <a:prstGeom prst="rect">
            <a:avLst/>
          </a:prstGeom>
          <a:noFill/>
        </p:spPr>
        <p:txBody>
          <a:bodyPr wrap="square">
            <a:spAutoFit/>
          </a:bodyPr>
          <a:lstStyle/>
          <a:p>
            <a:r>
              <a:rPr lang="en-IN" sz="1400" dirty="0">
                <a:latin typeface="Times New Roman" panose="02020603050405020304" pitchFamily="18" charset="0"/>
                <a:cs typeface="Times New Roman" panose="02020603050405020304" pitchFamily="18" charset="0"/>
              </a:rPr>
              <a:t>FOR each </a:t>
            </a:r>
            <a:r>
              <a:rPr lang="en-IN" sz="1400" dirty="0" err="1">
                <a:latin typeface="Times New Roman" panose="02020603050405020304" pitchFamily="18" charset="0"/>
                <a:cs typeface="Times New Roman" panose="02020603050405020304" pitchFamily="18" charset="0"/>
              </a:rPr>
              <a:t>test_sample</a:t>
            </a:r>
            <a:r>
              <a:rPr lang="en-IN" sz="1400" dirty="0">
                <a:latin typeface="Times New Roman" panose="02020603050405020304" pitchFamily="18" charset="0"/>
                <a:cs typeface="Times New Roman" panose="02020603050405020304" pitchFamily="18" charset="0"/>
              </a:rPr>
              <a:t> DO</a:t>
            </a:r>
          </a:p>
          <a:p>
            <a:r>
              <a:rPr lang="en-IN" sz="1400" dirty="0">
                <a:latin typeface="Times New Roman" panose="02020603050405020304" pitchFamily="18" charset="0"/>
                <a:cs typeface="Times New Roman" panose="02020603050405020304" pitchFamily="18" charset="0"/>
              </a:rPr>
              <a:t>    EXTRACT features (visual + temporal + audio)</a:t>
            </a:r>
          </a:p>
          <a:p>
            <a:r>
              <a:rPr lang="en-IN" sz="1400" dirty="0">
                <a:latin typeface="Times New Roman" panose="02020603050405020304" pitchFamily="18" charset="0"/>
                <a:cs typeface="Times New Roman" panose="02020603050405020304" pitchFamily="18" charset="0"/>
              </a:rPr>
              <a:t>    FUSE features into </a:t>
            </a:r>
            <a:r>
              <a:rPr lang="en-IN" sz="1400" dirty="0" err="1">
                <a:latin typeface="Times New Roman" panose="02020603050405020304" pitchFamily="18" charset="0"/>
                <a:cs typeface="Times New Roman" panose="02020603050405020304" pitchFamily="18" charset="0"/>
              </a:rPr>
              <a:t>test_vector</a:t>
            </a:r>
            <a:endParaRPr lang="en-IN"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    PREDICT result using </a:t>
            </a:r>
            <a:r>
              <a:rPr lang="en-IN" sz="1400" dirty="0" err="1">
                <a:latin typeface="Times New Roman" panose="02020603050405020304" pitchFamily="18" charset="0"/>
                <a:cs typeface="Times New Roman" panose="02020603050405020304" pitchFamily="18" charset="0"/>
              </a:rPr>
              <a:t>Multimodal_Model</a:t>
            </a:r>
            <a:r>
              <a:rPr lang="en-IN" sz="1400" dirty="0">
                <a:latin typeface="Times New Roman" panose="02020603050405020304" pitchFamily="18" charset="0"/>
                <a:cs typeface="Times New Roman" panose="02020603050405020304" pitchFamily="18" charset="0"/>
              </a:rPr>
              <a:t> </a:t>
            </a:r>
          </a:p>
          <a:p>
            <a:r>
              <a:rPr lang="en-IN" sz="1400" dirty="0">
                <a:latin typeface="Times New Roman" panose="02020603050405020304" pitchFamily="18" charset="0"/>
                <a:cs typeface="Times New Roman" panose="02020603050405020304" pitchFamily="18" charset="0"/>
              </a:rPr>
              <a:t>    IF prediction == deepfake THEN</a:t>
            </a:r>
          </a:p>
          <a:p>
            <a:r>
              <a:rPr lang="en-IN" sz="1400" dirty="0">
                <a:latin typeface="Times New Roman" panose="02020603050405020304" pitchFamily="18" charset="0"/>
                <a:cs typeface="Times New Roman" panose="02020603050405020304" pitchFamily="18" charset="0"/>
              </a:rPr>
              <a:t>        LABEL as "Fake"</a:t>
            </a:r>
          </a:p>
          <a:p>
            <a:r>
              <a:rPr lang="en-IN" sz="1400" dirty="0">
                <a:latin typeface="Times New Roman" panose="02020603050405020304" pitchFamily="18" charset="0"/>
                <a:cs typeface="Times New Roman" panose="02020603050405020304" pitchFamily="18" charset="0"/>
              </a:rPr>
              <a:t>    ELSE</a:t>
            </a:r>
          </a:p>
          <a:p>
            <a:r>
              <a:rPr lang="en-IN" sz="1400" dirty="0">
                <a:latin typeface="Times New Roman" panose="02020603050405020304" pitchFamily="18" charset="0"/>
                <a:cs typeface="Times New Roman" panose="02020603050405020304" pitchFamily="18" charset="0"/>
              </a:rPr>
              <a:t>        LABEL as "Real"</a:t>
            </a:r>
          </a:p>
          <a:p>
            <a:r>
              <a:rPr lang="en-IN" sz="1400" dirty="0">
                <a:latin typeface="Times New Roman" panose="02020603050405020304" pitchFamily="18" charset="0"/>
                <a:cs typeface="Times New Roman" panose="02020603050405020304" pitchFamily="18" charset="0"/>
              </a:rPr>
              <a:t>    END IF</a:t>
            </a:r>
          </a:p>
          <a:p>
            <a:r>
              <a:rPr lang="en-IN" sz="1400" dirty="0">
                <a:latin typeface="Times New Roman" panose="02020603050405020304" pitchFamily="18" charset="0"/>
                <a:cs typeface="Times New Roman" panose="02020603050405020304" pitchFamily="18" charset="0"/>
              </a:rPr>
              <a:t>END FOR</a:t>
            </a:r>
          </a:p>
          <a:p>
            <a:r>
              <a:rPr lang="en-IN" sz="1400" dirty="0">
                <a:latin typeface="Times New Roman" panose="02020603050405020304" pitchFamily="18" charset="0"/>
                <a:cs typeface="Times New Roman" panose="02020603050405020304" pitchFamily="18" charset="0"/>
              </a:rPr>
              <a:t>CALCULATE accuracy, precision, recall, F1-score</a:t>
            </a:r>
          </a:p>
          <a:p>
            <a:r>
              <a:rPr lang="en-IN" sz="1400" dirty="0">
                <a:latin typeface="Times New Roman" panose="02020603050405020304" pitchFamily="18" charset="0"/>
                <a:cs typeface="Times New Roman" panose="02020603050405020304" pitchFamily="18" charset="0"/>
              </a:rPr>
              <a:t>DISPLAY performance metrics</a:t>
            </a:r>
          </a:p>
          <a:p>
            <a:r>
              <a:rPr lang="en-IN" sz="1400" dirty="0">
                <a:latin typeface="Times New Roman" panose="02020603050405020304" pitchFamily="18" charset="0"/>
                <a:cs typeface="Times New Roman" panose="02020603050405020304" pitchFamily="18" charset="0"/>
              </a:rPr>
              <a:t>END</a:t>
            </a:r>
          </a:p>
        </p:txBody>
      </p:sp>
    </p:spTree>
    <p:extLst>
      <p:ext uri="{BB962C8B-B14F-4D97-AF65-F5344CB8AC3E}">
        <p14:creationId xmlns:p14="http://schemas.microsoft.com/office/powerpoint/2010/main" val="42281911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7FC2CD8-97FC-8EF8-C278-B6FB94850634}"/>
              </a:ext>
            </a:extLst>
          </p:cNvPr>
          <p:cNvPicPr/>
          <p:nvPr/>
        </p:nvPicPr>
        <p:blipFill>
          <a:blip r:embed="rId2"/>
          <a:stretch>
            <a:fillRect/>
          </a:stretch>
        </p:blipFill>
        <p:spPr>
          <a:xfrm>
            <a:off x="447040" y="87900"/>
            <a:ext cx="11074400" cy="1264555"/>
          </a:xfrm>
          <a:prstGeom prst="rect">
            <a:avLst/>
          </a:prstGeom>
        </p:spPr>
      </p:pic>
      <p:sp>
        <p:nvSpPr>
          <p:cNvPr id="7" name="TextBox 6">
            <a:extLst>
              <a:ext uri="{FF2B5EF4-FFF2-40B4-BE49-F238E27FC236}">
                <a16:creationId xmlns:a16="http://schemas.microsoft.com/office/drawing/2014/main" id="{65DAFFF2-835A-4F93-EFF1-57173DFA4684}"/>
              </a:ext>
            </a:extLst>
          </p:cNvPr>
          <p:cNvSpPr txBox="1"/>
          <p:nvPr/>
        </p:nvSpPr>
        <p:spPr>
          <a:xfrm>
            <a:off x="1752600" y="1384110"/>
            <a:ext cx="8686800" cy="1200329"/>
          </a:xfrm>
          <a:prstGeom prst="rect">
            <a:avLst/>
          </a:prstGeom>
          <a:noFill/>
        </p:spPr>
        <p:txBody>
          <a:bodyPr wrap="square">
            <a:spAutoFit/>
          </a:bodyPr>
          <a:lstStyle/>
          <a:p>
            <a:pPr algn="ctr"/>
            <a:r>
              <a:rPr lang="en-US" sz="3600" b="1" dirty="0">
                <a:latin typeface="Times New Roman" panose="02020603050405020304" pitchFamily="18" charset="0"/>
                <a:cs typeface="Times New Roman" panose="02020603050405020304" pitchFamily="18" charset="0"/>
              </a:rPr>
              <a:t>COMPARSION ALGORITHM</a:t>
            </a:r>
            <a:br>
              <a:rPr lang="en-US" sz="3600" b="1" dirty="0">
                <a:latin typeface="Times New Roman" panose="02020603050405020304" pitchFamily="18" charset="0"/>
                <a:cs typeface="Times New Roman" panose="02020603050405020304" pitchFamily="18" charset="0"/>
              </a:rPr>
            </a:br>
            <a:r>
              <a:rPr lang="en-US" sz="3600" b="1" dirty="0">
                <a:latin typeface="Times New Roman" panose="02020603050405020304" pitchFamily="18" charset="0"/>
                <a:cs typeface="Times New Roman" panose="02020603050405020304" pitchFamily="18" charset="0"/>
              </a:rPr>
              <a:t>Existing-Explainable Artificial Intelligence</a:t>
            </a:r>
            <a:endParaRPr lang="en-IN" sz="3600" dirty="0"/>
          </a:p>
        </p:txBody>
      </p:sp>
      <p:sp>
        <p:nvSpPr>
          <p:cNvPr id="9" name="TextBox 8">
            <a:extLst>
              <a:ext uri="{FF2B5EF4-FFF2-40B4-BE49-F238E27FC236}">
                <a16:creationId xmlns:a16="http://schemas.microsoft.com/office/drawing/2014/main" id="{483DDD6F-8005-9CCD-7789-C855E400410E}"/>
              </a:ext>
            </a:extLst>
          </p:cNvPr>
          <p:cNvSpPr txBox="1"/>
          <p:nvPr/>
        </p:nvSpPr>
        <p:spPr>
          <a:xfrm>
            <a:off x="223520" y="2567918"/>
            <a:ext cx="11877040" cy="1384995"/>
          </a:xfrm>
          <a:prstGeom prst="rect">
            <a:avLst/>
          </a:prstGeom>
          <a:noFill/>
        </p:spPr>
        <p:txBody>
          <a:bodyPr wrap="square">
            <a:spAutoFit/>
          </a:bodyPr>
          <a:lstStyle/>
          <a:p>
            <a:r>
              <a:rPr lang="en-US" b="1" dirty="0" err="1">
                <a:latin typeface="Times New Roman" panose="02020603050405020304" pitchFamily="18" charset="0"/>
                <a:cs typeface="Times New Roman" panose="02020603050405020304" pitchFamily="18" charset="0"/>
              </a:rPr>
              <a:t>Defintion</a:t>
            </a:r>
            <a:r>
              <a:rPr lang="en-US" b="1" dirty="0">
                <a:latin typeface="Times New Roman" panose="02020603050405020304" pitchFamily="18" charset="0"/>
                <a:cs typeface="Times New Roman" panose="02020603050405020304" pitchFamily="18" charset="0"/>
              </a:rPr>
              <a:t>:</a:t>
            </a:r>
          </a:p>
          <a:p>
            <a:r>
              <a:rPr lang="en-US" sz="18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An Explainable AI (XAI)-based detection algorithm combines deep learning models with interpretability techniques (such as feature attribution or saliency maps) to identify deepfakes while providing human-understandable explanations for its decisions. It focuses on highlighting manipulated regions and decision factors, improving transparency, though it may not always achieve the same detection performance as advanced multimodal models.</a:t>
            </a:r>
            <a:endParaRPr lang="en-IN" sz="1600"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A54812D5-85BA-4896-BD12-8B2C4CD35261}"/>
              </a:ext>
            </a:extLst>
          </p:cNvPr>
          <p:cNvSpPr txBox="1"/>
          <p:nvPr/>
        </p:nvSpPr>
        <p:spPr>
          <a:xfrm>
            <a:off x="1036320" y="4021939"/>
            <a:ext cx="3921760" cy="2677656"/>
          </a:xfrm>
          <a:prstGeom prst="rect">
            <a:avLst/>
          </a:prstGeom>
          <a:noFill/>
        </p:spPr>
        <p:txBody>
          <a:bodyPr wrap="square">
            <a:spAutoFit/>
          </a:bodyPr>
          <a:lstStyle/>
          <a:p>
            <a:r>
              <a:rPr lang="en-IN" sz="1400" dirty="0">
                <a:latin typeface="Times New Roman" panose="02020603050405020304" pitchFamily="18" charset="0"/>
                <a:cs typeface="Times New Roman" panose="02020603050405020304" pitchFamily="18" charset="0"/>
              </a:rPr>
              <a:t>START</a:t>
            </a:r>
          </a:p>
          <a:p>
            <a:r>
              <a:rPr lang="en-IN" sz="1400" dirty="0">
                <a:latin typeface="Times New Roman" panose="02020603050405020304" pitchFamily="18" charset="0"/>
                <a:cs typeface="Times New Roman" panose="02020603050405020304" pitchFamily="18" charset="0"/>
              </a:rPr>
              <a:t>INPUT dataset</a:t>
            </a:r>
          </a:p>
          <a:p>
            <a:r>
              <a:rPr lang="en-IN" sz="1400" dirty="0">
                <a:latin typeface="Times New Roman" panose="02020603050405020304" pitchFamily="18" charset="0"/>
                <a:cs typeface="Times New Roman" panose="02020603050405020304" pitchFamily="18" charset="0"/>
              </a:rPr>
              <a:t>PREPROCESS data:    </a:t>
            </a:r>
          </a:p>
          <a:p>
            <a:r>
              <a:rPr lang="en-IN" sz="1400" dirty="0">
                <a:latin typeface="Times New Roman" panose="02020603050405020304" pitchFamily="18" charset="0"/>
                <a:cs typeface="Times New Roman" panose="02020603050405020304" pitchFamily="18" charset="0"/>
              </a:rPr>
              <a:t>   Remove missing values                 </a:t>
            </a:r>
          </a:p>
          <a:p>
            <a:r>
              <a:rPr lang="en-IN" sz="1400" dirty="0">
                <a:latin typeface="Times New Roman" panose="02020603050405020304" pitchFamily="18" charset="0"/>
                <a:cs typeface="Times New Roman" panose="02020603050405020304" pitchFamily="18" charset="0"/>
              </a:rPr>
              <a:t>   Normalize features</a:t>
            </a:r>
          </a:p>
          <a:p>
            <a:r>
              <a:rPr lang="en-IN" sz="1400" dirty="0">
                <a:latin typeface="Times New Roman" panose="02020603050405020304" pitchFamily="18" charset="0"/>
                <a:cs typeface="Times New Roman" panose="02020603050405020304" pitchFamily="18" charset="0"/>
              </a:rPr>
              <a:t>DEFINE target label (Fake / Real)</a:t>
            </a:r>
          </a:p>
          <a:p>
            <a:r>
              <a:rPr lang="en-IN" sz="1400" dirty="0">
                <a:latin typeface="Times New Roman" panose="02020603050405020304" pitchFamily="18" charset="0"/>
                <a:cs typeface="Times New Roman" panose="02020603050405020304" pitchFamily="18" charset="0"/>
              </a:rPr>
              <a:t>SPLIT dataset into training and testing</a:t>
            </a:r>
          </a:p>
          <a:p>
            <a:r>
              <a:rPr lang="en-IN" sz="1400" dirty="0">
                <a:latin typeface="Times New Roman" panose="02020603050405020304" pitchFamily="18" charset="0"/>
                <a:cs typeface="Times New Roman" panose="02020603050405020304" pitchFamily="18" charset="0"/>
              </a:rPr>
              <a:t>XAI MODEL (Existing)</a:t>
            </a:r>
          </a:p>
          <a:p>
            <a:r>
              <a:rPr lang="en-IN" sz="1400" dirty="0">
                <a:latin typeface="Times New Roman" panose="02020603050405020304" pitchFamily="18" charset="0"/>
                <a:cs typeface="Times New Roman" panose="02020603050405020304" pitchFamily="18" charset="0"/>
              </a:rPr>
              <a:t>INITIALIZE classifier (Random Forest / </a:t>
            </a:r>
            <a:r>
              <a:rPr lang="en-IN" sz="1400" dirty="0" err="1">
                <a:latin typeface="Times New Roman" panose="02020603050405020304" pitchFamily="18" charset="0"/>
                <a:cs typeface="Times New Roman" panose="02020603050405020304" pitchFamily="18" charset="0"/>
              </a:rPr>
              <a:t>XGBoost</a:t>
            </a:r>
            <a:r>
              <a:rPr lang="en-IN" sz="1400" dirty="0">
                <a:latin typeface="Times New Roman" panose="02020603050405020304" pitchFamily="18" charset="0"/>
                <a:cs typeface="Times New Roman" panose="02020603050405020304" pitchFamily="18" charset="0"/>
              </a:rPr>
              <a:t>)</a:t>
            </a:r>
          </a:p>
          <a:p>
            <a:r>
              <a:rPr lang="en-IN" sz="1400" dirty="0">
                <a:latin typeface="Times New Roman" panose="02020603050405020304" pitchFamily="18" charset="0"/>
                <a:cs typeface="Times New Roman" panose="02020603050405020304" pitchFamily="18" charset="0"/>
              </a:rPr>
              <a:t>TRAIN model</a:t>
            </a:r>
          </a:p>
          <a:p>
            <a:r>
              <a:rPr lang="en-IN" sz="1400" dirty="0">
                <a:latin typeface="Times New Roman" panose="02020603050405020304" pitchFamily="18" charset="0"/>
                <a:cs typeface="Times New Roman" panose="02020603050405020304" pitchFamily="18" charset="0"/>
              </a:rPr>
              <a:t>APPLY explainability method (SHAP /LIME)TEST </a:t>
            </a:r>
            <a:r>
              <a:rPr lang="en-IN" sz="1400" dirty="0" err="1">
                <a:latin typeface="Times New Roman" panose="02020603050405020304" pitchFamily="18" charset="0"/>
                <a:cs typeface="Times New Roman" panose="02020603050405020304" pitchFamily="18" charset="0"/>
              </a:rPr>
              <a:t>modelSTORE</a:t>
            </a:r>
            <a:r>
              <a:rPr lang="en-IN" sz="1400" dirty="0">
                <a:latin typeface="Times New Roman" panose="02020603050405020304" pitchFamily="18" charset="0"/>
                <a:cs typeface="Times New Roman" panose="02020603050405020304" pitchFamily="18" charset="0"/>
              </a:rPr>
              <a:t> results as </a:t>
            </a:r>
            <a:r>
              <a:rPr lang="en-IN" sz="1400" dirty="0" err="1">
                <a:latin typeface="Times New Roman" panose="02020603050405020304" pitchFamily="18" charset="0"/>
                <a:cs typeface="Times New Roman" panose="02020603050405020304" pitchFamily="18" charset="0"/>
              </a:rPr>
              <a:t>xai_output</a:t>
            </a:r>
            <a:endParaRPr lang="en-IN" sz="1400"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0763505C-1466-64F6-3BFE-859CA78ACB5B}"/>
              </a:ext>
            </a:extLst>
          </p:cNvPr>
          <p:cNvSpPr txBox="1"/>
          <p:nvPr/>
        </p:nvSpPr>
        <p:spPr>
          <a:xfrm>
            <a:off x="6705600" y="4064615"/>
            <a:ext cx="3108960" cy="2462213"/>
          </a:xfrm>
          <a:prstGeom prst="rect">
            <a:avLst/>
          </a:prstGeom>
          <a:noFill/>
        </p:spPr>
        <p:txBody>
          <a:bodyPr wrap="square">
            <a:spAutoFit/>
          </a:bodyPr>
          <a:lstStyle/>
          <a:p>
            <a:r>
              <a:rPr lang="en-IN" sz="1400" dirty="0">
                <a:latin typeface="Times New Roman" panose="02020603050405020304" pitchFamily="18" charset="0"/>
                <a:cs typeface="Times New Roman" panose="02020603050405020304" pitchFamily="18" charset="0"/>
              </a:rPr>
              <a:t>MULTIMODAL AI MODEL (Proposed)</a:t>
            </a:r>
          </a:p>
          <a:p>
            <a:r>
              <a:rPr lang="en-IN" sz="1400" dirty="0">
                <a:latin typeface="Times New Roman" panose="02020603050405020304" pitchFamily="18" charset="0"/>
                <a:cs typeface="Times New Roman" panose="02020603050405020304" pitchFamily="18" charset="0"/>
              </a:rPr>
              <a:t>EXTRACT image, audio, and temporal features</a:t>
            </a:r>
          </a:p>
          <a:p>
            <a:r>
              <a:rPr lang="en-IN" sz="1400" dirty="0">
                <a:latin typeface="Times New Roman" panose="02020603050405020304" pitchFamily="18" charset="0"/>
                <a:cs typeface="Times New Roman" panose="02020603050405020304" pitchFamily="18" charset="0"/>
              </a:rPr>
              <a:t>COMBINE features</a:t>
            </a:r>
          </a:p>
          <a:p>
            <a:r>
              <a:rPr lang="en-IN" sz="1400" dirty="0">
                <a:latin typeface="Times New Roman" panose="02020603050405020304" pitchFamily="18" charset="0"/>
                <a:cs typeface="Times New Roman" panose="02020603050405020304" pitchFamily="18" charset="0"/>
              </a:rPr>
              <a:t>TRAIN multimodal model</a:t>
            </a:r>
          </a:p>
          <a:p>
            <a:r>
              <a:rPr lang="en-IN" sz="1400" dirty="0">
                <a:latin typeface="Times New Roman" panose="02020603050405020304" pitchFamily="18" charset="0"/>
                <a:cs typeface="Times New Roman" panose="02020603050405020304" pitchFamily="18" charset="0"/>
              </a:rPr>
              <a:t>TEST model</a:t>
            </a:r>
          </a:p>
          <a:p>
            <a:r>
              <a:rPr lang="en-IN" sz="1400" dirty="0">
                <a:latin typeface="Times New Roman" panose="02020603050405020304" pitchFamily="18" charset="0"/>
                <a:cs typeface="Times New Roman" panose="02020603050405020304" pitchFamily="18" charset="0"/>
              </a:rPr>
              <a:t>STORE results as </a:t>
            </a:r>
            <a:r>
              <a:rPr lang="en-IN" sz="1400" dirty="0" err="1">
                <a:latin typeface="Times New Roman" panose="02020603050405020304" pitchFamily="18" charset="0"/>
                <a:cs typeface="Times New Roman" panose="02020603050405020304" pitchFamily="18" charset="0"/>
              </a:rPr>
              <a:t>multi_output</a:t>
            </a:r>
            <a:endParaRPr lang="en-IN"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EVALUATION</a:t>
            </a:r>
          </a:p>
          <a:p>
            <a:r>
              <a:rPr lang="en-IN" sz="1400" dirty="0">
                <a:latin typeface="Times New Roman" panose="02020603050405020304" pitchFamily="18" charset="0"/>
                <a:cs typeface="Times New Roman" panose="02020603050405020304" pitchFamily="18" charset="0"/>
              </a:rPr>
              <a:t>CALCULATE performance metrics</a:t>
            </a:r>
          </a:p>
          <a:p>
            <a:r>
              <a:rPr lang="en-IN" sz="1400" dirty="0">
                <a:latin typeface="Times New Roman" panose="02020603050405020304" pitchFamily="18" charset="0"/>
                <a:cs typeface="Times New Roman" panose="02020603050405020304" pitchFamily="18" charset="0"/>
              </a:rPr>
              <a:t>COMPARE </a:t>
            </a:r>
            <a:r>
              <a:rPr lang="en-IN" sz="1400" dirty="0" err="1">
                <a:latin typeface="Times New Roman" panose="02020603050405020304" pitchFamily="18" charset="0"/>
                <a:cs typeface="Times New Roman" panose="02020603050405020304" pitchFamily="18" charset="0"/>
              </a:rPr>
              <a:t>xai_output</a:t>
            </a:r>
            <a:r>
              <a:rPr lang="en-IN" sz="1400" dirty="0">
                <a:latin typeface="Times New Roman" panose="02020603050405020304" pitchFamily="18" charset="0"/>
                <a:cs typeface="Times New Roman" panose="02020603050405020304" pitchFamily="18" charset="0"/>
              </a:rPr>
              <a:t> and </a:t>
            </a:r>
            <a:r>
              <a:rPr lang="en-IN" sz="1400" dirty="0" err="1">
                <a:latin typeface="Times New Roman" panose="02020603050405020304" pitchFamily="18" charset="0"/>
                <a:cs typeface="Times New Roman" panose="02020603050405020304" pitchFamily="18" charset="0"/>
              </a:rPr>
              <a:t>multi_output</a:t>
            </a:r>
            <a:endParaRPr lang="en-IN"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DISPLAY </a:t>
            </a:r>
            <a:r>
              <a:rPr lang="en-IN" sz="1400" dirty="0" err="1">
                <a:latin typeface="Times New Roman" panose="02020603050405020304" pitchFamily="18" charset="0"/>
                <a:cs typeface="Times New Roman" panose="02020603050405020304" pitchFamily="18" charset="0"/>
              </a:rPr>
              <a:t>resultsEND</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292075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1EA0BA2-942B-50DC-7B89-3C559FBB9AF1}"/>
              </a:ext>
            </a:extLst>
          </p:cNvPr>
          <p:cNvPicPr/>
          <p:nvPr/>
        </p:nvPicPr>
        <p:blipFill>
          <a:blip r:embed="rId2"/>
          <a:stretch>
            <a:fillRect/>
          </a:stretch>
        </p:blipFill>
        <p:spPr>
          <a:xfrm>
            <a:off x="703324" y="9599"/>
            <a:ext cx="10785352" cy="1137920"/>
          </a:xfrm>
          <a:prstGeom prst="rect">
            <a:avLst/>
          </a:prstGeom>
        </p:spPr>
      </p:pic>
      <p:sp>
        <p:nvSpPr>
          <p:cNvPr id="7" name="TextBox 6">
            <a:extLst>
              <a:ext uri="{FF2B5EF4-FFF2-40B4-BE49-F238E27FC236}">
                <a16:creationId xmlns:a16="http://schemas.microsoft.com/office/drawing/2014/main" id="{CB473F3C-D50B-4E73-F04C-76B52C1B7165}"/>
              </a:ext>
            </a:extLst>
          </p:cNvPr>
          <p:cNvSpPr txBox="1"/>
          <p:nvPr/>
        </p:nvSpPr>
        <p:spPr>
          <a:xfrm>
            <a:off x="2809240" y="981749"/>
            <a:ext cx="6096000" cy="707886"/>
          </a:xfrm>
          <a:prstGeom prst="rect">
            <a:avLst/>
          </a:prstGeom>
          <a:noFill/>
        </p:spPr>
        <p:txBody>
          <a:bodyPr wrap="square">
            <a:spAutoFit/>
          </a:bodyPr>
          <a:lstStyle/>
          <a:p>
            <a:pPr algn="ctr"/>
            <a:r>
              <a:rPr lang="en-US" sz="4000" b="1" dirty="0">
                <a:latin typeface="Times New Roman" panose="02020603050405020304" pitchFamily="18" charset="0"/>
                <a:cs typeface="Times New Roman" panose="02020603050405020304" pitchFamily="18" charset="0"/>
              </a:rPr>
              <a:t>PROCESS</a:t>
            </a:r>
            <a:endParaRPr lang="en-IN" sz="4000" dirty="0"/>
          </a:p>
        </p:txBody>
      </p:sp>
      <p:sp>
        <p:nvSpPr>
          <p:cNvPr id="10" name="TextBox 9">
            <a:extLst>
              <a:ext uri="{FF2B5EF4-FFF2-40B4-BE49-F238E27FC236}">
                <a16:creationId xmlns:a16="http://schemas.microsoft.com/office/drawing/2014/main" id="{EE4ED819-D52B-EB1E-B66D-EDA2375C2B8F}"/>
              </a:ext>
            </a:extLst>
          </p:cNvPr>
          <p:cNvSpPr txBox="1"/>
          <p:nvPr/>
        </p:nvSpPr>
        <p:spPr>
          <a:xfrm>
            <a:off x="460474" y="1523866"/>
            <a:ext cx="3188399" cy="5324535"/>
          </a:xfrm>
          <a:prstGeom prst="rect">
            <a:avLst/>
          </a:prstGeom>
          <a:noFill/>
        </p:spPr>
        <p:txBody>
          <a:bodyPr wrap="square">
            <a:spAutoFit/>
          </a:bodyPr>
          <a:lstStyle/>
          <a:p>
            <a:r>
              <a:rPr lang="en-IN" sz="1400" dirty="0">
                <a:latin typeface="Times New Roman" panose="02020603050405020304" pitchFamily="18" charset="0"/>
                <a:cs typeface="Times New Roman" panose="02020603050405020304" pitchFamily="18" charset="0"/>
              </a:rPr>
              <a:t>START</a:t>
            </a:r>
          </a:p>
          <a:p>
            <a:r>
              <a:rPr lang="en-IN" sz="1400" dirty="0">
                <a:latin typeface="Times New Roman" panose="02020603050405020304" pitchFamily="18" charset="0"/>
                <a:cs typeface="Times New Roman" panose="02020603050405020304" pitchFamily="18" charset="0"/>
              </a:rPr>
              <a:t>INPUT dataset D (images, videos, audio)</a:t>
            </a:r>
          </a:p>
          <a:p>
            <a:r>
              <a:rPr lang="en-IN" sz="1400" dirty="0">
                <a:latin typeface="Times New Roman" panose="02020603050405020304" pitchFamily="18" charset="0"/>
                <a:cs typeface="Times New Roman" panose="02020603050405020304" pitchFamily="18" charset="0"/>
              </a:rPr>
              <a:t>INPUT labels L (Fake / Real)</a:t>
            </a:r>
          </a:p>
          <a:p>
            <a:r>
              <a:rPr lang="en-IN" sz="1400" dirty="0">
                <a:latin typeface="Times New Roman" panose="02020603050405020304" pitchFamily="18" charset="0"/>
                <a:cs typeface="Times New Roman" panose="02020603050405020304" pitchFamily="18" charset="0"/>
              </a:rPr>
              <a:t>DATA PREPROCESSING</a:t>
            </a:r>
          </a:p>
          <a:p>
            <a:r>
              <a:rPr lang="en-IN" sz="1400" dirty="0">
                <a:latin typeface="Times New Roman" panose="02020603050405020304" pitchFamily="18" charset="0"/>
                <a:cs typeface="Times New Roman" panose="02020603050405020304" pitchFamily="18" charset="0"/>
              </a:rPr>
              <a:t>REMOVE missing values from D</a:t>
            </a:r>
          </a:p>
          <a:p>
            <a:r>
              <a:rPr lang="en-IN" sz="1400" dirty="0">
                <a:latin typeface="Times New Roman" panose="02020603050405020304" pitchFamily="18" charset="0"/>
                <a:cs typeface="Times New Roman" panose="02020603050405020304" pitchFamily="18" charset="0"/>
              </a:rPr>
              <a:t>NORMALIZE all features in D</a:t>
            </a:r>
          </a:p>
          <a:p>
            <a:r>
              <a:rPr lang="en-IN" sz="1400" dirty="0">
                <a:latin typeface="Times New Roman" panose="02020603050405020304" pitchFamily="18" charset="0"/>
                <a:cs typeface="Times New Roman" panose="02020603050405020304" pitchFamily="18" charset="0"/>
              </a:rPr>
              <a:t>DATA SPLITTING</a:t>
            </a:r>
          </a:p>
          <a:p>
            <a:r>
              <a:rPr lang="en-IN" sz="1400" dirty="0">
                <a:latin typeface="Times New Roman" panose="02020603050405020304" pitchFamily="18" charset="0"/>
                <a:cs typeface="Times New Roman" panose="02020603050405020304" pitchFamily="18" charset="0"/>
              </a:rPr>
              <a:t>SPLIT D and L INTO:    </a:t>
            </a:r>
          </a:p>
          <a:p>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Training_Set</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Train_X</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Train_Y</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Testing_Set</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Test_X</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Test_Y</a:t>
            </a:r>
            <a:r>
              <a:rPr lang="en-IN" sz="1400" dirty="0">
                <a:latin typeface="Times New Roman" panose="02020603050405020304" pitchFamily="18" charset="0"/>
                <a:cs typeface="Times New Roman" panose="02020603050405020304" pitchFamily="18" charset="0"/>
              </a:rPr>
              <a:t>)</a:t>
            </a:r>
          </a:p>
          <a:p>
            <a:r>
              <a:rPr lang="en-IN" sz="1400" dirty="0">
                <a:latin typeface="Times New Roman" panose="02020603050405020304" pitchFamily="18" charset="0"/>
                <a:cs typeface="Times New Roman" panose="02020603050405020304" pitchFamily="18" charset="0"/>
              </a:rPr>
              <a:t>XAI MODEL (Existing)</a:t>
            </a:r>
          </a:p>
          <a:p>
            <a:r>
              <a:rPr lang="en-IN" sz="1400" dirty="0">
                <a:latin typeface="Times New Roman" panose="02020603050405020304" pitchFamily="18" charset="0"/>
                <a:cs typeface="Times New Roman" panose="02020603050405020304" pitchFamily="18" charset="0"/>
              </a:rPr>
              <a:t>INITIALIZE </a:t>
            </a:r>
            <a:r>
              <a:rPr lang="en-IN" sz="1400" dirty="0" err="1">
                <a:latin typeface="Times New Roman" panose="02020603050405020304" pitchFamily="18" charset="0"/>
                <a:cs typeface="Times New Roman" panose="02020603050405020304" pitchFamily="18" charset="0"/>
              </a:rPr>
              <a:t>Classifier_Model</a:t>
            </a:r>
            <a:r>
              <a:rPr lang="en-IN" sz="1400" dirty="0">
                <a:latin typeface="Times New Roman" panose="02020603050405020304" pitchFamily="18" charset="0"/>
                <a:cs typeface="Times New Roman" panose="02020603050405020304" pitchFamily="18" charset="0"/>
              </a:rPr>
              <a:t> (Random Forest / </a:t>
            </a:r>
            <a:r>
              <a:rPr lang="en-IN" sz="1400" dirty="0" err="1">
                <a:latin typeface="Times New Roman" panose="02020603050405020304" pitchFamily="18" charset="0"/>
                <a:cs typeface="Times New Roman" panose="02020603050405020304" pitchFamily="18" charset="0"/>
              </a:rPr>
              <a:t>XGBoost</a:t>
            </a:r>
            <a:r>
              <a:rPr lang="en-IN" sz="1400" dirty="0">
                <a:latin typeface="Times New Roman" panose="02020603050405020304" pitchFamily="18" charset="0"/>
                <a:cs typeface="Times New Roman" panose="02020603050405020304" pitchFamily="18" charset="0"/>
              </a:rPr>
              <a:t>)</a:t>
            </a:r>
          </a:p>
          <a:p>
            <a:r>
              <a:rPr lang="en-IN" sz="1400" dirty="0">
                <a:latin typeface="Times New Roman" panose="02020603050405020304" pitchFamily="18" charset="0"/>
                <a:cs typeface="Times New Roman" panose="02020603050405020304" pitchFamily="18" charset="0"/>
              </a:rPr>
              <a:t>TRAIN </a:t>
            </a:r>
            <a:r>
              <a:rPr lang="en-IN" sz="1400" dirty="0" err="1">
                <a:latin typeface="Times New Roman" panose="02020603050405020304" pitchFamily="18" charset="0"/>
                <a:cs typeface="Times New Roman" panose="02020603050405020304" pitchFamily="18" charset="0"/>
              </a:rPr>
              <a:t>Classifier_Model</a:t>
            </a:r>
            <a:r>
              <a:rPr lang="en-IN" sz="1400" dirty="0">
                <a:latin typeface="Times New Roman" panose="02020603050405020304" pitchFamily="18" charset="0"/>
                <a:cs typeface="Times New Roman" panose="02020603050405020304" pitchFamily="18" charset="0"/>
              </a:rPr>
              <a:t> using </a:t>
            </a:r>
            <a:r>
              <a:rPr lang="en-IN" sz="1400" dirty="0" err="1">
                <a:latin typeface="Times New Roman" panose="02020603050405020304" pitchFamily="18" charset="0"/>
                <a:cs typeface="Times New Roman" panose="02020603050405020304" pitchFamily="18" charset="0"/>
              </a:rPr>
              <a:t>Train_X</a:t>
            </a:r>
            <a:r>
              <a:rPr lang="en-IN" sz="1400" dirty="0">
                <a:latin typeface="Times New Roman" panose="02020603050405020304" pitchFamily="18" charset="0"/>
                <a:cs typeface="Times New Roman" panose="02020603050405020304" pitchFamily="18" charset="0"/>
              </a:rPr>
              <a:t> and </a:t>
            </a:r>
            <a:r>
              <a:rPr lang="en-IN" sz="1400" dirty="0" err="1">
                <a:latin typeface="Times New Roman" panose="02020603050405020304" pitchFamily="18" charset="0"/>
                <a:cs typeface="Times New Roman" panose="02020603050405020304" pitchFamily="18" charset="0"/>
              </a:rPr>
              <a:t>Train_Y</a:t>
            </a:r>
            <a:endParaRPr lang="en-IN"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APPLY </a:t>
            </a:r>
            <a:r>
              <a:rPr lang="en-IN" sz="1400" dirty="0" err="1">
                <a:latin typeface="Times New Roman" panose="02020603050405020304" pitchFamily="18" charset="0"/>
                <a:cs typeface="Times New Roman" panose="02020603050405020304" pitchFamily="18" charset="0"/>
              </a:rPr>
              <a:t>Explainability_Method</a:t>
            </a:r>
            <a:r>
              <a:rPr lang="en-IN" sz="1400" dirty="0">
                <a:latin typeface="Times New Roman" panose="02020603050405020304" pitchFamily="18" charset="0"/>
                <a:cs typeface="Times New Roman" panose="02020603050405020304" pitchFamily="18" charset="0"/>
              </a:rPr>
              <a:t> (SHAP / LIME)</a:t>
            </a:r>
          </a:p>
          <a:p>
            <a:r>
              <a:rPr lang="en-IN" sz="1400" dirty="0">
                <a:latin typeface="Times New Roman" panose="02020603050405020304" pitchFamily="18" charset="0"/>
                <a:cs typeface="Times New Roman" panose="02020603050405020304" pitchFamily="18" charset="0"/>
              </a:rPr>
              <a:t>FOR each sample IN </a:t>
            </a:r>
            <a:r>
              <a:rPr lang="en-IN" sz="1400" dirty="0" err="1">
                <a:latin typeface="Times New Roman" panose="02020603050405020304" pitchFamily="18" charset="0"/>
                <a:cs typeface="Times New Roman" panose="02020603050405020304" pitchFamily="18" charset="0"/>
              </a:rPr>
              <a:t>Test_X</a:t>
            </a:r>
            <a:r>
              <a:rPr lang="en-IN" sz="1400" dirty="0">
                <a:latin typeface="Times New Roman" panose="02020603050405020304" pitchFamily="18" charset="0"/>
                <a:cs typeface="Times New Roman" panose="02020603050405020304" pitchFamily="18" charset="0"/>
              </a:rPr>
              <a:t> DO   </a:t>
            </a:r>
          </a:p>
          <a:p>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xai_pred</a:t>
            </a:r>
            <a:r>
              <a:rPr lang="en-IN" sz="1400" dirty="0">
                <a:latin typeface="Times New Roman" panose="02020603050405020304" pitchFamily="18" charset="0"/>
                <a:cs typeface="Times New Roman" panose="02020603050405020304" pitchFamily="18" charset="0"/>
              </a:rPr>
              <a:t> ← PREDICT using </a:t>
            </a:r>
          </a:p>
          <a:p>
            <a:r>
              <a:rPr lang="en-IN" sz="1400" dirty="0" err="1">
                <a:latin typeface="Times New Roman" panose="02020603050405020304" pitchFamily="18" charset="0"/>
                <a:cs typeface="Times New Roman" panose="02020603050405020304" pitchFamily="18" charset="0"/>
              </a:rPr>
              <a:t>Classifier_Model</a:t>
            </a:r>
            <a:r>
              <a:rPr lang="en-IN" sz="1400" dirty="0">
                <a:latin typeface="Times New Roman" panose="02020603050405020304" pitchFamily="18" charset="0"/>
                <a:cs typeface="Times New Roman" panose="02020603050405020304" pitchFamily="18" charset="0"/>
              </a:rPr>
              <a:t>    </a:t>
            </a:r>
          </a:p>
          <a:p>
            <a:r>
              <a:rPr lang="en-IN" sz="1400" dirty="0">
                <a:latin typeface="Times New Roman" panose="02020603050405020304" pitchFamily="18" charset="0"/>
                <a:cs typeface="Times New Roman" panose="02020603050405020304" pitchFamily="18" charset="0"/>
              </a:rPr>
              <a:t>   GENERATE explanation for </a:t>
            </a:r>
            <a:r>
              <a:rPr lang="en-IN" sz="1400" dirty="0" err="1">
                <a:latin typeface="Times New Roman" panose="02020603050405020304" pitchFamily="18" charset="0"/>
                <a:cs typeface="Times New Roman" panose="02020603050405020304" pitchFamily="18" charset="0"/>
              </a:rPr>
              <a:t>xai_pred</a:t>
            </a:r>
            <a:r>
              <a:rPr lang="en-IN" sz="1400" dirty="0">
                <a:latin typeface="Times New Roman" panose="02020603050405020304" pitchFamily="18" charset="0"/>
                <a:cs typeface="Times New Roman" panose="02020603050405020304" pitchFamily="18" charset="0"/>
              </a:rPr>
              <a:t>    </a:t>
            </a:r>
          </a:p>
          <a:p>
            <a:r>
              <a:rPr lang="en-IN" sz="1400" dirty="0">
                <a:latin typeface="Times New Roman" panose="02020603050405020304" pitchFamily="18" charset="0"/>
                <a:cs typeface="Times New Roman" panose="02020603050405020304" pitchFamily="18" charset="0"/>
              </a:rPr>
              <a:t>STORE </a:t>
            </a:r>
            <a:r>
              <a:rPr lang="en-IN" sz="1400" dirty="0" err="1">
                <a:latin typeface="Times New Roman" panose="02020603050405020304" pitchFamily="18" charset="0"/>
                <a:cs typeface="Times New Roman" panose="02020603050405020304" pitchFamily="18" charset="0"/>
              </a:rPr>
              <a:t>xai_pred</a:t>
            </a:r>
            <a:endParaRPr lang="en-IN"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END FOR</a:t>
            </a:r>
          </a:p>
          <a:p>
            <a:endParaRPr lang="en-IN"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0F105517-F620-9CA2-FA29-C70088567D74}"/>
              </a:ext>
            </a:extLst>
          </p:cNvPr>
          <p:cNvSpPr txBox="1"/>
          <p:nvPr/>
        </p:nvSpPr>
        <p:spPr>
          <a:xfrm>
            <a:off x="3882110" y="1523865"/>
            <a:ext cx="3661282" cy="5262979"/>
          </a:xfrm>
          <a:prstGeom prst="rect">
            <a:avLst/>
          </a:prstGeom>
          <a:noFill/>
        </p:spPr>
        <p:txBody>
          <a:bodyPr wrap="square">
            <a:spAutoFit/>
          </a:bodyPr>
          <a:lstStyle/>
          <a:p>
            <a:r>
              <a:rPr lang="en-IN" sz="1400" dirty="0">
                <a:latin typeface="Times New Roman" panose="02020603050405020304" pitchFamily="18" charset="0"/>
                <a:cs typeface="Times New Roman" panose="02020603050405020304" pitchFamily="18" charset="0"/>
              </a:rPr>
              <a:t>CALCULATE: </a:t>
            </a:r>
          </a:p>
          <a:p>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Accuracy_XAI</a:t>
            </a:r>
            <a:r>
              <a:rPr lang="en-IN" sz="1400" dirty="0">
                <a:latin typeface="Times New Roman" panose="02020603050405020304" pitchFamily="18" charset="0"/>
                <a:cs typeface="Times New Roman" panose="02020603050405020304" pitchFamily="18" charset="0"/>
              </a:rPr>
              <a:t> </a:t>
            </a:r>
          </a:p>
          <a:p>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Precision_XAI</a:t>
            </a:r>
            <a:r>
              <a:rPr lang="en-IN" sz="1400" dirty="0">
                <a:latin typeface="Times New Roman" panose="02020603050405020304" pitchFamily="18" charset="0"/>
                <a:cs typeface="Times New Roman" panose="02020603050405020304" pitchFamily="18" charset="0"/>
              </a:rPr>
              <a:t>    </a:t>
            </a:r>
          </a:p>
          <a:p>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Recall_XAI</a:t>
            </a:r>
            <a:r>
              <a:rPr lang="en-IN" sz="1400" dirty="0">
                <a:latin typeface="Times New Roman" panose="02020603050405020304" pitchFamily="18" charset="0"/>
                <a:cs typeface="Times New Roman" panose="02020603050405020304" pitchFamily="18" charset="0"/>
              </a:rPr>
              <a:t>  </a:t>
            </a:r>
          </a:p>
          <a:p>
            <a:r>
              <a:rPr lang="en-IN" sz="1400" dirty="0">
                <a:latin typeface="Times New Roman" panose="02020603050405020304" pitchFamily="18" charset="0"/>
                <a:cs typeface="Times New Roman" panose="02020603050405020304" pitchFamily="18" charset="0"/>
              </a:rPr>
              <a:t>       F1_XAI</a:t>
            </a:r>
          </a:p>
          <a:p>
            <a:r>
              <a:rPr lang="en-IN" sz="1400" dirty="0">
                <a:latin typeface="Times New Roman" panose="02020603050405020304" pitchFamily="18" charset="0"/>
                <a:cs typeface="Times New Roman" panose="02020603050405020304" pitchFamily="18" charset="0"/>
              </a:rPr>
              <a:t>STORE results as </a:t>
            </a:r>
            <a:r>
              <a:rPr lang="en-IN" sz="1400" dirty="0" err="1">
                <a:latin typeface="Times New Roman" panose="02020603050405020304" pitchFamily="18" charset="0"/>
                <a:cs typeface="Times New Roman" panose="02020603050405020304" pitchFamily="18" charset="0"/>
              </a:rPr>
              <a:t>xai_output</a:t>
            </a:r>
            <a:endParaRPr lang="en-IN"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MULTIMODAL AI MODEL (Proposed)</a:t>
            </a:r>
          </a:p>
          <a:p>
            <a:r>
              <a:rPr lang="en-IN" sz="1400" dirty="0">
                <a:latin typeface="Times New Roman" panose="02020603050405020304" pitchFamily="18" charset="0"/>
                <a:cs typeface="Times New Roman" panose="02020603050405020304" pitchFamily="18" charset="0"/>
              </a:rPr>
              <a:t>FOR each sample IN D DO </a:t>
            </a:r>
          </a:p>
          <a:p>
            <a:r>
              <a:rPr lang="en-IN" sz="1400" dirty="0">
                <a:latin typeface="Times New Roman" panose="02020603050405020304" pitchFamily="18" charset="0"/>
                <a:cs typeface="Times New Roman" panose="02020603050405020304" pitchFamily="18" charset="0"/>
              </a:rPr>
              <a:t>   EXTRACT image features</a:t>
            </a:r>
          </a:p>
          <a:p>
            <a:r>
              <a:rPr lang="en-IN" sz="1400" dirty="0">
                <a:latin typeface="Times New Roman" panose="02020603050405020304" pitchFamily="18" charset="0"/>
                <a:cs typeface="Times New Roman" panose="02020603050405020304" pitchFamily="18" charset="0"/>
              </a:rPr>
              <a:t>   EXTRACT audio features </a:t>
            </a:r>
          </a:p>
          <a:p>
            <a:r>
              <a:rPr lang="en-IN" sz="1400" dirty="0">
                <a:latin typeface="Times New Roman" panose="02020603050405020304" pitchFamily="18" charset="0"/>
                <a:cs typeface="Times New Roman" panose="02020603050405020304" pitchFamily="18" charset="0"/>
              </a:rPr>
              <a:t>   EXTRACT temporal (video) features</a:t>
            </a:r>
          </a:p>
          <a:p>
            <a:r>
              <a:rPr lang="en-IN" sz="1400" dirty="0">
                <a:latin typeface="Times New Roman" panose="02020603050405020304" pitchFamily="18" charset="0"/>
                <a:cs typeface="Times New Roman" panose="02020603050405020304" pitchFamily="18" charset="0"/>
              </a:rPr>
              <a:t>END FOR</a:t>
            </a:r>
          </a:p>
          <a:p>
            <a:r>
              <a:rPr lang="en-IN" sz="1400" dirty="0">
                <a:latin typeface="Times New Roman" panose="02020603050405020304" pitchFamily="18" charset="0"/>
                <a:cs typeface="Times New Roman" panose="02020603050405020304" pitchFamily="18" charset="0"/>
              </a:rPr>
              <a:t>COMBINE all features</a:t>
            </a:r>
          </a:p>
          <a:p>
            <a:r>
              <a:rPr lang="en-IN" sz="1400" dirty="0">
                <a:latin typeface="Times New Roman" panose="02020603050405020304" pitchFamily="18" charset="0"/>
                <a:cs typeface="Times New Roman" panose="02020603050405020304" pitchFamily="18" charset="0"/>
              </a:rPr>
              <a:t> INTO </a:t>
            </a:r>
            <a:r>
              <a:rPr lang="en-IN" sz="1400" dirty="0" err="1">
                <a:latin typeface="Times New Roman" panose="02020603050405020304" pitchFamily="18" charset="0"/>
                <a:cs typeface="Times New Roman" panose="02020603050405020304" pitchFamily="18" charset="0"/>
              </a:rPr>
              <a:t>Combined_Feature_Set</a:t>
            </a:r>
            <a:r>
              <a:rPr lang="en-IN" sz="1400" dirty="0">
                <a:latin typeface="Times New Roman" panose="02020603050405020304" pitchFamily="18" charset="0"/>
                <a:cs typeface="Times New Roman" panose="02020603050405020304" pitchFamily="18" charset="0"/>
              </a:rPr>
              <a:t> F</a:t>
            </a:r>
          </a:p>
          <a:p>
            <a:r>
              <a:rPr lang="en-IN" sz="1400" dirty="0">
                <a:latin typeface="Times New Roman" panose="02020603050405020304" pitchFamily="18" charset="0"/>
                <a:cs typeface="Times New Roman" panose="02020603050405020304" pitchFamily="18" charset="0"/>
              </a:rPr>
              <a:t>SPLIT F and L INTO:   </a:t>
            </a:r>
          </a:p>
          <a:p>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Train_F</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Test_F</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Train_Y</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Test_Y</a:t>
            </a:r>
            <a:endParaRPr lang="en-IN"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INITIALIZE </a:t>
            </a:r>
            <a:r>
              <a:rPr lang="en-IN" sz="1400" dirty="0" err="1">
                <a:latin typeface="Times New Roman" panose="02020603050405020304" pitchFamily="18" charset="0"/>
                <a:cs typeface="Times New Roman" panose="02020603050405020304" pitchFamily="18" charset="0"/>
              </a:rPr>
              <a:t>Multimodal_Model</a:t>
            </a:r>
            <a:endParaRPr lang="en-IN"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TRAIN </a:t>
            </a:r>
            <a:r>
              <a:rPr lang="en-IN" sz="1400" dirty="0" err="1">
                <a:latin typeface="Times New Roman" panose="02020603050405020304" pitchFamily="18" charset="0"/>
                <a:cs typeface="Times New Roman" panose="02020603050405020304" pitchFamily="18" charset="0"/>
              </a:rPr>
              <a:t>Multimodal_Model</a:t>
            </a:r>
            <a:r>
              <a:rPr lang="en-IN" sz="1400" dirty="0">
                <a:latin typeface="Times New Roman" panose="02020603050405020304" pitchFamily="18" charset="0"/>
                <a:cs typeface="Times New Roman" panose="02020603050405020304" pitchFamily="18" charset="0"/>
              </a:rPr>
              <a:t> using </a:t>
            </a:r>
            <a:r>
              <a:rPr lang="en-IN" sz="1400" dirty="0" err="1">
                <a:latin typeface="Times New Roman" panose="02020603050405020304" pitchFamily="18" charset="0"/>
                <a:cs typeface="Times New Roman" panose="02020603050405020304" pitchFamily="18" charset="0"/>
              </a:rPr>
              <a:t>Train_F</a:t>
            </a:r>
            <a:endParaRPr lang="en-IN"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 and </a:t>
            </a:r>
            <a:r>
              <a:rPr lang="en-IN" sz="1400" dirty="0" err="1">
                <a:latin typeface="Times New Roman" panose="02020603050405020304" pitchFamily="18" charset="0"/>
                <a:cs typeface="Times New Roman" panose="02020603050405020304" pitchFamily="18" charset="0"/>
              </a:rPr>
              <a:t>Train_Y</a:t>
            </a:r>
            <a:endParaRPr lang="en-IN"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FOR each sample IN </a:t>
            </a:r>
            <a:r>
              <a:rPr lang="en-IN" sz="1400" dirty="0" err="1">
                <a:latin typeface="Times New Roman" panose="02020603050405020304" pitchFamily="18" charset="0"/>
                <a:cs typeface="Times New Roman" panose="02020603050405020304" pitchFamily="18" charset="0"/>
              </a:rPr>
              <a:t>Test_F</a:t>
            </a:r>
            <a:r>
              <a:rPr lang="en-IN" sz="1400" dirty="0">
                <a:latin typeface="Times New Roman" panose="02020603050405020304" pitchFamily="18" charset="0"/>
                <a:cs typeface="Times New Roman" panose="02020603050405020304" pitchFamily="18" charset="0"/>
              </a:rPr>
              <a:t> DO </a:t>
            </a:r>
          </a:p>
          <a:p>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multi_pred</a:t>
            </a:r>
            <a:r>
              <a:rPr lang="en-IN" sz="1400" dirty="0">
                <a:latin typeface="Times New Roman" panose="02020603050405020304" pitchFamily="18" charset="0"/>
                <a:cs typeface="Times New Roman" panose="02020603050405020304" pitchFamily="18" charset="0"/>
              </a:rPr>
              <a:t> ← PREDICT</a:t>
            </a:r>
          </a:p>
          <a:p>
            <a:r>
              <a:rPr lang="en-IN" sz="1400" dirty="0">
                <a:latin typeface="Times New Roman" panose="02020603050405020304" pitchFamily="18" charset="0"/>
                <a:cs typeface="Times New Roman" panose="02020603050405020304" pitchFamily="18" charset="0"/>
              </a:rPr>
              <a:t> using </a:t>
            </a:r>
            <a:r>
              <a:rPr lang="en-IN" sz="1400" dirty="0" err="1">
                <a:latin typeface="Times New Roman" panose="02020603050405020304" pitchFamily="18" charset="0"/>
                <a:cs typeface="Times New Roman" panose="02020603050405020304" pitchFamily="18" charset="0"/>
              </a:rPr>
              <a:t>Multimodal_Model</a:t>
            </a:r>
            <a:r>
              <a:rPr lang="en-IN" sz="1400" dirty="0">
                <a:latin typeface="Times New Roman" panose="02020603050405020304" pitchFamily="18" charset="0"/>
                <a:cs typeface="Times New Roman" panose="02020603050405020304" pitchFamily="18" charset="0"/>
              </a:rPr>
              <a:t>    </a:t>
            </a:r>
          </a:p>
          <a:p>
            <a:r>
              <a:rPr lang="en-IN" sz="1400" dirty="0">
                <a:latin typeface="Times New Roman" panose="02020603050405020304" pitchFamily="18" charset="0"/>
                <a:cs typeface="Times New Roman" panose="02020603050405020304" pitchFamily="18" charset="0"/>
              </a:rPr>
              <a:t>STORE </a:t>
            </a:r>
            <a:r>
              <a:rPr lang="en-IN" sz="1400" dirty="0" err="1">
                <a:latin typeface="Times New Roman" panose="02020603050405020304" pitchFamily="18" charset="0"/>
                <a:cs typeface="Times New Roman" panose="02020603050405020304" pitchFamily="18" charset="0"/>
              </a:rPr>
              <a:t>multi_pred</a:t>
            </a:r>
            <a:r>
              <a:rPr lang="en-IN" sz="1400" dirty="0">
                <a:latin typeface="Times New Roman" panose="02020603050405020304" pitchFamily="18" charset="0"/>
                <a:cs typeface="Times New Roman" panose="02020603050405020304" pitchFamily="18" charset="0"/>
              </a:rPr>
              <a:t> </a:t>
            </a:r>
          </a:p>
          <a:p>
            <a:r>
              <a:rPr lang="en-IN" sz="1400" dirty="0">
                <a:latin typeface="Times New Roman" panose="02020603050405020304" pitchFamily="18" charset="0"/>
                <a:cs typeface="Times New Roman" panose="02020603050405020304" pitchFamily="18" charset="0"/>
              </a:rPr>
              <a:t>END FOR</a:t>
            </a:r>
            <a:endParaRPr lang="en-IN" sz="1400" dirty="0"/>
          </a:p>
        </p:txBody>
      </p:sp>
      <p:sp>
        <p:nvSpPr>
          <p:cNvPr id="12" name="TextBox 11">
            <a:extLst>
              <a:ext uri="{FF2B5EF4-FFF2-40B4-BE49-F238E27FC236}">
                <a16:creationId xmlns:a16="http://schemas.microsoft.com/office/drawing/2014/main" id="{66CFB313-8C57-1775-9DF3-8313B1E9DCDD}"/>
              </a:ext>
            </a:extLst>
          </p:cNvPr>
          <p:cNvSpPr txBox="1"/>
          <p:nvPr/>
        </p:nvSpPr>
        <p:spPr>
          <a:xfrm>
            <a:off x="7490716" y="1523866"/>
            <a:ext cx="3661282" cy="5262979"/>
          </a:xfrm>
          <a:prstGeom prst="rect">
            <a:avLst/>
          </a:prstGeom>
          <a:noFill/>
        </p:spPr>
        <p:txBody>
          <a:bodyPr wrap="square">
            <a:spAutoFit/>
          </a:bodyPr>
          <a:lstStyle/>
          <a:p>
            <a:r>
              <a:rPr lang="en-IN" sz="1400" dirty="0">
                <a:latin typeface="Times New Roman" panose="02020603050405020304" pitchFamily="18" charset="0"/>
                <a:cs typeface="Times New Roman" panose="02020603050405020304" pitchFamily="18" charset="0"/>
              </a:rPr>
              <a:t>EVALUATION</a:t>
            </a:r>
          </a:p>
          <a:p>
            <a:r>
              <a:rPr lang="en-IN" sz="1400" dirty="0">
                <a:latin typeface="Times New Roman" panose="02020603050405020304" pitchFamily="18" charset="0"/>
                <a:cs typeface="Times New Roman" panose="02020603050405020304" pitchFamily="18" charset="0"/>
              </a:rPr>
              <a:t>COMPARE </a:t>
            </a:r>
            <a:r>
              <a:rPr lang="en-IN" sz="1400" dirty="0" err="1">
                <a:latin typeface="Times New Roman" panose="02020603050405020304" pitchFamily="18" charset="0"/>
                <a:cs typeface="Times New Roman" panose="02020603050405020304" pitchFamily="18" charset="0"/>
              </a:rPr>
              <a:t>Accuracy_XAI</a:t>
            </a:r>
            <a:r>
              <a:rPr lang="en-IN" sz="1400" dirty="0">
                <a:latin typeface="Times New Roman" panose="02020603050405020304" pitchFamily="18" charset="0"/>
                <a:cs typeface="Times New Roman" panose="02020603050405020304" pitchFamily="18" charset="0"/>
              </a:rPr>
              <a:t> with </a:t>
            </a:r>
            <a:r>
              <a:rPr lang="en-IN" sz="1400" dirty="0" err="1">
                <a:latin typeface="Times New Roman" panose="02020603050405020304" pitchFamily="18" charset="0"/>
                <a:cs typeface="Times New Roman" panose="02020603050405020304" pitchFamily="18" charset="0"/>
              </a:rPr>
              <a:t>Accuracy_Multi</a:t>
            </a:r>
            <a:endParaRPr lang="en-IN"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COMPARE </a:t>
            </a:r>
            <a:r>
              <a:rPr lang="en-IN" sz="1400" dirty="0" err="1">
                <a:latin typeface="Times New Roman" panose="02020603050405020304" pitchFamily="18" charset="0"/>
                <a:cs typeface="Times New Roman" panose="02020603050405020304" pitchFamily="18" charset="0"/>
              </a:rPr>
              <a:t>Precision_XAI</a:t>
            </a:r>
            <a:r>
              <a:rPr lang="en-IN" sz="1400" dirty="0">
                <a:latin typeface="Times New Roman" panose="02020603050405020304" pitchFamily="18" charset="0"/>
                <a:cs typeface="Times New Roman" panose="02020603050405020304" pitchFamily="18" charset="0"/>
              </a:rPr>
              <a:t> with </a:t>
            </a:r>
            <a:r>
              <a:rPr lang="en-IN" sz="1400" dirty="0" err="1">
                <a:latin typeface="Times New Roman" panose="02020603050405020304" pitchFamily="18" charset="0"/>
                <a:cs typeface="Times New Roman" panose="02020603050405020304" pitchFamily="18" charset="0"/>
              </a:rPr>
              <a:t>Precision_Multi</a:t>
            </a:r>
            <a:endParaRPr lang="en-IN"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COMPARE </a:t>
            </a:r>
            <a:r>
              <a:rPr lang="en-IN" sz="1400" dirty="0" err="1">
                <a:latin typeface="Times New Roman" panose="02020603050405020304" pitchFamily="18" charset="0"/>
                <a:cs typeface="Times New Roman" panose="02020603050405020304" pitchFamily="18" charset="0"/>
              </a:rPr>
              <a:t>Recall_XAI</a:t>
            </a:r>
            <a:r>
              <a:rPr lang="en-IN" sz="1400" dirty="0">
                <a:latin typeface="Times New Roman" panose="02020603050405020304" pitchFamily="18" charset="0"/>
                <a:cs typeface="Times New Roman" panose="02020603050405020304" pitchFamily="18" charset="0"/>
              </a:rPr>
              <a:t> with </a:t>
            </a:r>
            <a:r>
              <a:rPr lang="en-IN" sz="1400" dirty="0" err="1">
                <a:latin typeface="Times New Roman" panose="02020603050405020304" pitchFamily="18" charset="0"/>
                <a:cs typeface="Times New Roman" panose="02020603050405020304" pitchFamily="18" charset="0"/>
              </a:rPr>
              <a:t>Recall_Multi</a:t>
            </a:r>
            <a:endParaRPr lang="en-IN"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COMPARE F1_XAI with F1_Multi</a:t>
            </a:r>
          </a:p>
          <a:p>
            <a:r>
              <a:rPr lang="en-IN" sz="1400" dirty="0">
                <a:latin typeface="Times New Roman" panose="02020603050405020304" pitchFamily="18" charset="0"/>
                <a:cs typeface="Times New Roman" panose="02020603050405020304" pitchFamily="18" charset="0"/>
              </a:rPr>
              <a:t>IF </a:t>
            </a:r>
            <a:r>
              <a:rPr lang="en-IN" sz="1400" dirty="0" err="1">
                <a:latin typeface="Times New Roman" panose="02020603050405020304" pitchFamily="18" charset="0"/>
                <a:cs typeface="Times New Roman" panose="02020603050405020304" pitchFamily="18" charset="0"/>
              </a:rPr>
              <a:t>Accuracy_Multi</a:t>
            </a:r>
            <a:r>
              <a:rPr lang="en-IN" sz="1400" dirty="0">
                <a:latin typeface="Times New Roman" panose="02020603050405020304" pitchFamily="18" charset="0"/>
                <a:cs typeface="Times New Roman" panose="02020603050405020304" pitchFamily="18" charset="0"/>
              </a:rPr>
              <a:t> &gt; </a:t>
            </a:r>
            <a:r>
              <a:rPr lang="en-IN" sz="1400" dirty="0" err="1">
                <a:latin typeface="Times New Roman" panose="02020603050405020304" pitchFamily="18" charset="0"/>
                <a:cs typeface="Times New Roman" panose="02020603050405020304" pitchFamily="18" charset="0"/>
              </a:rPr>
              <a:t>Accuracy_XAI</a:t>
            </a:r>
            <a:r>
              <a:rPr lang="en-IN" sz="1400" dirty="0">
                <a:latin typeface="Times New Roman" panose="02020603050405020304" pitchFamily="18" charset="0"/>
                <a:cs typeface="Times New Roman" panose="02020603050405020304" pitchFamily="18" charset="0"/>
              </a:rPr>
              <a:t> THEN </a:t>
            </a:r>
          </a:p>
          <a:p>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Best_Model</a:t>
            </a:r>
            <a:r>
              <a:rPr lang="en-IN" sz="1400" dirty="0">
                <a:latin typeface="Times New Roman" panose="02020603050405020304" pitchFamily="18" charset="0"/>
                <a:cs typeface="Times New Roman" panose="02020603050405020304" pitchFamily="18" charset="0"/>
              </a:rPr>
              <a:t> ← "Multimodal AI“</a:t>
            </a:r>
          </a:p>
          <a:p>
            <a:r>
              <a:rPr lang="en-IN" sz="1400" dirty="0">
                <a:latin typeface="Times New Roman" panose="02020603050405020304" pitchFamily="18" charset="0"/>
                <a:cs typeface="Times New Roman" panose="02020603050405020304" pitchFamily="18" charset="0"/>
              </a:rPr>
              <a:t>ELSE IF </a:t>
            </a:r>
            <a:r>
              <a:rPr lang="en-IN" sz="1400" dirty="0" err="1">
                <a:latin typeface="Times New Roman" panose="02020603050405020304" pitchFamily="18" charset="0"/>
                <a:cs typeface="Times New Roman" panose="02020603050405020304" pitchFamily="18" charset="0"/>
              </a:rPr>
              <a:t>Accuracy_Multi</a:t>
            </a:r>
            <a:r>
              <a:rPr lang="en-IN" sz="1400" dirty="0">
                <a:latin typeface="Times New Roman" panose="02020603050405020304" pitchFamily="18" charset="0"/>
                <a:cs typeface="Times New Roman" panose="02020603050405020304" pitchFamily="18" charset="0"/>
              </a:rPr>
              <a:t> &lt; </a:t>
            </a:r>
            <a:r>
              <a:rPr lang="en-IN" sz="1400" dirty="0" err="1">
                <a:latin typeface="Times New Roman" panose="02020603050405020304" pitchFamily="18" charset="0"/>
                <a:cs typeface="Times New Roman" panose="02020603050405020304" pitchFamily="18" charset="0"/>
              </a:rPr>
              <a:t>Accuracy_XAI</a:t>
            </a:r>
            <a:r>
              <a:rPr lang="en-IN" sz="1400" dirty="0">
                <a:latin typeface="Times New Roman" panose="02020603050405020304" pitchFamily="18" charset="0"/>
                <a:cs typeface="Times New Roman" panose="02020603050405020304" pitchFamily="18" charset="0"/>
              </a:rPr>
              <a:t> </a:t>
            </a:r>
          </a:p>
          <a:p>
            <a:r>
              <a:rPr lang="en-IN" sz="1400" dirty="0">
                <a:latin typeface="Times New Roman" panose="02020603050405020304" pitchFamily="18" charset="0"/>
                <a:cs typeface="Times New Roman" panose="02020603050405020304" pitchFamily="18" charset="0"/>
              </a:rPr>
              <a:t>THEN   </a:t>
            </a:r>
          </a:p>
          <a:p>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Best_Model</a:t>
            </a:r>
            <a:r>
              <a:rPr lang="en-IN" sz="1400" dirty="0">
                <a:latin typeface="Times New Roman" panose="02020603050405020304" pitchFamily="18" charset="0"/>
                <a:cs typeface="Times New Roman" panose="02020603050405020304" pitchFamily="18" charset="0"/>
              </a:rPr>
              <a:t> ← "XAI Model“</a:t>
            </a:r>
          </a:p>
          <a:p>
            <a:r>
              <a:rPr lang="en-IN" sz="1400" dirty="0">
                <a:latin typeface="Times New Roman" panose="02020603050405020304" pitchFamily="18" charset="0"/>
                <a:cs typeface="Times New Roman" panose="02020603050405020304" pitchFamily="18" charset="0"/>
              </a:rPr>
              <a:t>ELSE    </a:t>
            </a:r>
            <a:r>
              <a:rPr lang="en-IN" sz="1400" dirty="0" err="1">
                <a:latin typeface="Times New Roman" panose="02020603050405020304" pitchFamily="18" charset="0"/>
                <a:cs typeface="Times New Roman" panose="02020603050405020304" pitchFamily="18" charset="0"/>
              </a:rPr>
              <a:t>Best_Model</a:t>
            </a:r>
            <a:r>
              <a:rPr lang="en-IN" sz="1400" dirty="0">
                <a:latin typeface="Times New Roman" panose="02020603050405020304" pitchFamily="18" charset="0"/>
                <a:cs typeface="Times New Roman" panose="02020603050405020304" pitchFamily="18" charset="0"/>
              </a:rPr>
              <a:t> ← "Both models perform equally“</a:t>
            </a:r>
          </a:p>
          <a:p>
            <a:r>
              <a:rPr lang="en-IN" sz="1400" dirty="0">
                <a:latin typeface="Times New Roman" panose="02020603050405020304" pitchFamily="18" charset="0"/>
                <a:cs typeface="Times New Roman" panose="02020603050405020304" pitchFamily="18" charset="0"/>
              </a:rPr>
              <a:t>END IF</a:t>
            </a:r>
          </a:p>
          <a:p>
            <a:r>
              <a:rPr lang="en-IN" sz="1400" dirty="0">
                <a:latin typeface="Times New Roman" panose="02020603050405020304" pitchFamily="18" charset="0"/>
                <a:cs typeface="Times New Roman" panose="02020603050405020304" pitchFamily="18" charset="0"/>
              </a:rPr>
              <a:t>OUTPUT</a:t>
            </a:r>
          </a:p>
          <a:p>
            <a:r>
              <a:rPr lang="en-IN" sz="1400" dirty="0">
                <a:latin typeface="Times New Roman" panose="02020603050405020304" pitchFamily="18" charset="0"/>
                <a:cs typeface="Times New Roman" panose="02020603050405020304" pitchFamily="18" charset="0"/>
              </a:rPr>
              <a:t>DISPLAY "XAI Results:</a:t>
            </a:r>
          </a:p>
          <a:p>
            <a:r>
              <a:rPr lang="en-IN" sz="1400" dirty="0">
                <a:latin typeface="Times New Roman" panose="02020603050405020304" pitchFamily="18" charset="0"/>
                <a:cs typeface="Times New Roman" panose="02020603050405020304" pitchFamily="18" charset="0"/>
              </a:rPr>
              <a:t>"DISPLAY </a:t>
            </a:r>
            <a:r>
              <a:rPr lang="en-IN" sz="1400" dirty="0" err="1">
                <a:latin typeface="Times New Roman" panose="02020603050405020304" pitchFamily="18" charset="0"/>
                <a:cs typeface="Times New Roman" panose="02020603050405020304" pitchFamily="18" charset="0"/>
              </a:rPr>
              <a:t>Accuracy_XAI</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Precision_XAI</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Recall_XAI</a:t>
            </a:r>
            <a:r>
              <a:rPr lang="en-IN" sz="1400" dirty="0">
                <a:latin typeface="Times New Roman" panose="02020603050405020304" pitchFamily="18" charset="0"/>
                <a:cs typeface="Times New Roman" panose="02020603050405020304" pitchFamily="18" charset="0"/>
              </a:rPr>
              <a:t>, F1_XAI</a:t>
            </a:r>
          </a:p>
          <a:p>
            <a:r>
              <a:rPr lang="en-IN" sz="1400" dirty="0">
                <a:latin typeface="Times New Roman" panose="02020603050405020304" pitchFamily="18" charset="0"/>
                <a:cs typeface="Times New Roman" panose="02020603050405020304" pitchFamily="18" charset="0"/>
              </a:rPr>
              <a:t>DISPLAY "Multimodal AI Results:“</a:t>
            </a:r>
          </a:p>
          <a:p>
            <a:r>
              <a:rPr lang="en-IN" sz="1400" dirty="0">
                <a:latin typeface="Times New Roman" panose="02020603050405020304" pitchFamily="18" charset="0"/>
                <a:cs typeface="Times New Roman" panose="02020603050405020304" pitchFamily="18" charset="0"/>
              </a:rPr>
              <a:t>DISPLAY </a:t>
            </a:r>
            <a:r>
              <a:rPr lang="en-IN" sz="1400" dirty="0" err="1">
                <a:latin typeface="Times New Roman" panose="02020603050405020304" pitchFamily="18" charset="0"/>
                <a:cs typeface="Times New Roman" panose="02020603050405020304" pitchFamily="18" charset="0"/>
              </a:rPr>
              <a:t>Accuracy_Multi</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Precision_Multi</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Recall_Multi</a:t>
            </a:r>
            <a:r>
              <a:rPr lang="en-IN" sz="1400" dirty="0">
                <a:latin typeface="Times New Roman" panose="02020603050405020304" pitchFamily="18" charset="0"/>
                <a:cs typeface="Times New Roman" panose="02020603050405020304" pitchFamily="18" charset="0"/>
              </a:rPr>
              <a:t>, F1_Multi</a:t>
            </a:r>
          </a:p>
          <a:p>
            <a:r>
              <a:rPr lang="en-IN" sz="1400" dirty="0">
                <a:latin typeface="Times New Roman" panose="02020603050405020304" pitchFamily="18" charset="0"/>
                <a:cs typeface="Times New Roman" panose="02020603050405020304" pitchFamily="18" charset="0"/>
              </a:rPr>
              <a:t>DISPLAY "Best Model:", </a:t>
            </a:r>
            <a:r>
              <a:rPr lang="en-IN" sz="1400" dirty="0" err="1">
                <a:latin typeface="Times New Roman" panose="02020603050405020304" pitchFamily="18" charset="0"/>
                <a:cs typeface="Times New Roman" panose="02020603050405020304" pitchFamily="18" charset="0"/>
              </a:rPr>
              <a:t>Best_Model</a:t>
            </a:r>
            <a:endParaRPr lang="en-IN"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END</a:t>
            </a:r>
            <a:endParaRPr lang="en-IN" sz="1400" dirty="0"/>
          </a:p>
        </p:txBody>
      </p:sp>
    </p:spTree>
    <p:extLst>
      <p:ext uri="{BB962C8B-B14F-4D97-AF65-F5344CB8AC3E}">
        <p14:creationId xmlns:p14="http://schemas.microsoft.com/office/powerpoint/2010/main" val="22764997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50379D9-DF3E-2636-FCCD-9EF7EF7EDEEB}"/>
              </a:ext>
            </a:extLst>
          </p:cNvPr>
          <p:cNvPicPr/>
          <p:nvPr/>
        </p:nvPicPr>
        <p:blipFill>
          <a:blip r:embed="rId2"/>
          <a:stretch>
            <a:fillRect/>
          </a:stretch>
        </p:blipFill>
        <p:spPr>
          <a:xfrm>
            <a:off x="675321" y="57775"/>
            <a:ext cx="10635362" cy="1264555"/>
          </a:xfrm>
          <a:prstGeom prst="rect">
            <a:avLst/>
          </a:prstGeom>
        </p:spPr>
      </p:pic>
      <p:sp>
        <p:nvSpPr>
          <p:cNvPr id="6" name="TextBox 5">
            <a:extLst>
              <a:ext uri="{FF2B5EF4-FFF2-40B4-BE49-F238E27FC236}">
                <a16:creationId xmlns:a16="http://schemas.microsoft.com/office/drawing/2014/main" id="{E5DC360F-946D-63C3-1ACC-C2C773A7EC84}"/>
              </a:ext>
            </a:extLst>
          </p:cNvPr>
          <p:cNvSpPr txBox="1"/>
          <p:nvPr/>
        </p:nvSpPr>
        <p:spPr>
          <a:xfrm>
            <a:off x="2955162" y="1193435"/>
            <a:ext cx="6096000" cy="707886"/>
          </a:xfrm>
          <a:prstGeom prst="rect">
            <a:avLst/>
          </a:prstGeom>
          <a:noFill/>
        </p:spPr>
        <p:txBody>
          <a:bodyPr wrap="square">
            <a:spAutoFit/>
          </a:bodyPr>
          <a:lstStyle/>
          <a:p>
            <a:pPr algn="ctr"/>
            <a:r>
              <a:rPr lang="en-US" sz="4000" b="1" dirty="0">
                <a:latin typeface="Times New Roman" panose="02020603050405020304" pitchFamily="18" charset="0"/>
                <a:cs typeface="Times New Roman" panose="02020603050405020304" pitchFamily="18" charset="0"/>
              </a:rPr>
              <a:t>OUTPUT</a:t>
            </a:r>
            <a:endParaRPr lang="en-IN" sz="4000" dirty="0"/>
          </a:p>
        </p:txBody>
      </p:sp>
      <p:graphicFrame>
        <p:nvGraphicFramePr>
          <p:cNvPr id="7" name="Table 6">
            <a:extLst>
              <a:ext uri="{FF2B5EF4-FFF2-40B4-BE49-F238E27FC236}">
                <a16:creationId xmlns:a16="http://schemas.microsoft.com/office/drawing/2014/main" id="{31389AA8-1894-4DD3-EEE5-F9EA8CC6CF3A}"/>
              </a:ext>
            </a:extLst>
          </p:cNvPr>
          <p:cNvGraphicFramePr>
            <a:graphicFrameLocks noGrp="1"/>
          </p:cNvGraphicFramePr>
          <p:nvPr>
            <p:extLst>
              <p:ext uri="{D42A27DB-BD31-4B8C-83A1-F6EECF244321}">
                <p14:modId xmlns:p14="http://schemas.microsoft.com/office/powerpoint/2010/main" val="2459782575"/>
              </p:ext>
            </p:extLst>
          </p:nvPr>
        </p:nvGraphicFramePr>
        <p:xfrm>
          <a:off x="2652752" y="1830201"/>
          <a:ext cx="6680500" cy="4970024"/>
        </p:xfrm>
        <a:graphic>
          <a:graphicData uri="http://schemas.openxmlformats.org/drawingml/2006/table">
            <a:tbl>
              <a:tblPr firstRow="1" firstCol="1" bandRow="1">
                <a:tableStyleId>{2D5ABB26-0587-4C30-8999-92F81FD0307C}</a:tableStyleId>
              </a:tblPr>
              <a:tblGrid>
                <a:gridCol w="901382">
                  <a:extLst>
                    <a:ext uri="{9D8B030D-6E8A-4147-A177-3AD203B41FA5}">
                      <a16:colId xmlns:a16="http://schemas.microsoft.com/office/drawing/2014/main" val="1544980805"/>
                    </a:ext>
                  </a:extLst>
                </a:gridCol>
                <a:gridCol w="2889559">
                  <a:extLst>
                    <a:ext uri="{9D8B030D-6E8A-4147-A177-3AD203B41FA5}">
                      <a16:colId xmlns:a16="http://schemas.microsoft.com/office/drawing/2014/main" val="872671416"/>
                    </a:ext>
                  </a:extLst>
                </a:gridCol>
                <a:gridCol w="2889559">
                  <a:extLst>
                    <a:ext uri="{9D8B030D-6E8A-4147-A177-3AD203B41FA5}">
                      <a16:colId xmlns:a16="http://schemas.microsoft.com/office/drawing/2014/main" val="3209960865"/>
                    </a:ext>
                  </a:extLst>
                </a:gridCol>
              </a:tblGrid>
              <a:tr h="459624">
                <a:tc>
                  <a:txBody>
                    <a:bodyPr/>
                    <a:lstStyle/>
                    <a:p>
                      <a:pPr marL="0" marR="0" algn="ctr">
                        <a:lnSpc>
                          <a:spcPct val="107000"/>
                        </a:lnSpc>
                        <a:spcAft>
                          <a:spcPts val="800"/>
                        </a:spcAft>
                        <a:buNone/>
                      </a:pPr>
                      <a:r>
                        <a:rPr lang="en-IN" sz="1200" b="1" kern="0" dirty="0">
                          <a:effectLst/>
                          <a:latin typeface="Times New Roman" panose="02020603050405020304" pitchFamily="18" charset="0"/>
                          <a:cs typeface="Times New Roman" panose="02020603050405020304" pitchFamily="18" charset="0"/>
                        </a:rPr>
                        <a:t>Iteration</a:t>
                      </a:r>
                      <a:endPar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IN" sz="1200" b="1" kern="0" dirty="0">
                          <a:effectLst/>
                          <a:latin typeface="Times New Roman" panose="02020603050405020304" pitchFamily="18" charset="0"/>
                          <a:cs typeface="Times New Roman" panose="02020603050405020304" pitchFamily="18" charset="0"/>
                        </a:rPr>
                        <a:t>Multimodal AI Algorithm</a:t>
                      </a:r>
                      <a:endPar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IN" sz="1200" b="1" kern="0" dirty="0">
                          <a:effectLst/>
                          <a:latin typeface="Times New Roman" panose="02020603050405020304" pitchFamily="18" charset="0"/>
                          <a:cs typeface="Times New Roman" panose="02020603050405020304" pitchFamily="18" charset="0"/>
                        </a:rPr>
                        <a:t>Explainable AI Algorithm</a:t>
                      </a:r>
                      <a:endPar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98798069"/>
                  </a:ext>
                </a:extLst>
              </a:tr>
              <a:tr h="225520">
                <a:tc>
                  <a:txBody>
                    <a:bodyPr/>
                    <a:lstStyle/>
                    <a:p>
                      <a:pPr marL="0" marR="0" algn="ctr">
                        <a:lnSpc>
                          <a:spcPct val="107000"/>
                        </a:lnSpc>
                        <a:spcAft>
                          <a:spcPts val="800"/>
                        </a:spcAft>
                        <a:buNone/>
                      </a:pPr>
                      <a:r>
                        <a:rPr lang="en-IN" sz="1200" kern="0">
                          <a:effectLst/>
                          <a:latin typeface="Times New Roman" panose="02020603050405020304" pitchFamily="18" charset="0"/>
                          <a:cs typeface="Times New Roman" panose="02020603050405020304" pitchFamily="18" charset="0"/>
                        </a:rPr>
                        <a:t>1</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IN" sz="1200" kern="0" dirty="0">
                          <a:effectLst/>
                          <a:latin typeface="Times New Roman" panose="02020603050405020304" pitchFamily="18" charset="0"/>
                          <a:cs typeface="Times New Roman" panose="02020603050405020304" pitchFamily="18" charset="0"/>
                        </a:rPr>
                        <a:t>95.10</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8</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7.20</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90477844"/>
                  </a:ext>
                </a:extLst>
              </a:tr>
              <a:tr h="225520">
                <a:tc>
                  <a:txBody>
                    <a:bodyPr/>
                    <a:lstStyle/>
                    <a:p>
                      <a:pPr marL="0" marR="0" algn="ctr">
                        <a:lnSpc>
                          <a:spcPct val="107000"/>
                        </a:lnSpc>
                        <a:spcAft>
                          <a:spcPts val="800"/>
                        </a:spcAft>
                        <a:buNone/>
                      </a:pPr>
                      <a:r>
                        <a:rPr lang="en-IN" sz="1200" kern="0">
                          <a:effectLst/>
                          <a:latin typeface="Times New Roman" panose="02020603050405020304" pitchFamily="18" charset="0"/>
                          <a:cs typeface="Times New Roman" panose="02020603050405020304" pitchFamily="18" charset="0"/>
                        </a:rPr>
                        <a:t>2</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IN" sz="1200" kern="0" dirty="0">
                          <a:effectLst/>
                          <a:latin typeface="Times New Roman" panose="02020603050405020304" pitchFamily="18" charset="0"/>
                          <a:cs typeface="Times New Roman" panose="02020603050405020304" pitchFamily="18" charset="0"/>
                        </a:rPr>
                        <a:t>94.85</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86.95</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39096654"/>
                  </a:ext>
                </a:extLst>
              </a:tr>
              <a:tr h="225520">
                <a:tc>
                  <a:txBody>
                    <a:bodyPr/>
                    <a:lstStyle/>
                    <a:p>
                      <a:pPr marL="0" marR="0" algn="ctr">
                        <a:lnSpc>
                          <a:spcPct val="107000"/>
                        </a:lnSpc>
                        <a:spcAft>
                          <a:spcPts val="800"/>
                        </a:spcAft>
                        <a:buNone/>
                      </a:pPr>
                      <a:r>
                        <a:rPr lang="en-IN" sz="1200" kern="0">
                          <a:effectLst/>
                          <a:latin typeface="Times New Roman" panose="02020603050405020304" pitchFamily="18" charset="0"/>
                          <a:cs typeface="Times New Roman" panose="02020603050405020304" pitchFamily="18" charset="0"/>
                        </a:rPr>
                        <a:t>3</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IN" sz="1200" kern="0" dirty="0">
                          <a:effectLst/>
                          <a:latin typeface="Times New Roman" panose="02020603050405020304" pitchFamily="18" charset="0"/>
                          <a:cs typeface="Times New Roman" panose="02020603050405020304" pitchFamily="18" charset="0"/>
                        </a:rPr>
                        <a:t>95.30</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87.40</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5818690"/>
                  </a:ext>
                </a:extLst>
              </a:tr>
              <a:tr h="225520">
                <a:tc>
                  <a:txBody>
                    <a:bodyPr/>
                    <a:lstStyle/>
                    <a:p>
                      <a:pPr marL="0" marR="0" algn="ctr">
                        <a:lnSpc>
                          <a:spcPct val="107000"/>
                        </a:lnSpc>
                        <a:spcAft>
                          <a:spcPts val="800"/>
                        </a:spcAft>
                        <a:buNone/>
                      </a:pPr>
                      <a:r>
                        <a:rPr lang="en-IN" sz="1200" kern="0">
                          <a:effectLst/>
                          <a:latin typeface="Times New Roman" panose="02020603050405020304" pitchFamily="18" charset="0"/>
                          <a:cs typeface="Times New Roman" panose="02020603050405020304" pitchFamily="18" charset="0"/>
                        </a:rPr>
                        <a:t>4</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9</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4.05</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8</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7.10</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96955701"/>
                  </a:ext>
                </a:extLst>
              </a:tr>
              <a:tr h="225520">
                <a:tc>
                  <a:txBody>
                    <a:bodyPr/>
                    <a:lstStyle/>
                    <a:p>
                      <a:pPr marL="0" marR="0" algn="ctr">
                        <a:lnSpc>
                          <a:spcPct val="107000"/>
                        </a:lnSpc>
                        <a:spcAft>
                          <a:spcPts val="800"/>
                        </a:spcAft>
                        <a:buNone/>
                      </a:pPr>
                      <a:r>
                        <a:rPr lang="en-IN" sz="1200" kern="0">
                          <a:effectLst/>
                          <a:latin typeface="Times New Roman" panose="02020603050405020304" pitchFamily="18" charset="0"/>
                          <a:cs typeface="Times New Roman" panose="02020603050405020304" pitchFamily="18" charset="0"/>
                        </a:rPr>
                        <a:t>5</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IN" sz="1200" kern="0" dirty="0">
                          <a:effectLst/>
                          <a:latin typeface="Times New Roman" panose="02020603050405020304" pitchFamily="18" charset="0"/>
                          <a:cs typeface="Times New Roman" panose="02020603050405020304" pitchFamily="18" charset="0"/>
                        </a:rPr>
                        <a:t>94.70</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8</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6.75</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10891274"/>
                  </a:ext>
                </a:extLst>
              </a:tr>
              <a:tr h="225520">
                <a:tc>
                  <a:txBody>
                    <a:bodyPr/>
                    <a:lstStyle/>
                    <a:p>
                      <a:pPr marL="0" marR="0" algn="ctr">
                        <a:lnSpc>
                          <a:spcPct val="107000"/>
                        </a:lnSpc>
                        <a:spcAft>
                          <a:spcPts val="800"/>
                        </a:spcAft>
                        <a:buNone/>
                      </a:pPr>
                      <a:r>
                        <a:rPr lang="en-IN" sz="1200" kern="0">
                          <a:effectLst/>
                          <a:latin typeface="Times New Roman" panose="02020603050405020304" pitchFamily="18" charset="0"/>
                          <a:cs typeface="Times New Roman" panose="02020603050405020304" pitchFamily="18" charset="0"/>
                        </a:rPr>
                        <a:t>6</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9</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5.40</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8</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7.60</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41883620"/>
                  </a:ext>
                </a:extLst>
              </a:tr>
              <a:tr h="225520">
                <a:tc>
                  <a:txBody>
                    <a:bodyPr/>
                    <a:lstStyle/>
                    <a:p>
                      <a:pPr marL="0" marR="0" algn="ctr">
                        <a:lnSpc>
                          <a:spcPct val="107000"/>
                        </a:lnSpc>
                        <a:spcAft>
                          <a:spcPts val="800"/>
                        </a:spcAft>
                        <a:buNone/>
                      </a:pPr>
                      <a:r>
                        <a:rPr lang="en-IN" sz="1200" kern="0">
                          <a:effectLst/>
                          <a:latin typeface="Times New Roman" panose="02020603050405020304" pitchFamily="18" charset="0"/>
                          <a:cs typeface="Times New Roman" panose="02020603050405020304" pitchFamily="18" charset="0"/>
                        </a:rPr>
                        <a:t>7</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9</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5.15</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8</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7.25</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47344514"/>
                  </a:ext>
                </a:extLst>
              </a:tr>
              <a:tr h="225520">
                <a:tc>
                  <a:txBody>
                    <a:bodyPr/>
                    <a:lstStyle/>
                    <a:p>
                      <a:pPr marL="0" marR="0" algn="ctr">
                        <a:lnSpc>
                          <a:spcPct val="107000"/>
                        </a:lnSpc>
                        <a:spcAft>
                          <a:spcPts val="800"/>
                        </a:spcAft>
                        <a:buNone/>
                      </a:pPr>
                      <a:r>
                        <a:rPr lang="en-IN" sz="1200" kern="0">
                          <a:effectLst/>
                          <a:latin typeface="Times New Roman" panose="02020603050405020304" pitchFamily="18" charset="0"/>
                          <a:cs typeface="Times New Roman" panose="02020603050405020304" pitchFamily="18" charset="0"/>
                        </a:rPr>
                        <a:t>8</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IN" sz="1200" kern="0" dirty="0">
                          <a:effectLst/>
                          <a:latin typeface="Times New Roman" panose="02020603050405020304" pitchFamily="18" charset="0"/>
                          <a:cs typeface="Times New Roman" panose="02020603050405020304" pitchFamily="18" charset="0"/>
                        </a:rPr>
                        <a:t>94.90</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8</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6.90</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52679784"/>
                  </a:ext>
                </a:extLst>
              </a:tr>
              <a:tr h="225520">
                <a:tc>
                  <a:txBody>
                    <a:bodyPr/>
                    <a:lstStyle/>
                    <a:p>
                      <a:pPr marL="0" marR="0" algn="ctr">
                        <a:lnSpc>
                          <a:spcPct val="107000"/>
                        </a:lnSpc>
                        <a:spcAft>
                          <a:spcPts val="800"/>
                        </a:spcAft>
                        <a:buNone/>
                      </a:pPr>
                      <a:r>
                        <a:rPr lang="en-IN" sz="1200" kern="0">
                          <a:effectLst/>
                          <a:latin typeface="Times New Roman" panose="02020603050405020304" pitchFamily="18" charset="0"/>
                          <a:cs typeface="Times New Roman" panose="02020603050405020304" pitchFamily="18" charset="0"/>
                        </a:rPr>
                        <a:t>9</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IN" sz="1200" kern="0" dirty="0">
                          <a:effectLst/>
                          <a:latin typeface="Times New Roman" panose="02020603050405020304" pitchFamily="18" charset="0"/>
                          <a:cs typeface="Times New Roman" panose="02020603050405020304" pitchFamily="18" charset="0"/>
                        </a:rPr>
                        <a:t>95.25</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8</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7.35</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27997380"/>
                  </a:ext>
                </a:extLst>
              </a:tr>
              <a:tr h="225520">
                <a:tc>
                  <a:txBody>
                    <a:bodyPr/>
                    <a:lstStyle/>
                    <a:p>
                      <a:pPr marL="0" marR="0" algn="ctr">
                        <a:lnSpc>
                          <a:spcPct val="107000"/>
                        </a:lnSpc>
                        <a:spcAft>
                          <a:spcPts val="800"/>
                        </a:spcAft>
                        <a:buNone/>
                      </a:pPr>
                      <a:r>
                        <a:rPr lang="en-IN" sz="1200" kern="0">
                          <a:effectLst/>
                          <a:latin typeface="Times New Roman" panose="02020603050405020304" pitchFamily="18" charset="0"/>
                          <a:cs typeface="Times New Roman" panose="02020603050405020304" pitchFamily="18" charset="0"/>
                        </a:rPr>
                        <a:t>10</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9</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4.80</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8</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6.85</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4152848"/>
                  </a:ext>
                </a:extLst>
              </a:tr>
              <a:tr h="225520">
                <a:tc>
                  <a:txBody>
                    <a:bodyPr/>
                    <a:lstStyle/>
                    <a:p>
                      <a:pPr marL="0" marR="0" algn="ctr">
                        <a:lnSpc>
                          <a:spcPct val="107000"/>
                        </a:lnSpc>
                        <a:spcAft>
                          <a:spcPts val="800"/>
                        </a:spcAft>
                        <a:buNone/>
                      </a:pPr>
                      <a:r>
                        <a:rPr lang="en-IN" sz="1200" kern="0">
                          <a:effectLst/>
                          <a:latin typeface="Times New Roman" panose="02020603050405020304" pitchFamily="18" charset="0"/>
                          <a:cs typeface="Times New Roman" panose="02020603050405020304" pitchFamily="18" charset="0"/>
                        </a:rPr>
                        <a:t>11</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9</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5.18</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8</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7.30</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89738505"/>
                  </a:ext>
                </a:extLst>
              </a:tr>
              <a:tr h="225520">
                <a:tc>
                  <a:txBody>
                    <a:bodyPr/>
                    <a:lstStyle/>
                    <a:p>
                      <a:pPr marL="0" marR="0" algn="ctr">
                        <a:lnSpc>
                          <a:spcPct val="107000"/>
                        </a:lnSpc>
                        <a:spcAft>
                          <a:spcPts val="800"/>
                        </a:spcAft>
                        <a:buNone/>
                      </a:pPr>
                      <a:r>
                        <a:rPr lang="en-IN" sz="1200" kern="0">
                          <a:effectLst/>
                          <a:latin typeface="Times New Roman" panose="02020603050405020304" pitchFamily="18" charset="0"/>
                          <a:cs typeface="Times New Roman" panose="02020603050405020304" pitchFamily="18" charset="0"/>
                        </a:rPr>
                        <a:t>12</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IN" sz="1200" kern="0" dirty="0">
                          <a:effectLst/>
                          <a:latin typeface="Times New Roman" panose="02020603050405020304" pitchFamily="18" charset="0"/>
                          <a:cs typeface="Times New Roman" panose="02020603050405020304" pitchFamily="18" charset="0"/>
                        </a:rPr>
                        <a:t>95.35</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8</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7.55</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66136768"/>
                  </a:ext>
                </a:extLst>
              </a:tr>
              <a:tr h="225520">
                <a:tc>
                  <a:txBody>
                    <a:bodyPr/>
                    <a:lstStyle/>
                    <a:p>
                      <a:pPr marL="0" marR="0" algn="ctr">
                        <a:lnSpc>
                          <a:spcPct val="107000"/>
                        </a:lnSpc>
                        <a:spcAft>
                          <a:spcPts val="800"/>
                        </a:spcAft>
                        <a:buNone/>
                      </a:pPr>
                      <a:r>
                        <a:rPr lang="en-IN" sz="1200" kern="0">
                          <a:effectLst/>
                          <a:latin typeface="Times New Roman" panose="02020603050405020304" pitchFamily="18" charset="0"/>
                          <a:cs typeface="Times New Roman" panose="02020603050405020304" pitchFamily="18" charset="0"/>
                        </a:rPr>
                        <a:t>13</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IN" sz="1200" kern="0" dirty="0">
                          <a:effectLst/>
                          <a:latin typeface="Times New Roman" panose="02020603050405020304" pitchFamily="18" charset="0"/>
                          <a:cs typeface="Times New Roman" panose="02020603050405020304" pitchFamily="18" charset="0"/>
                        </a:rPr>
                        <a:t>95.00</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8</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7.05</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44753046"/>
                  </a:ext>
                </a:extLst>
              </a:tr>
              <a:tr h="225520">
                <a:tc>
                  <a:txBody>
                    <a:bodyPr/>
                    <a:lstStyle/>
                    <a:p>
                      <a:pPr marL="0" marR="0" algn="ctr">
                        <a:lnSpc>
                          <a:spcPct val="107000"/>
                        </a:lnSpc>
                        <a:spcAft>
                          <a:spcPts val="800"/>
                        </a:spcAft>
                        <a:buNone/>
                      </a:pPr>
                      <a:r>
                        <a:rPr lang="en-IN" sz="1200" kern="0">
                          <a:effectLst/>
                          <a:latin typeface="Times New Roman" panose="02020603050405020304" pitchFamily="18" charset="0"/>
                          <a:cs typeface="Times New Roman" panose="02020603050405020304" pitchFamily="18" charset="0"/>
                        </a:rPr>
                        <a:t>14</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IN" sz="1200" kern="0" dirty="0">
                          <a:effectLst/>
                          <a:latin typeface="Times New Roman" panose="02020603050405020304" pitchFamily="18" charset="0"/>
                          <a:cs typeface="Times New Roman" panose="02020603050405020304" pitchFamily="18" charset="0"/>
                        </a:rPr>
                        <a:t>95.22</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8</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7.28</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05597984"/>
                  </a:ext>
                </a:extLst>
              </a:tr>
              <a:tr h="225520">
                <a:tc>
                  <a:txBody>
                    <a:bodyPr/>
                    <a:lstStyle/>
                    <a:p>
                      <a:pPr marL="0" marR="0" algn="ctr">
                        <a:lnSpc>
                          <a:spcPct val="107000"/>
                        </a:lnSpc>
                        <a:spcAft>
                          <a:spcPts val="800"/>
                        </a:spcAft>
                        <a:buNone/>
                      </a:pPr>
                      <a:r>
                        <a:rPr lang="en-IN" sz="1200" kern="0">
                          <a:effectLst/>
                          <a:latin typeface="Times New Roman" panose="02020603050405020304" pitchFamily="18" charset="0"/>
                          <a:cs typeface="Times New Roman" panose="02020603050405020304" pitchFamily="18" charset="0"/>
                        </a:rPr>
                        <a:t>15</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9</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4.88</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8</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6.92</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5773752"/>
                  </a:ext>
                </a:extLst>
              </a:tr>
              <a:tr h="225520">
                <a:tc>
                  <a:txBody>
                    <a:bodyPr/>
                    <a:lstStyle/>
                    <a:p>
                      <a:pPr marL="0" marR="0" algn="ctr">
                        <a:lnSpc>
                          <a:spcPct val="107000"/>
                        </a:lnSpc>
                        <a:spcAft>
                          <a:spcPts val="800"/>
                        </a:spcAft>
                        <a:buNone/>
                      </a:pPr>
                      <a:r>
                        <a:rPr lang="en-IN" sz="1200" kern="0">
                          <a:effectLst/>
                          <a:latin typeface="Times New Roman" panose="02020603050405020304" pitchFamily="18" charset="0"/>
                          <a:cs typeface="Times New Roman" panose="02020603050405020304" pitchFamily="18" charset="0"/>
                        </a:rPr>
                        <a:t>16</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IN" sz="1200" kern="0" dirty="0">
                          <a:effectLst/>
                          <a:latin typeface="Times New Roman" panose="02020603050405020304" pitchFamily="18" charset="0"/>
                          <a:cs typeface="Times New Roman" panose="02020603050405020304" pitchFamily="18" charset="0"/>
                        </a:rPr>
                        <a:t>95.28</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cs typeface="Times New Roman" panose="02020603050405020304" pitchFamily="18" charset="0"/>
                        </a:rPr>
                        <a:t>8</a:t>
                      </a:r>
                      <a:r>
                        <a:rPr lang="en-IN" sz="1200" kern="0" dirty="0">
                          <a:effectLst/>
                          <a:latin typeface="Times New Roman" panose="02020603050405020304" pitchFamily="18" charset="0"/>
                          <a:cs typeface="Times New Roman" panose="02020603050405020304" pitchFamily="18" charset="0"/>
                        </a:rPr>
                        <a:t>7.45</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4873006"/>
                  </a:ext>
                </a:extLst>
              </a:tr>
              <a:tr h="225520">
                <a:tc>
                  <a:txBody>
                    <a:bodyPr/>
                    <a:lstStyle/>
                    <a:p>
                      <a:pPr marL="0" marR="0" algn="ctr">
                        <a:lnSpc>
                          <a:spcPct val="107000"/>
                        </a:lnSpc>
                        <a:spcAft>
                          <a:spcPts val="800"/>
                        </a:spcAft>
                        <a:buNone/>
                      </a:pPr>
                      <a:r>
                        <a:rPr lang="en-IN" sz="1200" kern="0">
                          <a:effectLst/>
                          <a:latin typeface="Times New Roman" panose="02020603050405020304" pitchFamily="18" charset="0"/>
                          <a:cs typeface="Times New Roman" panose="02020603050405020304" pitchFamily="18" charset="0"/>
                        </a:rPr>
                        <a:t>17</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94.92</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8</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6.98</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81338892"/>
                  </a:ext>
                </a:extLst>
              </a:tr>
              <a:tr h="225520">
                <a:tc>
                  <a:txBody>
                    <a:bodyPr/>
                    <a:lstStyle/>
                    <a:p>
                      <a:pPr marL="0" marR="0" algn="ctr">
                        <a:lnSpc>
                          <a:spcPct val="107000"/>
                        </a:lnSpc>
                        <a:spcAft>
                          <a:spcPts val="800"/>
                        </a:spcAft>
                        <a:buNone/>
                      </a:pPr>
                      <a:r>
                        <a:rPr lang="en-IN" sz="1200" kern="0">
                          <a:effectLst/>
                          <a:latin typeface="Times New Roman" panose="02020603050405020304" pitchFamily="18" charset="0"/>
                          <a:cs typeface="Times New Roman" panose="02020603050405020304" pitchFamily="18" charset="0"/>
                        </a:rPr>
                        <a:t>18</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IN" sz="1200" kern="0" dirty="0">
                          <a:effectLst/>
                          <a:latin typeface="Times New Roman" panose="02020603050405020304" pitchFamily="18" charset="0"/>
                          <a:cs typeface="Times New Roman" panose="02020603050405020304" pitchFamily="18" charset="0"/>
                        </a:rPr>
                        <a:t>95.45</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8</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7.70</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15013918"/>
                  </a:ext>
                </a:extLst>
              </a:tr>
              <a:tr h="225520">
                <a:tc>
                  <a:txBody>
                    <a:bodyPr/>
                    <a:lstStyle/>
                    <a:p>
                      <a:pPr marL="0" marR="0" algn="ctr">
                        <a:lnSpc>
                          <a:spcPct val="107000"/>
                        </a:lnSpc>
                        <a:spcAft>
                          <a:spcPts val="800"/>
                        </a:spcAft>
                        <a:buNone/>
                      </a:pPr>
                      <a:r>
                        <a:rPr lang="en-IN" sz="1200" kern="0">
                          <a:effectLst/>
                          <a:latin typeface="Times New Roman" panose="02020603050405020304" pitchFamily="18" charset="0"/>
                          <a:cs typeface="Times New Roman" panose="02020603050405020304" pitchFamily="18" charset="0"/>
                        </a:rPr>
                        <a:t>19</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IN" sz="1200" kern="0" dirty="0">
                          <a:effectLst/>
                          <a:latin typeface="Times New Roman" panose="02020603050405020304" pitchFamily="18" charset="0"/>
                          <a:cs typeface="Times New Roman" panose="02020603050405020304" pitchFamily="18" charset="0"/>
                        </a:rPr>
                        <a:t>95.08</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8</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7.18</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5354414"/>
                  </a:ext>
                </a:extLst>
              </a:tr>
              <a:tr h="225520">
                <a:tc>
                  <a:txBody>
                    <a:bodyPr/>
                    <a:lstStyle/>
                    <a:p>
                      <a:pPr marL="0" marR="0" algn="ctr">
                        <a:lnSpc>
                          <a:spcPct val="107000"/>
                        </a:lnSpc>
                        <a:spcAft>
                          <a:spcPts val="800"/>
                        </a:spcAft>
                        <a:buNone/>
                      </a:pPr>
                      <a:r>
                        <a:rPr lang="en-IN" sz="1200" kern="0" dirty="0">
                          <a:effectLst/>
                          <a:latin typeface="Times New Roman" panose="02020603050405020304" pitchFamily="18" charset="0"/>
                          <a:cs typeface="Times New Roman" panose="02020603050405020304" pitchFamily="18" charset="0"/>
                        </a:rPr>
                        <a:t>20</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IN" sz="1200" kern="0" dirty="0">
                          <a:effectLst/>
                          <a:latin typeface="Times New Roman" panose="02020603050405020304" pitchFamily="18" charset="0"/>
                          <a:cs typeface="Times New Roman" panose="02020603050405020304" pitchFamily="18" charset="0"/>
                        </a:rPr>
                        <a:t>94.95</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8</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7.00</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96429944"/>
                  </a:ext>
                </a:extLst>
              </a:tr>
            </a:tbl>
          </a:graphicData>
        </a:graphic>
      </p:graphicFrame>
    </p:spTree>
    <p:extLst>
      <p:ext uri="{BB962C8B-B14F-4D97-AF65-F5344CB8AC3E}">
        <p14:creationId xmlns:p14="http://schemas.microsoft.com/office/powerpoint/2010/main" val="6833613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852D9DA-D709-738E-1A8C-C18A88ED6D40}"/>
              </a:ext>
            </a:extLst>
          </p:cNvPr>
          <p:cNvPicPr/>
          <p:nvPr/>
        </p:nvPicPr>
        <p:blipFill>
          <a:blip r:embed="rId2"/>
          <a:stretch>
            <a:fillRect/>
          </a:stretch>
        </p:blipFill>
        <p:spPr>
          <a:xfrm>
            <a:off x="589280" y="60529"/>
            <a:ext cx="10789919" cy="1264555"/>
          </a:xfrm>
          <a:prstGeom prst="rect">
            <a:avLst/>
          </a:prstGeom>
        </p:spPr>
      </p:pic>
      <p:sp>
        <p:nvSpPr>
          <p:cNvPr id="6" name="TextBox 5">
            <a:extLst>
              <a:ext uri="{FF2B5EF4-FFF2-40B4-BE49-F238E27FC236}">
                <a16:creationId xmlns:a16="http://schemas.microsoft.com/office/drawing/2014/main" id="{15A35356-28CA-5D04-1A5D-77C83301C317}"/>
              </a:ext>
            </a:extLst>
          </p:cNvPr>
          <p:cNvSpPr txBox="1"/>
          <p:nvPr/>
        </p:nvSpPr>
        <p:spPr>
          <a:xfrm>
            <a:off x="3048000" y="1350849"/>
            <a:ext cx="6096000" cy="707886"/>
          </a:xfrm>
          <a:prstGeom prst="rect">
            <a:avLst/>
          </a:prstGeom>
          <a:noFill/>
        </p:spPr>
        <p:txBody>
          <a:bodyPr wrap="square">
            <a:spAutoFit/>
          </a:bodyPr>
          <a:lstStyle/>
          <a:p>
            <a:pPr algn="ctr"/>
            <a:r>
              <a:rPr lang="en-US" sz="4000" b="1" dirty="0">
                <a:latin typeface="Times New Roman" panose="02020603050405020304" pitchFamily="18" charset="0"/>
                <a:cs typeface="Times New Roman" panose="02020603050405020304" pitchFamily="18" charset="0"/>
              </a:rPr>
              <a:t>SPSS ANALYSIS </a:t>
            </a:r>
            <a:endParaRPr lang="en-IN" sz="4000" dirty="0"/>
          </a:p>
        </p:txBody>
      </p:sp>
      <p:pic>
        <p:nvPicPr>
          <p:cNvPr id="9" name="Picture 8">
            <a:extLst>
              <a:ext uri="{FF2B5EF4-FFF2-40B4-BE49-F238E27FC236}">
                <a16:creationId xmlns:a16="http://schemas.microsoft.com/office/drawing/2014/main" id="{FC379970-4A5C-0F13-89EE-79F5F0D38C8F}"/>
              </a:ext>
            </a:extLst>
          </p:cNvPr>
          <p:cNvPicPr>
            <a:picLocks noChangeAspect="1"/>
          </p:cNvPicPr>
          <p:nvPr/>
        </p:nvPicPr>
        <p:blipFill>
          <a:blip r:embed="rId3"/>
          <a:stretch>
            <a:fillRect/>
          </a:stretch>
        </p:blipFill>
        <p:spPr>
          <a:xfrm>
            <a:off x="1188085" y="2056130"/>
            <a:ext cx="10079355" cy="3318510"/>
          </a:xfrm>
          <a:prstGeom prst="rect">
            <a:avLst/>
          </a:prstGeom>
        </p:spPr>
      </p:pic>
      <p:sp>
        <p:nvSpPr>
          <p:cNvPr id="11" name="TextBox 10">
            <a:extLst>
              <a:ext uri="{FF2B5EF4-FFF2-40B4-BE49-F238E27FC236}">
                <a16:creationId xmlns:a16="http://schemas.microsoft.com/office/drawing/2014/main" id="{C6F0F5F2-131B-9679-ED0F-CB3A640A3E07}"/>
              </a:ext>
            </a:extLst>
          </p:cNvPr>
          <p:cNvSpPr txBox="1"/>
          <p:nvPr/>
        </p:nvSpPr>
        <p:spPr>
          <a:xfrm>
            <a:off x="3048000" y="5593445"/>
            <a:ext cx="6096000" cy="523220"/>
          </a:xfrm>
          <a:prstGeom prst="rect">
            <a:avLst/>
          </a:prstGeom>
          <a:noFill/>
        </p:spPr>
        <p:txBody>
          <a:bodyPr wrap="square">
            <a:spAutoFit/>
          </a:bodyPr>
          <a:lstStyle/>
          <a:p>
            <a:pPr marL="0" indent="0">
              <a:buNone/>
            </a:pPr>
            <a:r>
              <a:rPr lang="en-US" sz="2800" dirty="0">
                <a:latin typeface="Times New Roman" panose="02020603050405020304" pitchFamily="18" charset="0"/>
                <a:cs typeface="Times New Roman" panose="02020603050405020304" pitchFamily="18" charset="0"/>
              </a:rPr>
              <a:t>Hence it is significant since p=0.030</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359373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62B4B51-0BEA-47CA-A43A-A849FA6432D1}"/>
              </a:ext>
            </a:extLst>
          </p:cNvPr>
          <p:cNvPicPr/>
          <p:nvPr/>
        </p:nvPicPr>
        <p:blipFill>
          <a:blip r:embed="rId2"/>
          <a:stretch>
            <a:fillRect/>
          </a:stretch>
        </p:blipFill>
        <p:spPr>
          <a:xfrm>
            <a:off x="599440" y="65242"/>
            <a:ext cx="10739119" cy="1264555"/>
          </a:xfrm>
          <a:prstGeom prst="rect">
            <a:avLst/>
          </a:prstGeom>
        </p:spPr>
      </p:pic>
      <p:sp>
        <p:nvSpPr>
          <p:cNvPr id="6" name="TextBox 5">
            <a:extLst>
              <a:ext uri="{FF2B5EF4-FFF2-40B4-BE49-F238E27FC236}">
                <a16:creationId xmlns:a16="http://schemas.microsoft.com/office/drawing/2014/main" id="{77A252B4-AEDC-871D-CF62-85C26D00AC09}"/>
              </a:ext>
            </a:extLst>
          </p:cNvPr>
          <p:cNvSpPr txBox="1"/>
          <p:nvPr/>
        </p:nvSpPr>
        <p:spPr>
          <a:xfrm>
            <a:off x="3048000" y="1329797"/>
            <a:ext cx="6096000" cy="707886"/>
          </a:xfrm>
          <a:prstGeom prst="rect">
            <a:avLst/>
          </a:prstGeom>
          <a:noFill/>
        </p:spPr>
        <p:txBody>
          <a:bodyPr wrap="square">
            <a:spAutoFit/>
          </a:bodyPr>
          <a:lstStyle/>
          <a:p>
            <a:pPr algn="ctr"/>
            <a:r>
              <a:rPr lang="en-US" sz="4000" b="1" dirty="0">
                <a:latin typeface="Times New Roman" panose="02020603050405020304" pitchFamily="18" charset="0"/>
                <a:cs typeface="Times New Roman" panose="02020603050405020304" pitchFamily="18" charset="0"/>
              </a:rPr>
              <a:t>SPSS ANALYSIS </a:t>
            </a:r>
            <a:endParaRPr lang="en-IN" sz="4000" dirty="0"/>
          </a:p>
        </p:txBody>
      </p:sp>
      <p:pic>
        <p:nvPicPr>
          <p:cNvPr id="9" name="Picture 8">
            <a:extLst>
              <a:ext uri="{FF2B5EF4-FFF2-40B4-BE49-F238E27FC236}">
                <a16:creationId xmlns:a16="http://schemas.microsoft.com/office/drawing/2014/main" id="{E5390ED7-F0BC-7ACF-DD43-51A1F2C35D57}"/>
              </a:ext>
            </a:extLst>
          </p:cNvPr>
          <p:cNvPicPr>
            <a:picLocks noChangeAspect="1"/>
          </p:cNvPicPr>
          <p:nvPr/>
        </p:nvPicPr>
        <p:blipFill>
          <a:blip r:embed="rId3"/>
          <a:stretch>
            <a:fillRect/>
          </a:stretch>
        </p:blipFill>
        <p:spPr>
          <a:xfrm>
            <a:off x="1930400" y="2037682"/>
            <a:ext cx="8044372" cy="4474877"/>
          </a:xfrm>
          <a:prstGeom prst="rect">
            <a:avLst/>
          </a:prstGeom>
        </p:spPr>
      </p:pic>
    </p:spTree>
    <p:extLst>
      <p:ext uri="{BB962C8B-B14F-4D97-AF65-F5344CB8AC3E}">
        <p14:creationId xmlns:p14="http://schemas.microsoft.com/office/powerpoint/2010/main" val="34260033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44F5EF7-A9B6-C595-47DA-3B8950BF10E6}"/>
              </a:ext>
            </a:extLst>
          </p:cNvPr>
          <p:cNvPicPr/>
          <p:nvPr/>
        </p:nvPicPr>
        <p:blipFill>
          <a:blip r:embed="rId2"/>
          <a:stretch>
            <a:fillRect/>
          </a:stretch>
        </p:blipFill>
        <p:spPr>
          <a:xfrm>
            <a:off x="589280" y="177234"/>
            <a:ext cx="10820400" cy="1264555"/>
          </a:xfrm>
          <a:prstGeom prst="rect">
            <a:avLst/>
          </a:prstGeom>
        </p:spPr>
      </p:pic>
      <p:sp>
        <p:nvSpPr>
          <p:cNvPr id="6" name="TextBox 5">
            <a:extLst>
              <a:ext uri="{FF2B5EF4-FFF2-40B4-BE49-F238E27FC236}">
                <a16:creationId xmlns:a16="http://schemas.microsoft.com/office/drawing/2014/main" id="{7838142D-54F7-AF4B-097F-3722E701393F}"/>
              </a:ext>
            </a:extLst>
          </p:cNvPr>
          <p:cNvSpPr txBox="1"/>
          <p:nvPr/>
        </p:nvSpPr>
        <p:spPr>
          <a:xfrm>
            <a:off x="2773680" y="1441789"/>
            <a:ext cx="6096000" cy="769441"/>
          </a:xfrm>
          <a:prstGeom prst="rect">
            <a:avLst/>
          </a:prstGeom>
          <a:noFill/>
        </p:spPr>
        <p:txBody>
          <a:bodyPr wrap="square">
            <a:spAutoFit/>
          </a:bodyPr>
          <a:lstStyle/>
          <a:p>
            <a:pPr algn="ctr"/>
            <a:r>
              <a:rPr lang="en-US" sz="4400" b="1" dirty="0">
                <a:latin typeface="Times New Roman" panose="02020603050405020304" pitchFamily="18" charset="0"/>
                <a:cs typeface="Times New Roman" panose="02020603050405020304" pitchFamily="18" charset="0"/>
              </a:rPr>
              <a:t>RESULT</a:t>
            </a:r>
            <a:endParaRPr lang="en-IN" sz="4400" dirty="0"/>
          </a:p>
        </p:txBody>
      </p:sp>
      <p:sp>
        <p:nvSpPr>
          <p:cNvPr id="8" name="TextBox 7">
            <a:extLst>
              <a:ext uri="{FF2B5EF4-FFF2-40B4-BE49-F238E27FC236}">
                <a16:creationId xmlns:a16="http://schemas.microsoft.com/office/drawing/2014/main" id="{95C9289D-A321-193B-C335-3449FC3393DE}"/>
              </a:ext>
            </a:extLst>
          </p:cNvPr>
          <p:cNvSpPr txBox="1"/>
          <p:nvPr/>
        </p:nvSpPr>
        <p:spPr>
          <a:xfrm>
            <a:off x="1117600" y="2383951"/>
            <a:ext cx="9956800" cy="3785652"/>
          </a:xfrm>
          <a:prstGeom prst="rect">
            <a:avLst/>
          </a:prstGeom>
          <a:noFill/>
        </p:spPr>
        <p:txBody>
          <a:bodyPr wrap="square">
            <a:spAutoFit/>
          </a:bodyPr>
          <a:lstStyle/>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proposed approach using </a:t>
            </a:r>
            <a:r>
              <a:rPr lang="en-US" sz="2000" b="1" dirty="0">
                <a:latin typeface="Times New Roman" panose="02020603050405020304" pitchFamily="18" charset="0"/>
                <a:cs typeface="Times New Roman" panose="02020603050405020304" pitchFamily="18" charset="0"/>
              </a:rPr>
              <a:t>Multimodal AI (Multimodal Artificial Intelligence) </a:t>
            </a:r>
            <a:r>
              <a:rPr lang="en-US" sz="2000" dirty="0">
                <a:latin typeface="Times New Roman" panose="02020603050405020304" pitchFamily="18" charset="0"/>
                <a:cs typeface="Times New Roman" panose="02020603050405020304" pitchFamily="18" charset="0"/>
              </a:rPr>
              <a:t>with a mean accuracy of </a:t>
            </a:r>
            <a:r>
              <a:rPr lang="en-US" sz="2000" b="1" dirty="0">
                <a:latin typeface="Times New Roman" panose="02020603050405020304" pitchFamily="18" charset="0"/>
                <a:cs typeface="Times New Roman" panose="02020603050405020304" pitchFamily="18" charset="0"/>
              </a:rPr>
              <a:t>95.10% </a:t>
            </a:r>
            <a:r>
              <a:rPr lang="en-US" sz="2000" dirty="0">
                <a:latin typeface="Times New Roman" panose="02020603050405020304" pitchFamily="18" charset="0"/>
                <a:cs typeface="Times New Roman" panose="02020603050405020304" pitchFamily="18" charset="0"/>
              </a:rPr>
              <a:t>demonstrates a clear improvement in deepfake detection performance compared to </a:t>
            </a:r>
            <a:r>
              <a:rPr lang="en-US" sz="2000" b="1" dirty="0">
                <a:latin typeface="Times New Roman" panose="02020603050405020304" pitchFamily="18" charset="0"/>
                <a:cs typeface="Times New Roman" panose="02020603050405020304" pitchFamily="18" charset="0"/>
              </a:rPr>
              <a:t>XAI-based models (Explainable Artificial Intelligence)</a:t>
            </a:r>
            <a:r>
              <a:rPr lang="en-US" sz="2000" dirty="0">
                <a:latin typeface="Times New Roman" panose="02020603050405020304" pitchFamily="18" charset="0"/>
                <a:cs typeface="Times New Roman" panose="02020603050405020304" pitchFamily="18" charset="0"/>
              </a:rPr>
              <a:t> which achieved a mean accuracy of </a:t>
            </a:r>
            <a:r>
              <a:rPr lang="en-US" sz="2000" b="1" dirty="0">
                <a:latin typeface="Times New Roman" panose="02020603050405020304" pitchFamily="18" charset="0"/>
                <a:cs typeface="Times New Roman" panose="02020603050405020304" pitchFamily="18" charset="0"/>
              </a:rPr>
              <a:t>87.62%.</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higher mean accuracy of the proposed model indicates its superior capability in identifying fake and real content by effectively integrating multiple modalities such as visual, audio, and temporal features.</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This improvement is further supported by statistical analysis using the T-test, where the significance value </a:t>
            </a:r>
            <a:r>
              <a:rPr lang="en-US" sz="2000" b="1" dirty="0">
                <a:latin typeface="Times New Roman" panose="02020603050405020304" pitchFamily="18" charset="0"/>
                <a:cs typeface="Times New Roman" panose="02020603050405020304" pitchFamily="18" charset="0"/>
              </a:rPr>
              <a:t>(p = 0.030) </a:t>
            </a:r>
            <a:r>
              <a:rPr lang="en-US" sz="2000" dirty="0">
                <a:latin typeface="Times New Roman" panose="02020603050405020304" pitchFamily="18" charset="0"/>
                <a:cs typeface="Times New Roman" panose="02020603050405020304" pitchFamily="18" charset="0"/>
              </a:rPr>
              <a:t>is less than </a:t>
            </a:r>
            <a:r>
              <a:rPr lang="en-US" sz="2000" b="1" dirty="0">
                <a:latin typeface="Times New Roman" panose="02020603050405020304" pitchFamily="18" charset="0"/>
                <a:cs typeface="Times New Roman" panose="02020603050405020304" pitchFamily="18" charset="0"/>
              </a:rPr>
              <a:t>0.05.</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Therefore, the observed enhancement in detection accuracy using Multimodal AI is statistically significant and not due to random variation, confirming that the proposed method outperforms the existing XAI-based approach in deepfake detection.</a:t>
            </a:r>
          </a:p>
        </p:txBody>
      </p:sp>
    </p:spTree>
    <p:extLst>
      <p:ext uri="{BB962C8B-B14F-4D97-AF65-F5344CB8AC3E}">
        <p14:creationId xmlns:p14="http://schemas.microsoft.com/office/powerpoint/2010/main" val="25954730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2E4147C-1E3C-EA8B-7CF5-169A3E2ECB9E}"/>
              </a:ext>
            </a:extLst>
          </p:cNvPr>
          <p:cNvPicPr/>
          <p:nvPr/>
        </p:nvPicPr>
        <p:blipFill>
          <a:blip r:embed="rId2"/>
          <a:stretch>
            <a:fillRect/>
          </a:stretch>
        </p:blipFill>
        <p:spPr>
          <a:xfrm>
            <a:off x="640080" y="65242"/>
            <a:ext cx="11003279" cy="1264555"/>
          </a:xfrm>
          <a:prstGeom prst="rect">
            <a:avLst/>
          </a:prstGeom>
        </p:spPr>
      </p:pic>
      <p:sp>
        <p:nvSpPr>
          <p:cNvPr id="6" name="TextBox 5">
            <a:extLst>
              <a:ext uri="{FF2B5EF4-FFF2-40B4-BE49-F238E27FC236}">
                <a16:creationId xmlns:a16="http://schemas.microsoft.com/office/drawing/2014/main" id="{36824E55-F208-44D8-3874-CA21FB4A96CB}"/>
              </a:ext>
            </a:extLst>
          </p:cNvPr>
          <p:cNvSpPr txBox="1"/>
          <p:nvPr/>
        </p:nvSpPr>
        <p:spPr>
          <a:xfrm>
            <a:off x="985521" y="2521357"/>
            <a:ext cx="10789919" cy="1569660"/>
          </a:xfrm>
          <a:prstGeom prst="rect">
            <a:avLst/>
          </a:prstGeom>
          <a:noFill/>
        </p:spPr>
        <p:txBody>
          <a:bodyPr wrap="square">
            <a:spAutoFit/>
          </a:bodyPr>
          <a:lstStyle/>
          <a:p>
            <a:pPr algn="ctr"/>
            <a:r>
              <a:rPr lang="en-US" sz="3200" b="1" dirty="0">
                <a:latin typeface="Times New Roman" panose="02020603050405020304" pitchFamily="18" charset="0"/>
                <a:cs typeface="Times New Roman" panose="02020603050405020304" pitchFamily="18" charset="0"/>
              </a:rPr>
              <a:t>Title 3: Comparative Analysis of Improved Automated   Deepfake Detection Using Multimodal AI over Federated Learning Techniques</a:t>
            </a:r>
            <a:endParaRPr lang="en-IN" sz="3200" dirty="0"/>
          </a:p>
        </p:txBody>
      </p:sp>
    </p:spTree>
    <p:extLst>
      <p:ext uri="{BB962C8B-B14F-4D97-AF65-F5344CB8AC3E}">
        <p14:creationId xmlns:p14="http://schemas.microsoft.com/office/powerpoint/2010/main" val="11009747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E225275-7E5E-2DE6-BBA5-0551E2126DF3}"/>
              </a:ext>
            </a:extLst>
          </p:cNvPr>
          <p:cNvPicPr/>
          <p:nvPr/>
        </p:nvPicPr>
        <p:blipFill>
          <a:blip r:embed="rId2"/>
          <a:stretch>
            <a:fillRect/>
          </a:stretch>
        </p:blipFill>
        <p:spPr>
          <a:xfrm>
            <a:off x="477520" y="364900"/>
            <a:ext cx="11145520" cy="1264555"/>
          </a:xfrm>
          <a:prstGeom prst="rect">
            <a:avLst/>
          </a:prstGeom>
        </p:spPr>
      </p:pic>
      <p:sp>
        <p:nvSpPr>
          <p:cNvPr id="6" name="TextBox 5">
            <a:extLst>
              <a:ext uri="{FF2B5EF4-FFF2-40B4-BE49-F238E27FC236}">
                <a16:creationId xmlns:a16="http://schemas.microsoft.com/office/drawing/2014/main" id="{ACAF874D-DAB2-EBF9-FB04-D79A404F6171}"/>
              </a:ext>
            </a:extLst>
          </p:cNvPr>
          <p:cNvSpPr txBox="1"/>
          <p:nvPr/>
        </p:nvSpPr>
        <p:spPr>
          <a:xfrm>
            <a:off x="2931160" y="1629455"/>
            <a:ext cx="6096000" cy="769441"/>
          </a:xfrm>
          <a:prstGeom prst="rect">
            <a:avLst/>
          </a:prstGeom>
          <a:noFill/>
        </p:spPr>
        <p:txBody>
          <a:bodyPr wrap="square">
            <a:spAutoFit/>
          </a:bodyPr>
          <a:lstStyle/>
          <a:p>
            <a:pPr algn="ctr" fontAlgn="ctr"/>
            <a:r>
              <a:rPr lang="en-US" sz="4400" b="1" dirty="0">
                <a:latin typeface="Times New Roman" panose="02020603050405020304" pitchFamily="18" charset="0"/>
                <a:cs typeface="Times New Roman" panose="02020603050405020304" pitchFamily="18" charset="0"/>
              </a:rPr>
              <a:t>PICO</a:t>
            </a:r>
          </a:p>
        </p:txBody>
      </p:sp>
      <p:sp>
        <p:nvSpPr>
          <p:cNvPr id="10" name="TextBox 9">
            <a:extLst>
              <a:ext uri="{FF2B5EF4-FFF2-40B4-BE49-F238E27FC236}">
                <a16:creationId xmlns:a16="http://schemas.microsoft.com/office/drawing/2014/main" id="{14EC2B2E-3500-425C-9554-D153E6FC6037}"/>
              </a:ext>
            </a:extLst>
          </p:cNvPr>
          <p:cNvSpPr txBox="1"/>
          <p:nvPr/>
        </p:nvSpPr>
        <p:spPr>
          <a:xfrm>
            <a:off x="1224280" y="2317616"/>
            <a:ext cx="10033000" cy="4457952"/>
          </a:xfrm>
          <a:prstGeom prst="rect">
            <a:avLst/>
          </a:prstGeom>
          <a:noFill/>
        </p:spPr>
        <p:txBody>
          <a:bodyPr wrap="square">
            <a:spAutoFit/>
          </a:bodyPr>
          <a:lstStyle/>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P(Population)</a:t>
            </a:r>
          </a:p>
          <a:p>
            <a:pPr lvl="0" eaLnBrk="0" fontAlgn="base" hangingPunct="0">
              <a:lnSpc>
                <a:spcPct val="150000"/>
              </a:lnSpc>
              <a:spcBef>
                <a:spcPct val="0"/>
              </a:spcBef>
              <a:spcAft>
                <a:spcPct val="0"/>
              </a:spcAft>
            </a:pPr>
            <a:r>
              <a:rPr lang="en-US" altLang="en-US" sz="2400" b="1" dirty="0">
                <a:latin typeface="Times New Roman" panose="02020603050405020304" pitchFamily="18" charset="0"/>
                <a:cs typeface="Times New Roman" panose="02020603050405020304" pitchFamily="18" charset="0"/>
              </a:rPr>
              <a:t>      </a:t>
            </a:r>
            <a:r>
              <a:rPr lang="en-US" altLang="en-US" sz="2400" dirty="0">
                <a:latin typeface="Times New Roman" panose="02020603050405020304" pitchFamily="18" charset="0"/>
                <a:cs typeface="Times New Roman" panose="02020603050405020304" pitchFamily="18" charset="0"/>
              </a:rPr>
              <a:t> Real-world and benchmark datasets with authentic and manipulated media</a:t>
            </a: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I(Intervention)</a:t>
            </a:r>
          </a:p>
          <a:p>
            <a:pPr lvl="0" eaLnBrk="0" fontAlgn="base" hangingPunct="0">
              <a:lnSpc>
                <a:spcPct val="150000"/>
              </a:lnSpc>
              <a:spcBef>
                <a:spcPct val="0"/>
              </a:spcBef>
              <a:spcAft>
                <a:spcPct val="0"/>
              </a:spcAft>
            </a:pPr>
            <a:r>
              <a:rPr lang="en-US" altLang="en-US" sz="2400" b="1" dirty="0">
                <a:latin typeface="Times New Roman" panose="02020603050405020304" pitchFamily="18" charset="0"/>
                <a:cs typeface="Times New Roman" panose="02020603050405020304" pitchFamily="18" charset="0"/>
              </a:rPr>
              <a:t>        </a:t>
            </a:r>
            <a:r>
              <a:rPr lang="en-US" altLang="en-US" sz="2400" dirty="0">
                <a:latin typeface="Times New Roman" panose="02020603050405020304" pitchFamily="18" charset="0"/>
                <a:cs typeface="Times New Roman" panose="02020603050405020304" pitchFamily="18" charset="0"/>
              </a:rPr>
              <a:t>Multimodal AI detection frameworks</a:t>
            </a: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C(Comparison)</a:t>
            </a:r>
          </a:p>
          <a:p>
            <a:pPr lvl="0" eaLnBrk="0" fontAlgn="base" hangingPunct="0">
              <a:lnSpc>
                <a:spcPct val="150000"/>
              </a:lnSpc>
              <a:spcBef>
                <a:spcPct val="0"/>
              </a:spcBef>
              <a:spcAft>
                <a:spcPct val="0"/>
              </a:spcAft>
            </a:pPr>
            <a:r>
              <a:rPr lang="en-US" altLang="en-US" sz="2400" b="1" dirty="0">
                <a:latin typeface="Times New Roman" panose="02020603050405020304" pitchFamily="18" charset="0"/>
                <a:cs typeface="Times New Roman" panose="02020603050405020304" pitchFamily="18" charset="0"/>
              </a:rPr>
              <a:t>        </a:t>
            </a:r>
            <a:r>
              <a:rPr lang="en-US" altLang="en-US" sz="2400" dirty="0">
                <a:latin typeface="Times New Roman" panose="02020603050405020304" pitchFamily="18" charset="0"/>
                <a:cs typeface="Times New Roman" panose="02020603050405020304" pitchFamily="18" charset="0"/>
              </a:rPr>
              <a:t>Federated Learning-based detection approaches</a:t>
            </a: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O(Outcome)</a:t>
            </a:r>
          </a:p>
          <a:p>
            <a:pPr lvl="0" eaLnBrk="0" fontAlgn="base" hangingPunct="0">
              <a:lnSpc>
                <a:spcPct val="150000"/>
              </a:lnSpc>
              <a:spcBef>
                <a:spcPct val="0"/>
              </a:spcBef>
              <a:spcAft>
                <a:spcPct val="0"/>
              </a:spcAft>
            </a:pPr>
            <a:r>
              <a:rPr lang="en-US" altLang="en-US" sz="2400" b="1" dirty="0">
                <a:latin typeface="Times New Roman" panose="02020603050405020304" pitchFamily="18" charset="0"/>
                <a:cs typeface="Times New Roman" panose="02020603050405020304" pitchFamily="18" charset="0"/>
              </a:rPr>
              <a:t>        </a:t>
            </a:r>
            <a:r>
              <a:rPr lang="en-US" altLang="en-US" sz="2400" dirty="0">
                <a:latin typeface="Times New Roman" panose="02020603050405020304" pitchFamily="18" charset="0"/>
                <a:cs typeface="Times New Roman" panose="02020603050405020304" pitchFamily="18" charset="0"/>
              </a:rPr>
              <a:t>  Enhanced detection accuracy, efficiency, and privacy-aware performance</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893174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6D20E7D-7AD1-15D7-AF91-2CDE879BBE76}"/>
              </a:ext>
            </a:extLst>
          </p:cNvPr>
          <p:cNvPicPr/>
          <p:nvPr/>
        </p:nvPicPr>
        <p:blipFill>
          <a:blip r:embed="rId2"/>
          <a:stretch>
            <a:fillRect/>
          </a:stretch>
        </p:blipFill>
        <p:spPr>
          <a:xfrm>
            <a:off x="477520" y="364900"/>
            <a:ext cx="11145520" cy="1264555"/>
          </a:xfrm>
          <a:prstGeom prst="rect">
            <a:avLst/>
          </a:prstGeom>
        </p:spPr>
      </p:pic>
      <p:sp>
        <p:nvSpPr>
          <p:cNvPr id="6" name="TextBox 5">
            <a:extLst>
              <a:ext uri="{FF2B5EF4-FFF2-40B4-BE49-F238E27FC236}">
                <a16:creationId xmlns:a16="http://schemas.microsoft.com/office/drawing/2014/main" id="{5573A93E-80FF-D307-AFCD-264A107FFD1B}"/>
              </a:ext>
            </a:extLst>
          </p:cNvPr>
          <p:cNvSpPr txBox="1"/>
          <p:nvPr/>
        </p:nvSpPr>
        <p:spPr>
          <a:xfrm>
            <a:off x="3002280" y="1629455"/>
            <a:ext cx="6096000" cy="769441"/>
          </a:xfrm>
          <a:prstGeom prst="rect">
            <a:avLst/>
          </a:prstGeom>
          <a:noFill/>
        </p:spPr>
        <p:txBody>
          <a:bodyPr wrap="square">
            <a:spAutoFit/>
          </a:bodyPr>
          <a:lstStyle/>
          <a:p>
            <a:pPr algn="ctr"/>
            <a:r>
              <a:rPr lang="en-US" sz="4400" b="1" dirty="0">
                <a:latin typeface="Times New Roman" panose="02020603050405020304" pitchFamily="18" charset="0"/>
                <a:cs typeface="Times New Roman" panose="02020603050405020304" pitchFamily="18" charset="0"/>
              </a:rPr>
              <a:t>DATA SET</a:t>
            </a:r>
            <a:endParaRPr lang="en-IN" sz="4400" dirty="0"/>
          </a:p>
        </p:txBody>
      </p:sp>
      <p:sp>
        <p:nvSpPr>
          <p:cNvPr id="8" name="TextBox 7">
            <a:extLst>
              <a:ext uri="{FF2B5EF4-FFF2-40B4-BE49-F238E27FC236}">
                <a16:creationId xmlns:a16="http://schemas.microsoft.com/office/drawing/2014/main" id="{DEDD763E-462C-CE3B-78D8-F8BAD37554E7}"/>
              </a:ext>
            </a:extLst>
          </p:cNvPr>
          <p:cNvSpPr txBox="1"/>
          <p:nvPr/>
        </p:nvSpPr>
        <p:spPr>
          <a:xfrm>
            <a:off x="2717800" y="2240374"/>
            <a:ext cx="8041640" cy="539378"/>
          </a:xfrm>
          <a:prstGeom prst="rect">
            <a:avLst/>
          </a:prstGeom>
          <a:noFill/>
        </p:spPr>
        <p:txBody>
          <a:bodyPr wrap="square">
            <a:spAutoFit/>
          </a:bodyPr>
          <a:lstStyle/>
          <a:p>
            <a:pPr marL="0" lvl="0" indent="0" algn="ctr" eaLnBrk="0" fontAlgn="base" hangingPunct="0">
              <a:lnSpc>
                <a:spcPct val="150000"/>
              </a:lnSpc>
              <a:spcBef>
                <a:spcPct val="0"/>
              </a:spcBef>
              <a:spcAft>
                <a:spcPct val="0"/>
              </a:spcAft>
              <a:buNone/>
            </a:pPr>
            <a:r>
              <a:rPr lang="en-US" altLang="en-US" sz="2200" dirty="0">
                <a:latin typeface="Times New Roman" panose="02020603050405020304" pitchFamily="18" charset="0"/>
                <a:cs typeface="Times New Roman" panose="02020603050405020304" pitchFamily="18" charset="0"/>
                <a:hlinkClick r:id="rId3"/>
              </a:rPr>
              <a:t>https://www.kaggle.com/code/aditya48/real-and-fake-face-detection</a:t>
            </a:r>
            <a:endParaRPr lang="en-US" altLang="en-US" sz="22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F5D83E5D-5F9B-5CC3-FDE1-49F7EC17281E}"/>
              </a:ext>
            </a:extLst>
          </p:cNvPr>
          <p:cNvSpPr txBox="1"/>
          <p:nvPr/>
        </p:nvSpPr>
        <p:spPr>
          <a:xfrm>
            <a:off x="172720" y="2894010"/>
            <a:ext cx="11755120" cy="1323439"/>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The dataset consists of approximately </a:t>
            </a:r>
            <a:r>
              <a:rPr lang="en-US" sz="2000" b="1" dirty="0">
                <a:latin typeface="Times New Roman" panose="02020603050405020304" pitchFamily="18" charset="0"/>
                <a:cs typeface="Times New Roman" panose="02020603050405020304" pitchFamily="18" charset="0"/>
              </a:rPr>
              <a:t>2000+ instances</a:t>
            </a:r>
            <a:r>
              <a:rPr lang="en-US" sz="2000" dirty="0">
                <a:latin typeface="Times New Roman" panose="02020603050405020304" pitchFamily="18" charset="0"/>
                <a:cs typeface="Times New Roman" panose="02020603050405020304" pitchFamily="18" charset="0"/>
              </a:rPr>
              <a:t> with attributes representing facial image data for deepfake detection. It includes both real and manipulated (fake) face images created using advanced editing techniques such as facial feature swapping and image synthesis, enabling analysis of detection performance across multiple AI techniques.</a:t>
            </a:r>
            <a:endParaRPr lang="en-IN" sz="2000"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3FF8FC78-58FC-9E24-6127-4E6B43FF3567}"/>
              </a:ext>
            </a:extLst>
          </p:cNvPr>
          <p:cNvSpPr txBox="1"/>
          <p:nvPr/>
        </p:nvSpPr>
        <p:spPr>
          <a:xfrm>
            <a:off x="1178560" y="4571161"/>
            <a:ext cx="3078480" cy="1631216"/>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List of Attributes</a:t>
            </a:r>
          </a:p>
          <a:p>
            <a:pPr>
              <a:buFont typeface="Arial" panose="020B0604020202020204" pitchFamily="34" charset="0"/>
              <a:buChar char="•"/>
            </a:pPr>
            <a:r>
              <a:rPr lang="en-US" sz="2000" dirty="0" err="1">
                <a:latin typeface="Times New Roman" panose="02020603050405020304" pitchFamily="18" charset="0"/>
                <a:cs typeface="Times New Roman" panose="02020603050405020304" pitchFamily="18" charset="0"/>
              </a:rPr>
              <a:t>Image_Data</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PixelValues</a:t>
            </a:r>
            <a:r>
              <a:rPr lang="en-US" sz="2000"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sz="2000" dirty="0" err="1">
                <a:latin typeface="Times New Roman" panose="02020603050405020304" pitchFamily="18" charset="0"/>
                <a:cs typeface="Times New Roman" panose="02020603050405020304" pitchFamily="18" charset="0"/>
              </a:rPr>
              <a:t>Image_Width</a:t>
            </a:r>
            <a:r>
              <a:rPr lang="en-US" sz="2000"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sz="2000" dirty="0" err="1">
                <a:latin typeface="Times New Roman" panose="02020603050405020304" pitchFamily="18" charset="0"/>
                <a:cs typeface="Times New Roman" panose="02020603050405020304" pitchFamily="18" charset="0"/>
              </a:rPr>
              <a:t>Image_Height</a:t>
            </a:r>
            <a:r>
              <a:rPr lang="en-US" sz="2000"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sz="2000" dirty="0" err="1">
                <a:latin typeface="Times New Roman" panose="02020603050405020304" pitchFamily="18" charset="0"/>
                <a:cs typeface="Times New Roman" panose="02020603050405020304" pitchFamily="18" charset="0"/>
              </a:rPr>
              <a:t>Color_Channels</a:t>
            </a:r>
            <a:r>
              <a:rPr lang="en-US" sz="2000" dirty="0">
                <a:latin typeface="Times New Roman" panose="02020603050405020304" pitchFamily="18" charset="0"/>
                <a:cs typeface="Times New Roman" panose="02020603050405020304" pitchFamily="18" charset="0"/>
              </a:rPr>
              <a:t> (RGB)</a:t>
            </a:r>
            <a:endParaRPr lang="en-IN" sz="2000" dirty="0"/>
          </a:p>
        </p:txBody>
      </p:sp>
      <p:sp>
        <p:nvSpPr>
          <p:cNvPr id="14" name="TextBox 13">
            <a:extLst>
              <a:ext uri="{FF2B5EF4-FFF2-40B4-BE49-F238E27FC236}">
                <a16:creationId xmlns:a16="http://schemas.microsoft.com/office/drawing/2014/main" id="{492B89C0-2ED4-D707-6DB3-374F70258B92}"/>
              </a:ext>
            </a:extLst>
          </p:cNvPr>
          <p:cNvSpPr txBox="1"/>
          <p:nvPr/>
        </p:nvSpPr>
        <p:spPr>
          <a:xfrm>
            <a:off x="4886962" y="4571161"/>
            <a:ext cx="2804158" cy="1631216"/>
          </a:xfrm>
          <a:prstGeom prst="rect">
            <a:avLst/>
          </a:prstGeom>
          <a:noFill/>
        </p:spPr>
        <p:txBody>
          <a:bodyPr wrap="square">
            <a:spAutoFit/>
          </a:bodyPr>
          <a:lstStyle/>
          <a:p>
            <a:pPr>
              <a:buFont typeface="Arial" panose="020B0604020202020204" pitchFamily="34" charset="0"/>
              <a:buChar char="•"/>
            </a:pPr>
            <a:r>
              <a:rPr lang="en-US" sz="2000" dirty="0" err="1">
                <a:latin typeface="Times New Roman" panose="02020603050405020304" pitchFamily="18" charset="0"/>
                <a:cs typeface="Times New Roman" panose="02020603050405020304" pitchFamily="18" charset="0"/>
              </a:rPr>
              <a:t>Texture_Features</a:t>
            </a:r>
            <a:r>
              <a:rPr lang="en-US" sz="2000"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sz="2000" dirty="0" err="1">
                <a:latin typeface="Times New Roman" panose="02020603050405020304" pitchFamily="18" charset="0"/>
                <a:cs typeface="Times New Roman" panose="02020603050405020304" pitchFamily="18" charset="0"/>
              </a:rPr>
              <a:t>Edge_Features</a:t>
            </a:r>
            <a:r>
              <a:rPr lang="en-US" sz="2000"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sz="2000" dirty="0" err="1">
                <a:latin typeface="Times New Roman" panose="02020603050405020304" pitchFamily="18" charset="0"/>
                <a:cs typeface="Times New Roman" panose="02020603050405020304" pitchFamily="18" charset="0"/>
              </a:rPr>
              <a:t>Facial_Regions</a:t>
            </a:r>
            <a:r>
              <a:rPr lang="en-US" sz="2000"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Resolution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Label (Real/Fake)</a:t>
            </a:r>
            <a:endParaRPr lang="en-IN" sz="2000" dirty="0"/>
          </a:p>
        </p:txBody>
      </p:sp>
    </p:spTree>
    <p:extLst>
      <p:ext uri="{BB962C8B-B14F-4D97-AF65-F5344CB8AC3E}">
        <p14:creationId xmlns:p14="http://schemas.microsoft.com/office/powerpoint/2010/main" val="26814919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3AC506E-94A8-08CE-D6F0-1EB918227DD7}"/>
              </a:ext>
            </a:extLst>
          </p:cNvPr>
          <p:cNvPicPr/>
          <p:nvPr/>
        </p:nvPicPr>
        <p:blipFill>
          <a:blip r:embed="rId2"/>
          <a:stretch>
            <a:fillRect/>
          </a:stretch>
        </p:blipFill>
        <p:spPr>
          <a:xfrm>
            <a:off x="518160" y="364900"/>
            <a:ext cx="11176000" cy="1264555"/>
          </a:xfrm>
          <a:prstGeom prst="rect">
            <a:avLst/>
          </a:prstGeom>
        </p:spPr>
      </p:pic>
      <p:sp>
        <p:nvSpPr>
          <p:cNvPr id="6" name="TextBox 5">
            <a:extLst>
              <a:ext uri="{FF2B5EF4-FFF2-40B4-BE49-F238E27FC236}">
                <a16:creationId xmlns:a16="http://schemas.microsoft.com/office/drawing/2014/main" id="{E0FFD4D0-BBC4-CC8F-930C-46B459658B8D}"/>
              </a:ext>
            </a:extLst>
          </p:cNvPr>
          <p:cNvSpPr txBox="1"/>
          <p:nvPr/>
        </p:nvSpPr>
        <p:spPr>
          <a:xfrm>
            <a:off x="3200400" y="1629455"/>
            <a:ext cx="6096000" cy="769441"/>
          </a:xfrm>
          <a:prstGeom prst="rect">
            <a:avLst/>
          </a:prstGeom>
          <a:noFill/>
        </p:spPr>
        <p:txBody>
          <a:bodyPr wrap="square">
            <a:spAutoFit/>
          </a:bodyPr>
          <a:lstStyle/>
          <a:p>
            <a:pPr algn="ctr"/>
            <a:r>
              <a:rPr lang="en-US" sz="4400" b="1" dirty="0">
                <a:latin typeface="Times New Roman" panose="02020603050405020304" pitchFamily="18" charset="0"/>
                <a:cs typeface="Times New Roman" panose="02020603050405020304" pitchFamily="18" charset="0"/>
              </a:rPr>
              <a:t>KEY ATTRIBUTES</a:t>
            </a:r>
            <a:endParaRPr lang="en-IN" sz="4400" dirty="0"/>
          </a:p>
        </p:txBody>
      </p:sp>
      <p:sp>
        <p:nvSpPr>
          <p:cNvPr id="8" name="TextBox 7">
            <a:extLst>
              <a:ext uri="{FF2B5EF4-FFF2-40B4-BE49-F238E27FC236}">
                <a16:creationId xmlns:a16="http://schemas.microsoft.com/office/drawing/2014/main" id="{F5705D8F-D915-7C9A-90A6-AD0D74190852}"/>
              </a:ext>
            </a:extLst>
          </p:cNvPr>
          <p:cNvSpPr txBox="1"/>
          <p:nvPr/>
        </p:nvSpPr>
        <p:spPr>
          <a:xfrm>
            <a:off x="1021080" y="2720167"/>
            <a:ext cx="10215880" cy="347787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Image_Data</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(Pixel Values)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Core numerical representation of images used for model training and prediction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Color_Channels</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(RGB)</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Provides color information that helps detect unnatural patterns in fake images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Texture_Features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Identifies irregular skin textures and smoothing artifacts in manipulated faces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Edge_Features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Detects sharp transitions and inconsistencies caused by editing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Facial_Regions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Focuses on key areas like eyes, nose, and mouth where manipulation is common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Resolution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Affects feature quality and model accuracy in detecting deepfakes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Label (Real/Fake)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Target variable used for classification of images </a:t>
            </a:r>
          </a:p>
        </p:txBody>
      </p:sp>
    </p:spTree>
    <p:extLst>
      <p:ext uri="{BB962C8B-B14F-4D97-AF65-F5344CB8AC3E}">
        <p14:creationId xmlns:p14="http://schemas.microsoft.com/office/powerpoint/2010/main" val="41839591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1297531-88FA-88EE-7AD0-FEE01CA6766C}"/>
              </a:ext>
            </a:extLst>
          </p:cNvPr>
          <p:cNvPicPr/>
          <p:nvPr/>
        </p:nvPicPr>
        <p:blipFill>
          <a:blip r:embed="rId2"/>
          <a:stretch>
            <a:fillRect/>
          </a:stretch>
        </p:blipFill>
        <p:spPr>
          <a:xfrm>
            <a:off x="477520" y="364900"/>
            <a:ext cx="11186160" cy="1264555"/>
          </a:xfrm>
          <a:prstGeom prst="rect">
            <a:avLst/>
          </a:prstGeom>
        </p:spPr>
      </p:pic>
      <p:sp>
        <p:nvSpPr>
          <p:cNvPr id="6" name="TextBox 5">
            <a:extLst>
              <a:ext uri="{FF2B5EF4-FFF2-40B4-BE49-F238E27FC236}">
                <a16:creationId xmlns:a16="http://schemas.microsoft.com/office/drawing/2014/main" id="{594A7795-FFE5-4031-40A2-17FA50197E6C}"/>
              </a:ext>
            </a:extLst>
          </p:cNvPr>
          <p:cNvSpPr txBox="1"/>
          <p:nvPr/>
        </p:nvSpPr>
        <p:spPr>
          <a:xfrm>
            <a:off x="2865120" y="1629455"/>
            <a:ext cx="7548880" cy="707886"/>
          </a:xfrm>
          <a:prstGeom prst="rect">
            <a:avLst/>
          </a:prstGeom>
          <a:noFill/>
        </p:spPr>
        <p:txBody>
          <a:bodyPr wrap="square">
            <a:spAutoFit/>
          </a:bodyPr>
          <a:lstStyle/>
          <a:p>
            <a:pPr algn="ctr"/>
            <a:r>
              <a:rPr lang="en-US" sz="4000" b="1" dirty="0">
                <a:latin typeface="Times New Roman" panose="02020603050405020304" pitchFamily="18" charset="0"/>
                <a:cs typeface="Times New Roman" panose="02020603050405020304" pitchFamily="18" charset="0"/>
              </a:rPr>
              <a:t>SAMPLE SIZE CALCULATION </a:t>
            </a:r>
            <a:endParaRPr lang="en-IN" sz="4000" dirty="0"/>
          </a:p>
        </p:txBody>
      </p:sp>
      <p:sp>
        <p:nvSpPr>
          <p:cNvPr id="8" name="TextBox 7">
            <a:extLst>
              <a:ext uri="{FF2B5EF4-FFF2-40B4-BE49-F238E27FC236}">
                <a16:creationId xmlns:a16="http://schemas.microsoft.com/office/drawing/2014/main" id="{E25435ED-199F-7B03-1E4C-DD5D7E1DD819}"/>
              </a:ext>
            </a:extLst>
          </p:cNvPr>
          <p:cNvSpPr txBox="1"/>
          <p:nvPr/>
        </p:nvSpPr>
        <p:spPr>
          <a:xfrm>
            <a:off x="3048000" y="2412918"/>
            <a:ext cx="6096000" cy="369332"/>
          </a:xfrm>
          <a:prstGeom prst="rect">
            <a:avLst/>
          </a:prstGeom>
          <a:noFill/>
        </p:spPr>
        <p:txBody>
          <a:bodyPr wrap="square">
            <a:spAutoFit/>
          </a:bodyPr>
          <a:lstStyle/>
          <a:p>
            <a:pPr algn="ctr"/>
            <a:r>
              <a:rPr lang="en-IN" b="1" dirty="0">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Link: </a:t>
            </a:r>
            <a:r>
              <a:rPr lang="en-IN" dirty="0">
                <a:solidFill>
                  <a:srgbClr val="467886"/>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https://clincalc.com/stats/samplesize.aspx</a:t>
            </a:r>
            <a:endParaRPr lang="en-IN" dirty="0">
              <a:latin typeface="Times New Roman" panose="02020603050405020304" pitchFamily="18" charset="0"/>
              <a:cs typeface="Times New Roman" panose="02020603050405020304" pitchFamily="18" charset="0"/>
            </a:endParaRPr>
          </a:p>
        </p:txBody>
      </p:sp>
      <p:graphicFrame>
        <p:nvGraphicFramePr>
          <p:cNvPr id="9" name="Table 8">
            <a:extLst>
              <a:ext uri="{FF2B5EF4-FFF2-40B4-BE49-F238E27FC236}">
                <a16:creationId xmlns:a16="http://schemas.microsoft.com/office/drawing/2014/main" id="{D3AFC376-77A5-3D3F-8FE4-0586080797EB}"/>
              </a:ext>
            </a:extLst>
          </p:cNvPr>
          <p:cNvGraphicFramePr>
            <a:graphicFrameLocks noGrp="1"/>
          </p:cNvGraphicFramePr>
          <p:nvPr>
            <p:extLst>
              <p:ext uri="{D42A27DB-BD31-4B8C-83A1-F6EECF244321}">
                <p14:modId xmlns:p14="http://schemas.microsoft.com/office/powerpoint/2010/main" val="3242926460"/>
              </p:ext>
            </p:extLst>
          </p:nvPr>
        </p:nvGraphicFramePr>
        <p:xfrm>
          <a:off x="897366" y="3320967"/>
          <a:ext cx="4301267" cy="2399385"/>
        </p:xfrm>
        <a:graphic>
          <a:graphicData uri="http://schemas.openxmlformats.org/drawingml/2006/table">
            <a:tbl>
              <a:tblPr firstRow="1" bandRow="1">
                <a:tableStyleId>{2D5ABB26-0587-4C30-8999-92F81FD0307C}</a:tableStyleId>
              </a:tblPr>
              <a:tblGrid>
                <a:gridCol w="2166955">
                  <a:extLst>
                    <a:ext uri="{9D8B030D-6E8A-4147-A177-3AD203B41FA5}">
                      <a16:colId xmlns:a16="http://schemas.microsoft.com/office/drawing/2014/main" val="3960265088"/>
                    </a:ext>
                  </a:extLst>
                </a:gridCol>
                <a:gridCol w="2134312">
                  <a:extLst>
                    <a:ext uri="{9D8B030D-6E8A-4147-A177-3AD203B41FA5}">
                      <a16:colId xmlns:a16="http://schemas.microsoft.com/office/drawing/2014/main" val="1325436529"/>
                    </a:ext>
                  </a:extLst>
                </a:gridCol>
              </a:tblGrid>
              <a:tr h="484920">
                <a:tc gridSpan="2">
                  <a:txBody>
                    <a:bodyPr/>
                    <a:lstStyle/>
                    <a:p>
                      <a:pPr algn="ctr"/>
                      <a:r>
                        <a:rPr lang="en-US" sz="2400" b="1" dirty="0">
                          <a:latin typeface="Times New Roman" panose="02020603050405020304" pitchFamily="18" charset="0"/>
                          <a:cs typeface="Times New Roman" panose="02020603050405020304" pitchFamily="18" charset="0"/>
                        </a:rPr>
                        <a:t>Sample Size</a:t>
                      </a:r>
                      <a:endParaRPr lang="en-IN" sz="24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a:p>
                  </a:txBody>
                  <a:tcPr/>
                </a:tc>
                <a:extLst>
                  <a:ext uri="{0D108BD9-81ED-4DB2-BD59-A6C34878D82A}">
                    <a16:rowId xmlns:a16="http://schemas.microsoft.com/office/drawing/2014/main" val="3512147545"/>
                  </a:ext>
                </a:extLst>
              </a:tr>
              <a:tr h="622294">
                <a:tc>
                  <a:txBody>
                    <a:bodyPr/>
                    <a:lstStyle/>
                    <a:p>
                      <a:pPr algn="ctr"/>
                      <a:r>
                        <a:rPr lang="en-US" sz="2400" b="1" dirty="0">
                          <a:latin typeface="Times New Roman" panose="02020603050405020304" pitchFamily="18" charset="0"/>
                          <a:cs typeface="Times New Roman" panose="02020603050405020304" pitchFamily="18" charset="0"/>
                        </a:rPr>
                        <a:t>Group 1</a:t>
                      </a:r>
                      <a:endParaRPr lang="en-IN" sz="24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latin typeface="Times New Roman" panose="02020603050405020304" pitchFamily="18" charset="0"/>
                          <a:cs typeface="Times New Roman" panose="02020603050405020304" pitchFamily="18" charset="0"/>
                        </a:rPr>
                        <a:t>239</a:t>
                      </a:r>
                      <a:endParaRPr lang="en-IN"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04583972"/>
                  </a:ext>
                </a:extLst>
              </a:tr>
              <a:tr h="585945">
                <a:tc>
                  <a:txBody>
                    <a:bodyPr/>
                    <a:lstStyle/>
                    <a:p>
                      <a:pPr algn="ctr"/>
                      <a:r>
                        <a:rPr lang="en-US" sz="2400" b="1" dirty="0">
                          <a:latin typeface="Times New Roman" panose="02020603050405020304" pitchFamily="18" charset="0"/>
                          <a:cs typeface="Times New Roman" panose="02020603050405020304" pitchFamily="18" charset="0"/>
                        </a:rPr>
                        <a:t>Group 2</a:t>
                      </a:r>
                      <a:endParaRPr lang="en-IN" sz="24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latin typeface="Times New Roman" panose="02020603050405020304" pitchFamily="18" charset="0"/>
                          <a:cs typeface="Times New Roman" panose="02020603050405020304" pitchFamily="18" charset="0"/>
                        </a:rPr>
                        <a:t>239</a:t>
                      </a:r>
                      <a:endParaRPr lang="en-IN"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93586037"/>
                  </a:ext>
                </a:extLst>
              </a:tr>
              <a:tr h="706226">
                <a:tc>
                  <a:txBody>
                    <a:bodyPr/>
                    <a:lstStyle/>
                    <a:p>
                      <a:pPr algn="ctr"/>
                      <a:r>
                        <a:rPr lang="en-US" sz="2400" b="1" dirty="0">
                          <a:latin typeface="Times New Roman" panose="02020603050405020304" pitchFamily="18" charset="0"/>
                          <a:cs typeface="Times New Roman" panose="02020603050405020304" pitchFamily="18" charset="0"/>
                        </a:rPr>
                        <a:t>Total</a:t>
                      </a:r>
                      <a:endParaRPr lang="en-IN" sz="24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latin typeface="Times New Roman" panose="02020603050405020304" pitchFamily="18" charset="0"/>
                          <a:cs typeface="Times New Roman" panose="02020603050405020304" pitchFamily="18" charset="0"/>
                        </a:rPr>
                        <a:t>478</a:t>
                      </a:r>
                      <a:endParaRPr lang="en-IN"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65040224"/>
                  </a:ext>
                </a:extLst>
              </a:tr>
            </a:tbl>
          </a:graphicData>
        </a:graphic>
      </p:graphicFrame>
      <p:graphicFrame>
        <p:nvGraphicFramePr>
          <p:cNvPr id="10" name="Table 9">
            <a:extLst>
              <a:ext uri="{FF2B5EF4-FFF2-40B4-BE49-F238E27FC236}">
                <a16:creationId xmlns:a16="http://schemas.microsoft.com/office/drawing/2014/main" id="{159A4708-6613-0E0C-5A70-86876A21CA19}"/>
              </a:ext>
            </a:extLst>
          </p:cNvPr>
          <p:cNvGraphicFramePr>
            <a:graphicFrameLocks noGrp="1"/>
          </p:cNvGraphicFramePr>
          <p:nvPr>
            <p:extLst>
              <p:ext uri="{D42A27DB-BD31-4B8C-83A1-F6EECF244321}">
                <p14:modId xmlns:p14="http://schemas.microsoft.com/office/powerpoint/2010/main" val="1469818150"/>
              </p:ext>
            </p:extLst>
          </p:nvPr>
        </p:nvGraphicFramePr>
        <p:xfrm>
          <a:off x="5887720" y="3004185"/>
          <a:ext cx="5519868" cy="3237702"/>
        </p:xfrm>
        <a:graphic>
          <a:graphicData uri="http://schemas.openxmlformats.org/drawingml/2006/table">
            <a:tbl>
              <a:tblPr firstRow="1" bandRow="1">
                <a:tableStyleId>{2D5ABB26-0587-4C30-8999-92F81FD0307C}</a:tableStyleId>
              </a:tblPr>
              <a:tblGrid>
                <a:gridCol w="2780880">
                  <a:extLst>
                    <a:ext uri="{9D8B030D-6E8A-4147-A177-3AD203B41FA5}">
                      <a16:colId xmlns:a16="http://schemas.microsoft.com/office/drawing/2014/main" val="1685845376"/>
                    </a:ext>
                  </a:extLst>
                </a:gridCol>
                <a:gridCol w="2738988">
                  <a:extLst>
                    <a:ext uri="{9D8B030D-6E8A-4147-A177-3AD203B41FA5}">
                      <a16:colId xmlns:a16="http://schemas.microsoft.com/office/drawing/2014/main" val="1086854229"/>
                    </a:ext>
                  </a:extLst>
                </a:gridCol>
              </a:tblGrid>
              <a:tr h="535096">
                <a:tc gridSpan="2">
                  <a:txBody>
                    <a:bodyPr/>
                    <a:lstStyle/>
                    <a:p>
                      <a:pPr algn="ctr"/>
                      <a:r>
                        <a:rPr lang="en-US" sz="2400" b="1" dirty="0">
                          <a:latin typeface="Times New Roman" panose="02020603050405020304" pitchFamily="18" charset="0"/>
                          <a:cs typeface="Times New Roman" panose="02020603050405020304" pitchFamily="18" charset="0"/>
                        </a:rPr>
                        <a:t>Study Parameters</a:t>
                      </a:r>
                      <a:endParaRPr lang="en-IN" sz="24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a:p>
                  </a:txBody>
                  <a:tcPr/>
                </a:tc>
                <a:extLst>
                  <a:ext uri="{0D108BD9-81ED-4DB2-BD59-A6C34878D82A}">
                    <a16:rowId xmlns:a16="http://schemas.microsoft.com/office/drawing/2014/main" val="3183780009"/>
                  </a:ext>
                </a:extLst>
              </a:tr>
              <a:tr h="562222">
                <a:tc>
                  <a:txBody>
                    <a:bodyPr/>
                    <a:lstStyle/>
                    <a:p>
                      <a:pPr algn="ctr"/>
                      <a:r>
                        <a:rPr lang="en-US" sz="2400" b="1" dirty="0">
                          <a:latin typeface="Times New Roman" panose="02020603050405020304" pitchFamily="18" charset="0"/>
                          <a:cs typeface="Times New Roman" panose="02020603050405020304" pitchFamily="18" charset="0"/>
                        </a:rPr>
                        <a:t>Incidence, Group 1</a:t>
                      </a:r>
                      <a:endParaRPr lang="en-IN" sz="24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latin typeface="Times New Roman" panose="02020603050405020304" pitchFamily="18" charset="0"/>
                          <a:cs typeface="Times New Roman" panose="02020603050405020304" pitchFamily="18" charset="0"/>
                        </a:rPr>
                        <a:t>93%</a:t>
                      </a:r>
                      <a:endParaRPr lang="en-IN"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3265587"/>
                  </a:ext>
                </a:extLst>
              </a:tr>
              <a:tr h="535096">
                <a:tc>
                  <a:txBody>
                    <a:bodyPr/>
                    <a:lstStyle/>
                    <a:p>
                      <a:pPr algn="ctr"/>
                      <a:r>
                        <a:rPr lang="en-US" sz="2400" b="1" dirty="0">
                          <a:latin typeface="Times New Roman" panose="02020603050405020304" pitchFamily="18" charset="0"/>
                          <a:cs typeface="Times New Roman" panose="02020603050405020304" pitchFamily="18" charset="0"/>
                        </a:rPr>
                        <a:t>Incidence, Group 2</a:t>
                      </a:r>
                      <a:endParaRPr lang="en-IN" sz="24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latin typeface="Times New Roman" panose="02020603050405020304" pitchFamily="18" charset="0"/>
                          <a:cs typeface="Times New Roman" panose="02020603050405020304" pitchFamily="18" charset="0"/>
                        </a:rPr>
                        <a:t>85%</a:t>
                      </a:r>
                      <a:endParaRPr lang="en-IN"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37072099"/>
                  </a:ext>
                </a:extLst>
              </a:tr>
              <a:tr h="535096">
                <a:tc>
                  <a:txBody>
                    <a:bodyPr/>
                    <a:lstStyle/>
                    <a:p>
                      <a:pPr algn="ctr"/>
                      <a:r>
                        <a:rPr lang="en-US" sz="2400" b="1" dirty="0">
                          <a:latin typeface="Times New Roman" panose="02020603050405020304" pitchFamily="18" charset="0"/>
                          <a:cs typeface="Times New Roman" panose="02020603050405020304" pitchFamily="18" charset="0"/>
                        </a:rPr>
                        <a:t>Alpha</a:t>
                      </a:r>
                      <a:endParaRPr lang="en-IN" sz="24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latin typeface="Times New Roman" panose="02020603050405020304" pitchFamily="18" charset="0"/>
                          <a:cs typeface="Times New Roman" panose="02020603050405020304" pitchFamily="18" charset="0"/>
                        </a:rPr>
                        <a:t>0.05</a:t>
                      </a:r>
                      <a:endParaRPr lang="en-IN"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664063"/>
                  </a:ext>
                </a:extLst>
              </a:tr>
              <a:tr h="535096">
                <a:tc>
                  <a:txBody>
                    <a:bodyPr/>
                    <a:lstStyle/>
                    <a:p>
                      <a:pPr algn="ctr"/>
                      <a:r>
                        <a:rPr lang="en-US" sz="2400" b="1" dirty="0">
                          <a:latin typeface="Times New Roman" panose="02020603050405020304" pitchFamily="18" charset="0"/>
                          <a:cs typeface="Times New Roman" panose="02020603050405020304" pitchFamily="18" charset="0"/>
                        </a:rPr>
                        <a:t>Beta</a:t>
                      </a:r>
                      <a:endParaRPr lang="en-IN" sz="24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latin typeface="Times New Roman" panose="02020603050405020304" pitchFamily="18" charset="0"/>
                          <a:cs typeface="Times New Roman" panose="02020603050405020304" pitchFamily="18" charset="0"/>
                        </a:rPr>
                        <a:t>0.2</a:t>
                      </a:r>
                      <a:endParaRPr lang="en-IN"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47720719"/>
                  </a:ext>
                </a:extLst>
              </a:tr>
              <a:tr h="535096">
                <a:tc>
                  <a:txBody>
                    <a:bodyPr/>
                    <a:lstStyle/>
                    <a:p>
                      <a:pPr algn="ctr"/>
                      <a:r>
                        <a:rPr lang="en-US" sz="2400" b="1" dirty="0">
                          <a:latin typeface="Times New Roman" panose="02020603050405020304" pitchFamily="18" charset="0"/>
                          <a:cs typeface="Times New Roman" panose="02020603050405020304" pitchFamily="18" charset="0"/>
                        </a:rPr>
                        <a:t>Power</a:t>
                      </a:r>
                      <a:endParaRPr lang="en-IN" sz="24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latin typeface="Times New Roman" panose="02020603050405020304" pitchFamily="18" charset="0"/>
                          <a:cs typeface="Times New Roman" panose="02020603050405020304" pitchFamily="18" charset="0"/>
                        </a:rPr>
                        <a:t>0.8</a:t>
                      </a:r>
                      <a:endParaRPr lang="en-IN"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7755999"/>
                  </a:ext>
                </a:extLst>
              </a:tr>
            </a:tbl>
          </a:graphicData>
        </a:graphic>
      </p:graphicFrame>
    </p:spTree>
    <p:extLst>
      <p:ext uri="{BB962C8B-B14F-4D97-AF65-F5344CB8AC3E}">
        <p14:creationId xmlns:p14="http://schemas.microsoft.com/office/powerpoint/2010/main" val="19113788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6E28196-715B-F84F-2BFC-26BE7310669B}"/>
              </a:ext>
            </a:extLst>
          </p:cNvPr>
          <p:cNvPicPr/>
          <p:nvPr/>
        </p:nvPicPr>
        <p:blipFill>
          <a:blip r:embed="rId2"/>
          <a:stretch>
            <a:fillRect/>
          </a:stretch>
        </p:blipFill>
        <p:spPr>
          <a:xfrm>
            <a:off x="436880" y="87900"/>
            <a:ext cx="11043920" cy="1264555"/>
          </a:xfrm>
          <a:prstGeom prst="rect">
            <a:avLst/>
          </a:prstGeom>
        </p:spPr>
      </p:pic>
      <p:sp>
        <p:nvSpPr>
          <p:cNvPr id="6" name="TextBox 5">
            <a:extLst>
              <a:ext uri="{FF2B5EF4-FFF2-40B4-BE49-F238E27FC236}">
                <a16:creationId xmlns:a16="http://schemas.microsoft.com/office/drawing/2014/main" id="{D3EDC3EF-3232-42DF-5640-A5D27B1915E7}"/>
              </a:ext>
            </a:extLst>
          </p:cNvPr>
          <p:cNvSpPr txBox="1"/>
          <p:nvPr/>
        </p:nvSpPr>
        <p:spPr>
          <a:xfrm>
            <a:off x="2214880" y="1352455"/>
            <a:ext cx="8808720" cy="1200329"/>
          </a:xfrm>
          <a:prstGeom prst="rect">
            <a:avLst/>
          </a:prstGeom>
          <a:noFill/>
        </p:spPr>
        <p:txBody>
          <a:bodyPr wrap="square">
            <a:spAutoFit/>
          </a:bodyPr>
          <a:lstStyle/>
          <a:p>
            <a:pPr algn="ctr"/>
            <a:r>
              <a:rPr lang="en-US" sz="3600" b="1" dirty="0">
                <a:latin typeface="Times New Roman" panose="02020603050405020304" pitchFamily="18" charset="0"/>
                <a:cs typeface="Times New Roman" panose="02020603050405020304" pitchFamily="18" charset="0"/>
              </a:rPr>
              <a:t>INTERVENTION ALGORITHM </a:t>
            </a:r>
            <a:br>
              <a:rPr lang="en-US" sz="3600" b="1" dirty="0">
                <a:latin typeface="Times New Roman" panose="02020603050405020304" pitchFamily="18" charset="0"/>
                <a:cs typeface="Times New Roman" panose="02020603050405020304" pitchFamily="18" charset="0"/>
              </a:rPr>
            </a:br>
            <a:r>
              <a:rPr lang="en-US" sz="3600" b="1" dirty="0">
                <a:latin typeface="Times New Roman" panose="02020603050405020304" pitchFamily="18" charset="0"/>
                <a:cs typeface="Times New Roman" panose="02020603050405020304" pitchFamily="18" charset="0"/>
              </a:rPr>
              <a:t>Proposed-Multimodal Artificial Intelligence</a:t>
            </a:r>
            <a:endParaRPr lang="en-IN" sz="3600" dirty="0"/>
          </a:p>
        </p:txBody>
      </p:sp>
      <p:sp>
        <p:nvSpPr>
          <p:cNvPr id="8" name="TextBox 7">
            <a:extLst>
              <a:ext uri="{FF2B5EF4-FFF2-40B4-BE49-F238E27FC236}">
                <a16:creationId xmlns:a16="http://schemas.microsoft.com/office/drawing/2014/main" id="{9E311F69-91BB-4941-3773-56476D6515F7}"/>
              </a:ext>
            </a:extLst>
          </p:cNvPr>
          <p:cNvSpPr txBox="1"/>
          <p:nvPr/>
        </p:nvSpPr>
        <p:spPr>
          <a:xfrm>
            <a:off x="436880" y="2690336"/>
            <a:ext cx="11490960" cy="1323439"/>
          </a:xfrm>
          <a:prstGeom prst="rect">
            <a:avLst/>
          </a:prstGeom>
          <a:noFill/>
        </p:spPr>
        <p:txBody>
          <a:bodyPr wrap="square">
            <a:spAutoFit/>
          </a:bodyPr>
          <a:lstStyle/>
          <a:p>
            <a:r>
              <a:rPr lang="en-US" sz="1600" b="1" dirty="0" err="1">
                <a:latin typeface="Times New Roman" panose="02020603050405020304" pitchFamily="18" charset="0"/>
                <a:cs typeface="Times New Roman" panose="02020603050405020304" pitchFamily="18" charset="0"/>
              </a:rPr>
              <a:t>Defintion</a:t>
            </a:r>
            <a:r>
              <a:rPr lang="en-US" sz="1600" b="1" dirty="0">
                <a:latin typeface="Times New Roman" panose="02020603050405020304" pitchFamily="18" charset="0"/>
                <a:cs typeface="Times New Roman" panose="02020603050405020304" pitchFamily="18" charset="0"/>
              </a:rPr>
              <a:t>:</a:t>
            </a:r>
          </a:p>
          <a:p>
            <a:r>
              <a:rPr lang="en-US" sz="1600" dirty="0">
                <a:latin typeface="Times New Roman" panose="02020603050405020304" pitchFamily="18" charset="0"/>
                <a:cs typeface="Times New Roman" panose="02020603050405020304" pitchFamily="18" charset="0"/>
              </a:rPr>
              <a:t>              A Multimodal AI algorithm integrates and processes multiple data types—such as image frames, video sequences, and audio signals—by extracting features from each modality and combining them into a unified model. This approach improves deepfake detection by capturing cross-modal inconsistencies, leading to higher accuracy and robustness in authentication compared to single-modality methods.</a:t>
            </a:r>
            <a:endParaRPr lang="en-IN" sz="16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B9D29586-FEA9-5117-D01F-1EDABDC4EAFC}"/>
              </a:ext>
            </a:extLst>
          </p:cNvPr>
          <p:cNvSpPr txBox="1"/>
          <p:nvPr/>
        </p:nvSpPr>
        <p:spPr>
          <a:xfrm>
            <a:off x="574040" y="4013775"/>
            <a:ext cx="5095240" cy="2677656"/>
          </a:xfrm>
          <a:prstGeom prst="rect">
            <a:avLst/>
          </a:prstGeom>
          <a:noFill/>
        </p:spPr>
        <p:txBody>
          <a:bodyPr wrap="square">
            <a:spAutoFit/>
          </a:bodyPr>
          <a:lstStyle/>
          <a:p>
            <a:r>
              <a:rPr lang="en-IN" sz="1400" dirty="0">
                <a:latin typeface="Times New Roman" panose="02020603050405020304" pitchFamily="18" charset="0"/>
                <a:cs typeface="Times New Roman" panose="02020603050405020304" pitchFamily="18" charset="0"/>
              </a:rPr>
              <a:t>START</a:t>
            </a:r>
          </a:p>
          <a:p>
            <a:r>
              <a:rPr lang="en-IN" sz="1400" dirty="0">
                <a:latin typeface="Times New Roman" panose="02020603050405020304" pitchFamily="18" charset="0"/>
                <a:cs typeface="Times New Roman" panose="02020603050405020304" pitchFamily="18" charset="0"/>
              </a:rPr>
              <a:t>INPUT dataset (images + videos)</a:t>
            </a:r>
          </a:p>
          <a:p>
            <a:r>
              <a:rPr lang="en-IN" sz="1400" dirty="0">
                <a:latin typeface="Times New Roman" panose="02020603050405020304" pitchFamily="18" charset="0"/>
                <a:cs typeface="Times New Roman" panose="02020603050405020304" pitchFamily="18" charset="0"/>
              </a:rPr>
              <a:t>FOR each sample in dataset DO</a:t>
            </a:r>
          </a:p>
          <a:p>
            <a:r>
              <a:rPr lang="en-IN" sz="1400" dirty="0">
                <a:latin typeface="Times New Roman" panose="02020603050405020304" pitchFamily="18" charset="0"/>
                <a:cs typeface="Times New Roman" panose="02020603050405020304" pitchFamily="18" charset="0"/>
              </a:rPr>
              <a:t>    EXTRACT </a:t>
            </a:r>
            <a:r>
              <a:rPr lang="en-IN" sz="1400" dirty="0" err="1">
                <a:latin typeface="Times New Roman" panose="02020603050405020304" pitchFamily="18" charset="0"/>
                <a:cs typeface="Times New Roman" panose="02020603050405020304" pitchFamily="18" charset="0"/>
              </a:rPr>
              <a:t>visual_features</a:t>
            </a:r>
            <a:r>
              <a:rPr lang="en-IN" sz="1400" dirty="0">
                <a:latin typeface="Times New Roman" panose="02020603050405020304" pitchFamily="18" charset="0"/>
                <a:cs typeface="Times New Roman" panose="02020603050405020304" pitchFamily="18" charset="0"/>
              </a:rPr>
              <a:t> using CNN</a:t>
            </a:r>
          </a:p>
          <a:p>
            <a:r>
              <a:rPr lang="en-IN" sz="1400" dirty="0">
                <a:latin typeface="Times New Roman" panose="02020603050405020304" pitchFamily="18" charset="0"/>
                <a:cs typeface="Times New Roman" panose="02020603050405020304" pitchFamily="18" charset="0"/>
              </a:rPr>
              <a:t>    EXTRACT </a:t>
            </a:r>
            <a:r>
              <a:rPr lang="en-IN" sz="1400" dirty="0" err="1">
                <a:latin typeface="Times New Roman" panose="02020603050405020304" pitchFamily="18" charset="0"/>
                <a:cs typeface="Times New Roman" panose="02020603050405020304" pitchFamily="18" charset="0"/>
              </a:rPr>
              <a:t>temporal_features</a:t>
            </a:r>
            <a:r>
              <a:rPr lang="en-IN" sz="1400" dirty="0">
                <a:latin typeface="Times New Roman" panose="02020603050405020304" pitchFamily="18" charset="0"/>
                <a:cs typeface="Times New Roman" panose="02020603050405020304" pitchFamily="18" charset="0"/>
              </a:rPr>
              <a:t> using RNN/LSTM (for video)</a:t>
            </a:r>
          </a:p>
          <a:p>
            <a:r>
              <a:rPr lang="en-IN" sz="1400" dirty="0">
                <a:latin typeface="Times New Roman" panose="02020603050405020304" pitchFamily="18" charset="0"/>
                <a:cs typeface="Times New Roman" panose="02020603050405020304" pitchFamily="18" charset="0"/>
              </a:rPr>
              <a:t>    EXTRACT </a:t>
            </a:r>
            <a:r>
              <a:rPr lang="en-IN" sz="1400" dirty="0" err="1">
                <a:latin typeface="Times New Roman" panose="02020603050405020304" pitchFamily="18" charset="0"/>
                <a:cs typeface="Times New Roman" panose="02020603050405020304" pitchFamily="18" charset="0"/>
              </a:rPr>
              <a:t>audio_features</a:t>
            </a:r>
            <a:r>
              <a:rPr lang="en-IN" sz="1400" dirty="0">
                <a:latin typeface="Times New Roman" panose="02020603050405020304" pitchFamily="18" charset="0"/>
                <a:cs typeface="Times New Roman" panose="02020603050405020304" pitchFamily="18" charset="0"/>
              </a:rPr>
              <a:t> using MFCC (if audio exists)</a:t>
            </a:r>
          </a:p>
          <a:p>
            <a:r>
              <a:rPr lang="en-IN" sz="1400" dirty="0">
                <a:latin typeface="Times New Roman" panose="02020603050405020304" pitchFamily="18" charset="0"/>
                <a:cs typeface="Times New Roman" panose="02020603050405020304" pitchFamily="18" charset="0"/>
              </a:rPr>
              <a:t>END FOR</a:t>
            </a:r>
          </a:p>
          <a:p>
            <a:r>
              <a:rPr lang="en-IN" sz="1400" dirty="0">
                <a:latin typeface="Times New Roman" panose="02020603050405020304" pitchFamily="18" charset="0"/>
                <a:cs typeface="Times New Roman" panose="02020603050405020304" pitchFamily="18" charset="0"/>
              </a:rPr>
              <a:t>FOR each sample DO</a:t>
            </a:r>
          </a:p>
          <a:p>
            <a:r>
              <a:rPr lang="en-IN" sz="1400" dirty="0">
                <a:latin typeface="Times New Roman" panose="02020603050405020304" pitchFamily="18" charset="0"/>
                <a:cs typeface="Times New Roman" panose="02020603050405020304" pitchFamily="18" charset="0"/>
              </a:rPr>
              <a:t>    COMBINE all features into </a:t>
            </a:r>
            <a:r>
              <a:rPr lang="en-IN" sz="1400" dirty="0" err="1">
                <a:latin typeface="Times New Roman" panose="02020603050405020304" pitchFamily="18" charset="0"/>
                <a:cs typeface="Times New Roman" panose="02020603050405020304" pitchFamily="18" charset="0"/>
              </a:rPr>
              <a:t>multimodal_vector</a:t>
            </a:r>
            <a:endParaRPr lang="en-IN"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END FOR</a:t>
            </a:r>
          </a:p>
          <a:p>
            <a:r>
              <a:rPr lang="en-IN" sz="1400" dirty="0">
                <a:latin typeface="Times New Roman" panose="02020603050405020304" pitchFamily="18" charset="0"/>
                <a:cs typeface="Times New Roman" panose="02020603050405020304" pitchFamily="18" charset="0"/>
              </a:rPr>
              <a:t>INITIALIZE </a:t>
            </a:r>
            <a:r>
              <a:rPr lang="en-IN" sz="1400" dirty="0" err="1">
                <a:latin typeface="Times New Roman" panose="02020603050405020304" pitchFamily="18" charset="0"/>
                <a:cs typeface="Times New Roman" panose="02020603050405020304" pitchFamily="18" charset="0"/>
              </a:rPr>
              <a:t>Multimodal_Model</a:t>
            </a:r>
            <a:endParaRPr lang="en-IN"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TRAIN </a:t>
            </a:r>
            <a:r>
              <a:rPr lang="en-IN" sz="1400" dirty="0" err="1">
                <a:latin typeface="Times New Roman" panose="02020603050405020304" pitchFamily="18" charset="0"/>
                <a:cs typeface="Times New Roman" panose="02020603050405020304" pitchFamily="18" charset="0"/>
              </a:rPr>
              <a:t>Multimodal_Model</a:t>
            </a:r>
            <a:r>
              <a:rPr lang="en-IN" sz="1400" dirty="0">
                <a:latin typeface="Times New Roman" panose="02020603050405020304" pitchFamily="18" charset="0"/>
                <a:cs typeface="Times New Roman" panose="02020603050405020304" pitchFamily="18" charset="0"/>
              </a:rPr>
              <a:t> using </a:t>
            </a:r>
            <a:r>
              <a:rPr lang="en-IN" sz="1400" dirty="0" err="1">
                <a:latin typeface="Times New Roman" panose="02020603050405020304" pitchFamily="18" charset="0"/>
                <a:cs typeface="Times New Roman" panose="02020603050405020304" pitchFamily="18" charset="0"/>
              </a:rPr>
              <a:t>multimodal_vector</a:t>
            </a:r>
            <a:r>
              <a:rPr lang="en-IN" sz="1400" dirty="0">
                <a:latin typeface="Times New Roman" panose="02020603050405020304" pitchFamily="18" charset="0"/>
                <a:cs typeface="Times New Roman" panose="02020603050405020304" pitchFamily="18" charset="0"/>
              </a:rPr>
              <a:t> and labels</a:t>
            </a:r>
          </a:p>
        </p:txBody>
      </p:sp>
      <p:sp>
        <p:nvSpPr>
          <p:cNvPr id="12" name="TextBox 11">
            <a:extLst>
              <a:ext uri="{FF2B5EF4-FFF2-40B4-BE49-F238E27FC236}">
                <a16:creationId xmlns:a16="http://schemas.microsoft.com/office/drawing/2014/main" id="{18CA5517-FBF1-8D0C-127F-688199BD82FF}"/>
              </a:ext>
            </a:extLst>
          </p:cNvPr>
          <p:cNvSpPr txBox="1"/>
          <p:nvPr/>
        </p:nvSpPr>
        <p:spPr>
          <a:xfrm>
            <a:off x="6182360" y="3935883"/>
            <a:ext cx="4688840" cy="2893100"/>
          </a:xfrm>
          <a:prstGeom prst="rect">
            <a:avLst/>
          </a:prstGeom>
          <a:noFill/>
        </p:spPr>
        <p:txBody>
          <a:bodyPr wrap="square">
            <a:spAutoFit/>
          </a:bodyPr>
          <a:lstStyle/>
          <a:p>
            <a:r>
              <a:rPr lang="en-IN" sz="1400" dirty="0">
                <a:latin typeface="Times New Roman" panose="02020603050405020304" pitchFamily="18" charset="0"/>
                <a:cs typeface="Times New Roman" panose="02020603050405020304" pitchFamily="18" charset="0"/>
              </a:rPr>
              <a:t>FOR each </a:t>
            </a:r>
            <a:r>
              <a:rPr lang="en-IN" sz="1400" dirty="0" err="1">
                <a:latin typeface="Times New Roman" panose="02020603050405020304" pitchFamily="18" charset="0"/>
                <a:cs typeface="Times New Roman" panose="02020603050405020304" pitchFamily="18" charset="0"/>
              </a:rPr>
              <a:t>test_sample</a:t>
            </a:r>
            <a:r>
              <a:rPr lang="en-IN" sz="1400" dirty="0">
                <a:latin typeface="Times New Roman" panose="02020603050405020304" pitchFamily="18" charset="0"/>
                <a:cs typeface="Times New Roman" panose="02020603050405020304" pitchFamily="18" charset="0"/>
              </a:rPr>
              <a:t> DO</a:t>
            </a:r>
          </a:p>
          <a:p>
            <a:r>
              <a:rPr lang="en-IN" sz="1400" dirty="0">
                <a:latin typeface="Times New Roman" panose="02020603050405020304" pitchFamily="18" charset="0"/>
                <a:cs typeface="Times New Roman" panose="02020603050405020304" pitchFamily="18" charset="0"/>
              </a:rPr>
              <a:t>    EXTRACT features (visual + temporal + audio)</a:t>
            </a:r>
          </a:p>
          <a:p>
            <a:r>
              <a:rPr lang="en-IN" sz="1400" dirty="0">
                <a:latin typeface="Times New Roman" panose="02020603050405020304" pitchFamily="18" charset="0"/>
                <a:cs typeface="Times New Roman" panose="02020603050405020304" pitchFamily="18" charset="0"/>
              </a:rPr>
              <a:t>    FUSE features into </a:t>
            </a:r>
            <a:r>
              <a:rPr lang="en-IN" sz="1400" dirty="0" err="1">
                <a:latin typeface="Times New Roman" panose="02020603050405020304" pitchFamily="18" charset="0"/>
                <a:cs typeface="Times New Roman" panose="02020603050405020304" pitchFamily="18" charset="0"/>
              </a:rPr>
              <a:t>test_vector</a:t>
            </a:r>
            <a:endParaRPr lang="en-IN"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    PREDICT result using </a:t>
            </a:r>
            <a:r>
              <a:rPr lang="en-IN" sz="1400" dirty="0" err="1">
                <a:latin typeface="Times New Roman" panose="02020603050405020304" pitchFamily="18" charset="0"/>
                <a:cs typeface="Times New Roman" panose="02020603050405020304" pitchFamily="18" charset="0"/>
              </a:rPr>
              <a:t>Multimodal_Model</a:t>
            </a:r>
            <a:r>
              <a:rPr lang="en-IN" sz="1400" dirty="0">
                <a:latin typeface="Times New Roman" panose="02020603050405020304" pitchFamily="18" charset="0"/>
                <a:cs typeface="Times New Roman" panose="02020603050405020304" pitchFamily="18" charset="0"/>
              </a:rPr>
              <a:t> </a:t>
            </a:r>
          </a:p>
          <a:p>
            <a:r>
              <a:rPr lang="en-IN" sz="1400" dirty="0">
                <a:latin typeface="Times New Roman" panose="02020603050405020304" pitchFamily="18" charset="0"/>
                <a:cs typeface="Times New Roman" panose="02020603050405020304" pitchFamily="18" charset="0"/>
              </a:rPr>
              <a:t>    IF prediction == deepfake THEN</a:t>
            </a:r>
          </a:p>
          <a:p>
            <a:r>
              <a:rPr lang="en-IN" sz="1400" dirty="0">
                <a:latin typeface="Times New Roman" panose="02020603050405020304" pitchFamily="18" charset="0"/>
                <a:cs typeface="Times New Roman" panose="02020603050405020304" pitchFamily="18" charset="0"/>
              </a:rPr>
              <a:t>        LABEL as "Fake"</a:t>
            </a:r>
          </a:p>
          <a:p>
            <a:r>
              <a:rPr lang="en-IN" sz="1400" dirty="0">
                <a:latin typeface="Times New Roman" panose="02020603050405020304" pitchFamily="18" charset="0"/>
                <a:cs typeface="Times New Roman" panose="02020603050405020304" pitchFamily="18" charset="0"/>
              </a:rPr>
              <a:t>    ELSE</a:t>
            </a:r>
          </a:p>
          <a:p>
            <a:r>
              <a:rPr lang="en-IN" sz="1400" dirty="0">
                <a:latin typeface="Times New Roman" panose="02020603050405020304" pitchFamily="18" charset="0"/>
                <a:cs typeface="Times New Roman" panose="02020603050405020304" pitchFamily="18" charset="0"/>
              </a:rPr>
              <a:t>        LABEL as "Real"</a:t>
            </a:r>
          </a:p>
          <a:p>
            <a:r>
              <a:rPr lang="en-IN" sz="1400" dirty="0">
                <a:latin typeface="Times New Roman" panose="02020603050405020304" pitchFamily="18" charset="0"/>
                <a:cs typeface="Times New Roman" panose="02020603050405020304" pitchFamily="18" charset="0"/>
              </a:rPr>
              <a:t>    END IF</a:t>
            </a:r>
          </a:p>
          <a:p>
            <a:r>
              <a:rPr lang="en-IN" sz="1400" dirty="0">
                <a:latin typeface="Times New Roman" panose="02020603050405020304" pitchFamily="18" charset="0"/>
                <a:cs typeface="Times New Roman" panose="02020603050405020304" pitchFamily="18" charset="0"/>
              </a:rPr>
              <a:t>END FOR</a:t>
            </a:r>
          </a:p>
          <a:p>
            <a:r>
              <a:rPr lang="en-IN" sz="1400" dirty="0">
                <a:latin typeface="Times New Roman" panose="02020603050405020304" pitchFamily="18" charset="0"/>
                <a:cs typeface="Times New Roman" panose="02020603050405020304" pitchFamily="18" charset="0"/>
              </a:rPr>
              <a:t>CALCULATE accuracy, precision, recall, F1-score</a:t>
            </a:r>
          </a:p>
          <a:p>
            <a:r>
              <a:rPr lang="en-IN" sz="1400" dirty="0">
                <a:latin typeface="Times New Roman" panose="02020603050405020304" pitchFamily="18" charset="0"/>
                <a:cs typeface="Times New Roman" panose="02020603050405020304" pitchFamily="18" charset="0"/>
              </a:rPr>
              <a:t>DISPLAY performance metrics</a:t>
            </a:r>
          </a:p>
          <a:p>
            <a:r>
              <a:rPr lang="en-IN" sz="1400" dirty="0">
                <a:latin typeface="Times New Roman" panose="02020603050405020304" pitchFamily="18" charset="0"/>
                <a:cs typeface="Times New Roman" panose="02020603050405020304" pitchFamily="18" charset="0"/>
              </a:rPr>
              <a:t>END</a:t>
            </a:r>
          </a:p>
        </p:txBody>
      </p:sp>
    </p:spTree>
    <p:extLst>
      <p:ext uri="{BB962C8B-B14F-4D97-AF65-F5344CB8AC3E}">
        <p14:creationId xmlns:p14="http://schemas.microsoft.com/office/powerpoint/2010/main" val="49695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782F0A8-4CA6-E1BF-6200-A61342AB0B4D}"/>
              </a:ext>
            </a:extLst>
          </p:cNvPr>
          <p:cNvPicPr/>
          <p:nvPr/>
        </p:nvPicPr>
        <p:blipFill>
          <a:blip r:embed="rId2"/>
          <a:stretch>
            <a:fillRect/>
          </a:stretch>
        </p:blipFill>
        <p:spPr>
          <a:xfrm>
            <a:off x="447040" y="87900"/>
            <a:ext cx="11074400" cy="1264555"/>
          </a:xfrm>
          <a:prstGeom prst="rect">
            <a:avLst/>
          </a:prstGeom>
        </p:spPr>
      </p:pic>
      <p:sp>
        <p:nvSpPr>
          <p:cNvPr id="6" name="TextBox 5">
            <a:extLst>
              <a:ext uri="{FF2B5EF4-FFF2-40B4-BE49-F238E27FC236}">
                <a16:creationId xmlns:a16="http://schemas.microsoft.com/office/drawing/2014/main" id="{55DF1333-156F-BC1F-400D-47E40F1A3134}"/>
              </a:ext>
            </a:extLst>
          </p:cNvPr>
          <p:cNvSpPr txBox="1"/>
          <p:nvPr/>
        </p:nvSpPr>
        <p:spPr>
          <a:xfrm>
            <a:off x="2032000" y="1352455"/>
            <a:ext cx="8808720" cy="1200329"/>
          </a:xfrm>
          <a:prstGeom prst="rect">
            <a:avLst/>
          </a:prstGeom>
          <a:noFill/>
        </p:spPr>
        <p:txBody>
          <a:bodyPr wrap="square">
            <a:spAutoFit/>
          </a:bodyPr>
          <a:lstStyle/>
          <a:p>
            <a:pPr algn="ctr"/>
            <a:r>
              <a:rPr lang="en-US" sz="3600" b="1" dirty="0">
                <a:latin typeface="Times New Roman" panose="02020603050405020304" pitchFamily="18" charset="0"/>
                <a:cs typeface="Times New Roman" panose="02020603050405020304" pitchFamily="18" charset="0"/>
              </a:rPr>
              <a:t>COMPARSION ALGORITHM</a:t>
            </a:r>
            <a:br>
              <a:rPr lang="en-US" sz="3600" b="1" dirty="0">
                <a:latin typeface="Times New Roman" panose="02020603050405020304" pitchFamily="18" charset="0"/>
                <a:cs typeface="Times New Roman" panose="02020603050405020304" pitchFamily="18" charset="0"/>
              </a:rPr>
            </a:br>
            <a:r>
              <a:rPr lang="en-US" sz="3600" b="1" dirty="0">
                <a:latin typeface="Times New Roman" panose="02020603050405020304" pitchFamily="18" charset="0"/>
                <a:cs typeface="Times New Roman" panose="02020603050405020304" pitchFamily="18" charset="0"/>
              </a:rPr>
              <a:t>Existing-Federated Learning</a:t>
            </a:r>
            <a:endParaRPr lang="en-IN" sz="3600" dirty="0"/>
          </a:p>
        </p:txBody>
      </p:sp>
      <p:sp>
        <p:nvSpPr>
          <p:cNvPr id="8" name="TextBox 7">
            <a:extLst>
              <a:ext uri="{FF2B5EF4-FFF2-40B4-BE49-F238E27FC236}">
                <a16:creationId xmlns:a16="http://schemas.microsoft.com/office/drawing/2014/main" id="{908A8652-9055-8107-8483-46FD4CE3E07D}"/>
              </a:ext>
            </a:extLst>
          </p:cNvPr>
          <p:cNvSpPr txBox="1"/>
          <p:nvPr/>
        </p:nvSpPr>
        <p:spPr>
          <a:xfrm>
            <a:off x="614680" y="2493900"/>
            <a:ext cx="10739120" cy="1323439"/>
          </a:xfrm>
          <a:prstGeom prst="rect">
            <a:avLst/>
          </a:prstGeom>
          <a:noFill/>
        </p:spPr>
        <p:txBody>
          <a:bodyPr wrap="square">
            <a:spAutoFit/>
          </a:bodyPr>
          <a:lstStyle/>
          <a:p>
            <a:r>
              <a:rPr lang="en-US" sz="1600" b="1" dirty="0" err="1">
                <a:latin typeface="Times New Roman" panose="02020603050405020304" pitchFamily="18" charset="0"/>
                <a:cs typeface="Times New Roman" panose="02020603050405020304" pitchFamily="18" charset="0"/>
              </a:rPr>
              <a:t>Defintion</a:t>
            </a:r>
            <a:r>
              <a:rPr lang="en-US" sz="1600" b="1" dirty="0">
                <a:latin typeface="Times New Roman" panose="02020603050405020304" pitchFamily="18" charset="0"/>
                <a:cs typeface="Times New Roman" panose="02020603050405020304" pitchFamily="18" charset="0"/>
              </a:rPr>
              <a:t>:</a:t>
            </a:r>
          </a:p>
          <a:p>
            <a:r>
              <a:rPr lang="en-US" sz="1600" dirty="0">
                <a:latin typeface="Times New Roman" panose="02020603050405020304" pitchFamily="18" charset="0"/>
                <a:cs typeface="Times New Roman" panose="02020603050405020304" pitchFamily="18" charset="0"/>
              </a:rPr>
              <a:t>              A Federated Learning-based detection algorithm trains deepfake detection models across multiple decentralized devices or datasets without sharing raw data. Each client locally updates the model, and only model parameters are aggregated to form a global model, ensuring data privacy while enabling collaborative learning. However, it may face challenges in convergence speed, communication overhead, and handling heterogeneous data compared to centralized multimodal approaches.</a:t>
            </a:r>
            <a:endParaRPr lang="en-IN" sz="16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227445E3-CED5-E8B5-F5F8-31D7DC79BDE5}"/>
              </a:ext>
            </a:extLst>
          </p:cNvPr>
          <p:cNvSpPr txBox="1"/>
          <p:nvPr/>
        </p:nvSpPr>
        <p:spPr>
          <a:xfrm>
            <a:off x="1178560" y="3749457"/>
            <a:ext cx="3972560" cy="3108543"/>
          </a:xfrm>
          <a:prstGeom prst="rect">
            <a:avLst/>
          </a:prstGeom>
          <a:noFill/>
        </p:spPr>
        <p:txBody>
          <a:bodyPr wrap="square">
            <a:spAutoFit/>
          </a:bodyPr>
          <a:lstStyle/>
          <a:p>
            <a:r>
              <a:rPr lang="en-IN" sz="1400" dirty="0">
                <a:latin typeface="Times New Roman" panose="02020603050405020304" pitchFamily="18" charset="0"/>
                <a:cs typeface="Times New Roman" panose="02020603050405020304" pitchFamily="18" charset="0"/>
              </a:rPr>
              <a:t>START</a:t>
            </a:r>
          </a:p>
          <a:p>
            <a:r>
              <a:rPr lang="en-IN" sz="1400" dirty="0">
                <a:latin typeface="Times New Roman" panose="02020603050405020304" pitchFamily="18" charset="0"/>
                <a:cs typeface="Times New Roman" panose="02020603050405020304" pitchFamily="18" charset="0"/>
              </a:rPr>
              <a:t>INPUT dataset</a:t>
            </a:r>
          </a:p>
          <a:p>
            <a:r>
              <a:rPr lang="en-IN" sz="1400" dirty="0">
                <a:latin typeface="Times New Roman" panose="02020603050405020304" pitchFamily="18" charset="0"/>
                <a:cs typeface="Times New Roman" panose="02020603050405020304" pitchFamily="18" charset="0"/>
              </a:rPr>
              <a:t>PREPROCESS data:    </a:t>
            </a:r>
          </a:p>
          <a:p>
            <a:r>
              <a:rPr lang="en-IN" sz="1400" dirty="0">
                <a:latin typeface="Times New Roman" panose="02020603050405020304" pitchFamily="18" charset="0"/>
                <a:cs typeface="Times New Roman" panose="02020603050405020304" pitchFamily="18" charset="0"/>
              </a:rPr>
              <a:t>     Normalize values    </a:t>
            </a:r>
          </a:p>
          <a:p>
            <a:r>
              <a:rPr lang="en-IN" sz="1400" dirty="0">
                <a:latin typeface="Times New Roman" panose="02020603050405020304" pitchFamily="18" charset="0"/>
                <a:cs typeface="Times New Roman" panose="02020603050405020304" pitchFamily="18" charset="0"/>
              </a:rPr>
              <a:t>     Encode labels</a:t>
            </a:r>
          </a:p>
          <a:p>
            <a:r>
              <a:rPr lang="en-IN" sz="1400" dirty="0">
                <a:latin typeface="Times New Roman" panose="02020603050405020304" pitchFamily="18" charset="0"/>
                <a:cs typeface="Times New Roman" panose="02020603050405020304" pitchFamily="18" charset="0"/>
              </a:rPr>
              <a:t>DIVIDE dataset into multiple clients</a:t>
            </a:r>
          </a:p>
          <a:p>
            <a:r>
              <a:rPr lang="en-IN" sz="1400" dirty="0">
                <a:latin typeface="Times New Roman" panose="02020603050405020304" pitchFamily="18" charset="0"/>
                <a:cs typeface="Times New Roman" panose="02020603050405020304" pitchFamily="18" charset="0"/>
              </a:rPr>
              <a:t>FEDERATED LEARNING (Existing)</a:t>
            </a:r>
          </a:p>
          <a:p>
            <a:r>
              <a:rPr lang="en-IN" sz="1400" dirty="0">
                <a:latin typeface="Times New Roman" panose="02020603050405020304" pitchFamily="18" charset="0"/>
                <a:cs typeface="Times New Roman" panose="02020603050405020304" pitchFamily="18" charset="0"/>
              </a:rPr>
              <a:t>FOR each client    </a:t>
            </a:r>
          </a:p>
          <a:p>
            <a:r>
              <a:rPr lang="en-IN" sz="1400" dirty="0">
                <a:latin typeface="Times New Roman" panose="02020603050405020304" pitchFamily="18" charset="0"/>
                <a:cs typeface="Times New Roman" panose="02020603050405020304" pitchFamily="18" charset="0"/>
              </a:rPr>
              <a:t>      TRAIN local model</a:t>
            </a:r>
          </a:p>
          <a:p>
            <a:r>
              <a:rPr lang="en-IN" sz="1400" dirty="0">
                <a:latin typeface="Times New Roman" panose="02020603050405020304" pitchFamily="18" charset="0"/>
                <a:cs typeface="Times New Roman" panose="02020603050405020304" pitchFamily="18" charset="0"/>
              </a:rPr>
              <a:t>END FOR</a:t>
            </a:r>
          </a:p>
          <a:p>
            <a:r>
              <a:rPr lang="en-IN" sz="1400" dirty="0">
                <a:latin typeface="Times New Roman" panose="02020603050405020304" pitchFamily="18" charset="0"/>
                <a:cs typeface="Times New Roman" panose="02020603050405020304" pitchFamily="18" charset="0"/>
              </a:rPr>
              <a:t>SEND local models to server</a:t>
            </a:r>
          </a:p>
          <a:p>
            <a:r>
              <a:rPr lang="en-IN" sz="1400" dirty="0">
                <a:latin typeface="Times New Roman" panose="02020603050405020304" pitchFamily="18" charset="0"/>
                <a:cs typeface="Times New Roman" panose="02020603050405020304" pitchFamily="18" charset="0"/>
              </a:rPr>
              <a:t>AGGREGATE models (average weights)</a:t>
            </a:r>
          </a:p>
          <a:p>
            <a:r>
              <a:rPr lang="en-IN" sz="1400" dirty="0">
                <a:latin typeface="Times New Roman" panose="02020603050405020304" pitchFamily="18" charset="0"/>
                <a:cs typeface="Times New Roman" panose="02020603050405020304" pitchFamily="18" charset="0"/>
              </a:rPr>
              <a:t>TEST global model</a:t>
            </a:r>
          </a:p>
          <a:p>
            <a:r>
              <a:rPr lang="en-IN" sz="1400" dirty="0">
                <a:latin typeface="Times New Roman" panose="02020603050405020304" pitchFamily="18" charset="0"/>
                <a:cs typeface="Times New Roman" panose="02020603050405020304" pitchFamily="18" charset="0"/>
              </a:rPr>
              <a:t>STORE results as </a:t>
            </a:r>
            <a:r>
              <a:rPr lang="en-IN" sz="1400" dirty="0" err="1">
                <a:latin typeface="Times New Roman" panose="02020603050405020304" pitchFamily="18" charset="0"/>
                <a:cs typeface="Times New Roman" panose="02020603050405020304" pitchFamily="18" charset="0"/>
              </a:rPr>
              <a:t>fl_output</a:t>
            </a:r>
            <a:endParaRPr lang="en-IN" sz="14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675F5FAB-19B2-0A5A-EF95-7EAD95FAC438}"/>
              </a:ext>
            </a:extLst>
          </p:cNvPr>
          <p:cNvSpPr txBox="1"/>
          <p:nvPr/>
        </p:nvSpPr>
        <p:spPr>
          <a:xfrm>
            <a:off x="6299200" y="3917561"/>
            <a:ext cx="3728720" cy="2462213"/>
          </a:xfrm>
          <a:prstGeom prst="rect">
            <a:avLst/>
          </a:prstGeom>
          <a:noFill/>
        </p:spPr>
        <p:txBody>
          <a:bodyPr wrap="square">
            <a:spAutoFit/>
          </a:bodyPr>
          <a:lstStyle/>
          <a:p>
            <a:r>
              <a:rPr lang="en-IN" sz="1400" dirty="0">
                <a:latin typeface="Times New Roman" panose="02020603050405020304" pitchFamily="18" charset="0"/>
                <a:cs typeface="Times New Roman" panose="02020603050405020304" pitchFamily="18" charset="0"/>
              </a:rPr>
              <a:t>MULTIMODAL AI MODEL (Proposed)</a:t>
            </a:r>
          </a:p>
          <a:p>
            <a:r>
              <a:rPr lang="en-IN" sz="1400" dirty="0">
                <a:latin typeface="Times New Roman" panose="02020603050405020304" pitchFamily="18" charset="0"/>
                <a:cs typeface="Times New Roman" panose="02020603050405020304" pitchFamily="18" charset="0"/>
              </a:rPr>
              <a:t>COMBINE image, video, and audio features</a:t>
            </a:r>
          </a:p>
          <a:p>
            <a:r>
              <a:rPr lang="en-IN" sz="1400" dirty="0">
                <a:latin typeface="Times New Roman" panose="02020603050405020304" pitchFamily="18" charset="0"/>
                <a:cs typeface="Times New Roman" panose="02020603050405020304" pitchFamily="18" charset="0"/>
              </a:rPr>
              <a:t>TRAIN centralized multimodal model</a:t>
            </a:r>
          </a:p>
          <a:p>
            <a:r>
              <a:rPr lang="en-IN" sz="1400" dirty="0">
                <a:latin typeface="Times New Roman" panose="02020603050405020304" pitchFamily="18" charset="0"/>
                <a:cs typeface="Times New Roman" panose="02020603050405020304" pitchFamily="18" charset="0"/>
              </a:rPr>
              <a:t>TEST model</a:t>
            </a:r>
          </a:p>
          <a:p>
            <a:r>
              <a:rPr lang="en-IN" sz="1400" dirty="0">
                <a:latin typeface="Times New Roman" panose="02020603050405020304" pitchFamily="18" charset="0"/>
                <a:cs typeface="Times New Roman" panose="02020603050405020304" pitchFamily="18" charset="0"/>
              </a:rPr>
              <a:t>STORE results as </a:t>
            </a:r>
            <a:r>
              <a:rPr lang="en-IN" sz="1400" dirty="0" err="1">
                <a:latin typeface="Times New Roman" panose="02020603050405020304" pitchFamily="18" charset="0"/>
                <a:cs typeface="Times New Roman" panose="02020603050405020304" pitchFamily="18" charset="0"/>
              </a:rPr>
              <a:t>multi_output</a:t>
            </a:r>
            <a:endParaRPr lang="en-IN"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EVALUATION</a:t>
            </a:r>
          </a:p>
          <a:p>
            <a:r>
              <a:rPr lang="en-IN" sz="1400" dirty="0">
                <a:latin typeface="Times New Roman" panose="02020603050405020304" pitchFamily="18" charset="0"/>
                <a:cs typeface="Times New Roman" panose="02020603050405020304" pitchFamily="18" charset="0"/>
              </a:rPr>
              <a:t>CALCULATE accuracy, precision, recall, F1-score</a:t>
            </a:r>
          </a:p>
          <a:p>
            <a:r>
              <a:rPr lang="en-IN" sz="1400" dirty="0">
                <a:latin typeface="Times New Roman" panose="02020603050405020304" pitchFamily="18" charset="0"/>
                <a:cs typeface="Times New Roman" panose="02020603050405020304" pitchFamily="18" charset="0"/>
              </a:rPr>
              <a:t>COMPARE </a:t>
            </a:r>
            <a:r>
              <a:rPr lang="en-IN" sz="1400" dirty="0" err="1">
                <a:latin typeface="Times New Roman" panose="02020603050405020304" pitchFamily="18" charset="0"/>
                <a:cs typeface="Times New Roman" panose="02020603050405020304" pitchFamily="18" charset="0"/>
              </a:rPr>
              <a:t>fl_output</a:t>
            </a:r>
            <a:r>
              <a:rPr lang="en-IN" sz="1400" dirty="0">
                <a:latin typeface="Times New Roman" panose="02020603050405020304" pitchFamily="18" charset="0"/>
                <a:cs typeface="Times New Roman" panose="02020603050405020304" pitchFamily="18" charset="0"/>
              </a:rPr>
              <a:t> and </a:t>
            </a:r>
            <a:r>
              <a:rPr lang="en-IN" sz="1400" dirty="0" err="1">
                <a:latin typeface="Times New Roman" panose="02020603050405020304" pitchFamily="18" charset="0"/>
                <a:cs typeface="Times New Roman" panose="02020603050405020304" pitchFamily="18" charset="0"/>
              </a:rPr>
              <a:t>multi_output</a:t>
            </a:r>
            <a:endParaRPr lang="en-IN"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DISPLAY results</a:t>
            </a:r>
          </a:p>
          <a:p>
            <a:r>
              <a:rPr lang="en-IN" sz="1400" dirty="0">
                <a:latin typeface="Times New Roman" panose="02020603050405020304" pitchFamily="18" charset="0"/>
                <a:cs typeface="Times New Roman" panose="02020603050405020304" pitchFamily="18" charset="0"/>
              </a:rPr>
              <a:t>END</a:t>
            </a:r>
          </a:p>
        </p:txBody>
      </p:sp>
    </p:spTree>
    <p:extLst>
      <p:ext uri="{BB962C8B-B14F-4D97-AF65-F5344CB8AC3E}">
        <p14:creationId xmlns:p14="http://schemas.microsoft.com/office/powerpoint/2010/main" val="26063844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1047212-8B47-F7D4-4528-B214D1EFA295}"/>
              </a:ext>
            </a:extLst>
          </p:cNvPr>
          <p:cNvPicPr/>
          <p:nvPr/>
        </p:nvPicPr>
        <p:blipFill>
          <a:blip r:embed="rId2"/>
          <a:stretch>
            <a:fillRect/>
          </a:stretch>
        </p:blipFill>
        <p:spPr>
          <a:xfrm>
            <a:off x="436880" y="38979"/>
            <a:ext cx="11074400" cy="1264555"/>
          </a:xfrm>
          <a:prstGeom prst="rect">
            <a:avLst/>
          </a:prstGeom>
        </p:spPr>
      </p:pic>
      <p:sp>
        <p:nvSpPr>
          <p:cNvPr id="6" name="TextBox 5">
            <a:extLst>
              <a:ext uri="{FF2B5EF4-FFF2-40B4-BE49-F238E27FC236}">
                <a16:creationId xmlns:a16="http://schemas.microsoft.com/office/drawing/2014/main" id="{16BDBF87-3B67-EBA3-A476-DA64AC0D01B6}"/>
              </a:ext>
            </a:extLst>
          </p:cNvPr>
          <p:cNvSpPr txBox="1"/>
          <p:nvPr/>
        </p:nvSpPr>
        <p:spPr>
          <a:xfrm>
            <a:off x="2814320" y="1109270"/>
            <a:ext cx="6096000" cy="707886"/>
          </a:xfrm>
          <a:prstGeom prst="rect">
            <a:avLst/>
          </a:prstGeom>
          <a:noFill/>
        </p:spPr>
        <p:txBody>
          <a:bodyPr wrap="square">
            <a:spAutoFit/>
          </a:bodyPr>
          <a:lstStyle/>
          <a:p>
            <a:pPr algn="ctr"/>
            <a:r>
              <a:rPr lang="en-US" sz="4000" b="1" dirty="0">
                <a:latin typeface="Times New Roman" panose="02020603050405020304" pitchFamily="18" charset="0"/>
                <a:cs typeface="Times New Roman" panose="02020603050405020304" pitchFamily="18" charset="0"/>
              </a:rPr>
              <a:t>PROCESS</a:t>
            </a:r>
            <a:endParaRPr lang="en-IN" sz="4000" dirty="0"/>
          </a:p>
        </p:txBody>
      </p:sp>
      <p:sp>
        <p:nvSpPr>
          <p:cNvPr id="7" name="TextBox 6">
            <a:extLst>
              <a:ext uri="{FF2B5EF4-FFF2-40B4-BE49-F238E27FC236}">
                <a16:creationId xmlns:a16="http://schemas.microsoft.com/office/drawing/2014/main" id="{02DC9936-D323-67C5-87F1-3AB96EF1BA30}"/>
              </a:ext>
            </a:extLst>
          </p:cNvPr>
          <p:cNvSpPr txBox="1"/>
          <p:nvPr/>
        </p:nvSpPr>
        <p:spPr>
          <a:xfrm>
            <a:off x="330200" y="1595021"/>
            <a:ext cx="4602975" cy="5262979"/>
          </a:xfrm>
          <a:prstGeom prst="rect">
            <a:avLst/>
          </a:prstGeom>
          <a:noFill/>
        </p:spPr>
        <p:txBody>
          <a:bodyPr wrap="square">
            <a:spAutoFit/>
          </a:bodyPr>
          <a:lstStyle/>
          <a:p>
            <a:r>
              <a:rPr lang="en-IN" sz="1400" dirty="0">
                <a:latin typeface="Times New Roman" panose="02020603050405020304" pitchFamily="18" charset="0"/>
                <a:cs typeface="Times New Roman" panose="02020603050405020304" pitchFamily="18" charset="0"/>
              </a:rPr>
              <a:t>START</a:t>
            </a:r>
          </a:p>
          <a:p>
            <a:r>
              <a:rPr lang="en-IN" sz="1400" dirty="0">
                <a:latin typeface="Times New Roman" panose="02020603050405020304" pitchFamily="18" charset="0"/>
                <a:cs typeface="Times New Roman" panose="02020603050405020304" pitchFamily="18" charset="0"/>
              </a:rPr>
              <a:t>INPUT dataset D (images, videos, audio)</a:t>
            </a:r>
          </a:p>
          <a:p>
            <a:r>
              <a:rPr lang="en-IN" sz="1400" dirty="0">
                <a:latin typeface="Times New Roman" panose="02020603050405020304" pitchFamily="18" charset="0"/>
                <a:cs typeface="Times New Roman" panose="02020603050405020304" pitchFamily="18" charset="0"/>
              </a:rPr>
              <a:t>INPUT labels L (Fake / Real)</a:t>
            </a:r>
          </a:p>
          <a:p>
            <a:r>
              <a:rPr lang="en-IN" sz="1400" dirty="0">
                <a:latin typeface="Times New Roman" panose="02020603050405020304" pitchFamily="18" charset="0"/>
                <a:cs typeface="Times New Roman" panose="02020603050405020304" pitchFamily="18" charset="0"/>
              </a:rPr>
              <a:t>DATA PREPROCESSING</a:t>
            </a:r>
          </a:p>
          <a:p>
            <a:r>
              <a:rPr lang="en-IN" sz="1400" dirty="0">
                <a:latin typeface="Times New Roman" panose="02020603050405020304" pitchFamily="18" charset="0"/>
                <a:cs typeface="Times New Roman" panose="02020603050405020304" pitchFamily="18" charset="0"/>
              </a:rPr>
              <a:t>NORMALIZE feature values in D</a:t>
            </a:r>
          </a:p>
          <a:p>
            <a:r>
              <a:rPr lang="en-IN" sz="1400" dirty="0">
                <a:latin typeface="Times New Roman" panose="02020603050405020304" pitchFamily="18" charset="0"/>
                <a:cs typeface="Times New Roman" panose="02020603050405020304" pitchFamily="18" charset="0"/>
              </a:rPr>
              <a:t>ENCODE labels L</a:t>
            </a:r>
          </a:p>
          <a:p>
            <a:r>
              <a:rPr lang="en-IN" sz="1400" dirty="0">
                <a:latin typeface="Times New Roman" panose="02020603050405020304" pitchFamily="18" charset="0"/>
                <a:cs typeface="Times New Roman" panose="02020603050405020304" pitchFamily="18" charset="0"/>
              </a:rPr>
              <a:t>DATA DISTRIBUTION (for FL)</a:t>
            </a:r>
          </a:p>
          <a:p>
            <a:r>
              <a:rPr lang="en-IN" sz="1400" dirty="0">
                <a:latin typeface="Times New Roman" panose="02020603050405020304" pitchFamily="18" charset="0"/>
                <a:cs typeface="Times New Roman" panose="02020603050405020304" pitchFamily="18" charset="0"/>
              </a:rPr>
              <a:t>DIVIDE D and L INTO multiple client datasets:   </a:t>
            </a:r>
          </a:p>
          <a:p>
            <a:r>
              <a:rPr lang="en-IN" sz="1400" dirty="0">
                <a:latin typeface="Times New Roman" panose="02020603050405020304" pitchFamily="18" charset="0"/>
                <a:cs typeface="Times New Roman" panose="02020603050405020304" pitchFamily="18" charset="0"/>
              </a:rPr>
              <a:t> Client_1, Client_2, ..., </a:t>
            </a:r>
            <a:r>
              <a:rPr lang="en-IN" sz="1400" dirty="0" err="1">
                <a:latin typeface="Times New Roman" panose="02020603050405020304" pitchFamily="18" charset="0"/>
                <a:cs typeface="Times New Roman" panose="02020603050405020304" pitchFamily="18" charset="0"/>
              </a:rPr>
              <a:t>Client_N</a:t>
            </a:r>
            <a:endParaRPr lang="en-IN"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FEDERATED LEARNING (Existing)</a:t>
            </a:r>
          </a:p>
          <a:p>
            <a:r>
              <a:rPr lang="en-IN" sz="1400" dirty="0">
                <a:latin typeface="Times New Roman" panose="02020603050405020304" pitchFamily="18" charset="0"/>
                <a:cs typeface="Times New Roman" panose="02020603050405020304" pitchFamily="18" charset="0"/>
              </a:rPr>
              <a:t>INITIALIZE </a:t>
            </a:r>
            <a:r>
              <a:rPr lang="en-IN" sz="1400" dirty="0" err="1">
                <a:latin typeface="Times New Roman" panose="02020603050405020304" pitchFamily="18" charset="0"/>
                <a:cs typeface="Times New Roman" panose="02020603050405020304" pitchFamily="18" charset="0"/>
              </a:rPr>
              <a:t>Global_Model</a:t>
            </a:r>
            <a:endParaRPr lang="en-IN"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FOR each </a:t>
            </a:r>
            <a:r>
              <a:rPr lang="en-IN" sz="1400" dirty="0" err="1">
                <a:latin typeface="Times New Roman" panose="02020603050405020304" pitchFamily="18" charset="0"/>
                <a:cs typeface="Times New Roman" panose="02020603050405020304" pitchFamily="18" charset="0"/>
              </a:rPr>
              <a:t>communication_round</a:t>
            </a:r>
            <a:r>
              <a:rPr lang="en-IN" sz="1400" dirty="0">
                <a:latin typeface="Times New Roman" panose="02020603050405020304" pitchFamily="18" charset="0"/>
                <a:cs typeface="Times New Roman" panose="02020603050405020304" pitchFamily="18" charset="0"/>
              </a:rPr>
              <a:t> DO    </a:t>
            </a:r>
          </a:p>
          <a:p>
            <a:r>
              <a:rPr lang="en-IN" sz="1400" dirty="0">
                <a:latin typeface="Times New Roman" panose="02020603050405020304" pitchFamily="18" charset="0"/>
                <a:cs typeface="Times New Roman" panose="02020603050405020304" pitchFamily="18" charset="0"/>
              </a:rPr>
              <a:t>   FOR each client </a:t>
            </a:r>
            <a:r>
              <a:rPr lang="en-IN" sz="1400" dirty="0" err="1">
                <a:latin typeface="Times New Roman" panose="02020603050405020304" pitchFamily="18" charset="0"/>
                <a:cs typeface="Times New Roman" panose="02020603050405020304" pitchFamily="18" charset="0"/>
              </a:rPr>
              <a:t>i</a:t>
            </a:r>
            <a:r>
              <a:rPr lang="en-IN" sz="1400" dirty="0">
                <a:latin typeface="Times New Roman" panose="02020603050405020304" pitchFamily="18" charset="0"/>
                <a:cs typeface="Times New Roman" panose="02020603050405020304" pitchFamily="18" charset="0"/>
              </a:rPr>
              <a:t> IN Clients DO   </a:t>
            </a:r>
          </a:p>
          <a:p>
            <a:r>
              <a:rPr lang="en-IN" sz="1400" dirty="0">
                <a:latin typeface="Times New Roman" panose="02020603050405020304" pitchFamily="18" charset="0"/>
                <a:cs typeface="Times New Roman" panose="02020603050405020304" pitchFamily="18" charset="0"/>
              </a:rPr>
              <a:t>       INITIALIZE </a:t>
            </a:r>
            <a:r>
              <a:rPr lang="en-IN" sz="1400" dirty="0" err="1">
                <a:latin typeface="Times New Roman" panose="02020603050405020304" pitchFamily="18" charset="0"/>
                <a:cs typeface="Times New Roman" panose="02020603050405020304" pitchFamily="18" charset="0"/>
              </a:rPr>
              <a:t>Local_Model_i</a:t>
            </a:r>
            <a:r>
              <a:rPr lang="en-IN" sz="1400" dirty="0">
                <a:latin typeface="Times New Roman" panose="02020603050405020304" pitchFamily="18" charset="0"/>
                <a:cs typeface="Times New Roman" panose="02020603050405020304" pitchFamily="18" charset="0"/>
              </a:rPr>
              <a:t> with </a:t>
            </a:r>
            <a:r>
              <a:rPr lang="en-IN" sz="1400" dirty="0" err="1">
                <a:latin typeface="Times New Roman" panose="02020603050405020304" pitchFamily="18" charset="0"/>
                <a:cs typeface="Times New Roman" panose="02020603050405020304" pitchFamily="18" charset="0"/>
              </a:rPr>
              <a:t>Global_Model</a:t>
            </a:r>
            <a:r>
              <a:rPr lang="en-IN" sz="1400" dirty="0">
                <a:latin typeface="Times New Roman" panose="02020603050405020304" pitchFamily="18" charset="0"/>
                <a:cs typeface="Times New Roman" panose="02020603050405020304" pitchFamily="18" charset="0"/>
              </a:rPr>
              <a:t> weights       </a:t>
            </a:r>
          </a:p>
          <a:p>
            <a:r>
              <a:rPr lang="en-IN" sz="1400" dirty="0">
                <a:latin typeface="Times New Roman" panose="02020603050405020304" pitchFamily="18" charset="0"/>
                <a:cs typeface="Times New Roman" panose="02020603050405020304" pitchFamily="18" charset="0"/>
              </a:rPr>
              <a:t>        TRAIN </a:t>
            </a:r>
            <a:r>
              <a:rPr lang="en-IN" sz="1400" dirty="0" err="1">
                <a:latin typeface="Times New Roman" panose="02020603050405020304" pitchFamily="18" charset="0"/>
                <a:cs typeface="Times New Roman" panose="02020603050405020304" pitchFamily="18" charset="0"/>
              </a:rPr>
              <a:t>Local_Model_i</a:t>
            </a:r>
            <a:r>
              <a:rPr lang="en-IN" sz="1400" dirty="0">
                <a:latin typeface="Times New Roman" panose="02020603050405020304" pitchFamily="18" charset="0"/>
                <a:cs typeface="Times New Roman" panose="02020603050405020304" pitchFamily="18" charset="0"/>
              </a:rPr>
              <a:t> using client data </a:t>
            </a:r>
          </a:p>
          <a:p>
            <a:r>
              <a:rPr lang="en-IN" sz="1400" dirty="0">
                <a:latin typeface="Times New Roman" panose="02020603050405020304" pitchFamily="18" charset="0"/>
                <a:cs typeface="Times New Roman" panose="02020603050405020304" pitchFamily="18" charset="0"/>
              </a:rPr>
              <a:t>        SEND </a:t>
            </a:r>
            <a:r>
              <a:rPr lang="en-IN" sz="1400" dirty="0" err="1">
                <a:latin typeface="Times New Roman" panose="02020603050405020304" pitchFamily="18" charset="0"/>
                <a:cs typeface="Times New Roman" panose="02020603050405020304" pitchFamily="18" charset="0"/>
              </a:rPr>
              <a:t>Local_Model_i</a:t>
            </a:r>
            <a:r>
              <a:rPr lang="en-IN" sz="1400" dirty="0">
                <a:latin typeface="Times New Roman" panose="02020603050405020304" pitchFamily="18" charset="0"/>
                <a:cs typeface="Times New Roman" panose="02020603050405020304" pitchFamily="18" charset="0"/>
              </a:rPr>
              <a:t> weights to server  </a:t>
            </a:r>
          </a:p>
          <a:p>
            <a:r>
              <a:rPr lang="en-IN" sz="1400" dirty="0">
                <a:latin typeface="Times New Roman" panose="02020603050405020304" pitchFamily="18" charset="0"/>
                <a:cs typeface="Times New Roman" panose="02020603050405020304" pitchFamily="18" charset="0"/>
              </a:rPr>
              <a:t>   END FOR   </a:t>
            </a:r>
          </a:p>
          <a:p>
            <a:r>
              <a:rPr lang="en-IN" sz="1400" dirty="0">
                <a:latin typeface="Times New Roman" panose="02020603050405020304" pitchFamily="18" charset="0"/>
                <a:cs typeface="Times New Roman" panose="02020603050405020304" pitchFamily="18" charset="0"/>
              </a:rPr>
              <a:t> AGGREGATE all </a:t>
            </a:r>
            <a:r>
              <a:rPr lang="en-IN" sz="1400" dirty="0" err="1">
                <a:latin typeface="Times New Roman" panose="02020603050405020304" pitchFamily="18" charset="0"/>
                <a:cs typeface="Times New Roman" panose="02020603050405020304" pitchFamily="18" charset="0"/>
              </a:rPr>
              <a:t>Local_Model</a:t>
            </a:r>
            <a:r>
              <a:rPr lang="en-IN" sz="1400" dirty="0">
                <a:latin typeface="Times New Roman" panose="02020603050405020304" pitchFamily="18" charset="0"/>
                <a:cs typeface="Times New Roman" panose="02020603050405020304" pitchFamily="18" charset="0"/>
              </a:rPr>
              <a:t> weights (e.g., average)    </a:t>
            </a:r>
          </a:p>
          <a:p>
            <a:r>
              <a:rPr lang="en-IN" sz="1400" dirty="0">
                <a:latin typeface="Times New Roman" panose="02020603050405020304" pitchFamily="18" charset="0"/>
                <a:cs typeface="Times New Roman" panose="02020603050405020304" pitchFamily="18" charset="0"/>
              </a:rPr>
              <a:t>    UPDATE </a:t>
            </a:r>
            <a:r>
              <a:rPr lang="en-IN" sz="1400" dirty="0" err="1">
                <a:latin typeface="Times New Roman" panose="02020603050405020304" pitchFamily="18" charset="0"/>
                <a:cs typeface="Times New Roman" panose="02020603050405020304" pitchFamily="18" charset="0"/>
              </a:rPr>
              <a:t>Global_Model</a:t>
            </a:r>
            <a:endParaRPr lang="en-IN"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END FOR</a:t>
            </a:r>
          </a:p>
          <a:p>
            <a:r>
              <a:rPr lang="en-IN" sz="1400" dirty="0">
                <a:latin typeface="Times New Roman" panose="02020603050405020304" pitchFamily="18" charset="0"/>
                <a:cs typeface="Times New Roman" panose="02020603050405020304" pitchFamily="18" charset="0"/>
              </a:rPr>
              <a:t>FOR each sample IN D DO   </a:t>
            </a:r>
          </a:p>
          <a:p>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fl_pred</a:t>
            </a:r>
            <a:r>
              <a:rPr lang="en-IN" sz="1400" dirty="0">
                <a:latin typeface="Times New Roman" panose="02020603050405020304" pitchFamily="18" charset="0"/>
                <a:cs typeface="Times New Roman" panose="02020603050405020304" pitchFamily="18" charset="0"/>
              </a:rPr>
              <a:t> ← PREDICT using </a:t>
            </a:r>
            <a:r>
              <a:rPr lang="en-IN" sz="1400" dirty="0" err="1">
                <a:latin typeface="Times New Roman" panose="02020603050405020304" pitchFamily="18" charset="0"/>
                <a:cs typeface="Times New Roman" panose="02020603050405020304" pitchFamily="18" charset="0"/>
              </a:rPr>
              <a:t>Global_Model</a:t>
            </a:r>
            <a:r>
              <a:rPr lang="en-IN" sz="1400" dirty="0">
                <a:latin typeface="Times New Roman" panose="02020603050405020304" pitchFamily="18" charset="0"/>
                <a:cs typeface="Times New Roman" panose="02020603050405020304" pitchFamily="18" charset="0"/>
              </a:rPr>
              <a:t>    </a:t>
            </a:r>
          </a:p>
          <a:p>
            <a:r>
              <a:rPr lang="en-IN" sz="1400" dirty="0">
                <a:latin typeface="Times New Roman" panose="02020603050405020304" pitchFamily="18" charset="0"/>
                <a:cs typeface="Times New Roman" panose="02020603050405020304" pitchFamily="18" charset="0"/>
              </a:rPr>
              <a:t>STORE </a:t>
            </a:r>
            <a:r>
              <a:rPr lang="en-IN" sz="1400" dirty="0" err="1">
                <a:latin typeface="Times New Roman" panose="02020603050405020304" pitchFamily="18" charset="0"/>
                <a:cs typeface="Times New Roman" panose="02020603050405020304" pitchFamily="18" charset="0"/>
              </a:rPr>
              <a:t>fl_pred</a:t>
            </a:r>
            <a:endParaRPr lang="en-IN"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END FOR</a:t>
            </a:r>
            <a:endParaRPr lang="en-IN"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7F14B26A-89FE-5CD3-B511-D61E615A88A3}"/>
              </a:ext>
            </a:extLst>
          </p:cNvPr>
          <p:cNvSpPr txBox="1"/>
          <p:nvPr/>
        </p:nvSpPr>
        <p:spPr>
          <a:xfrm>
            <a:off x="4933175" y="1706089"/>
            <a:ext cx="3341650" cy="5262979"/>
          </a:xfrm>
          <a:prstGeom prst="rect">
            <a:avLst/>
          </a:prstGeom>
          <a:noFill/>
        </p:spPr>
        <p:txBody>
          <a:bodyPr wrap="square">
            <a:spAutoFit/>
          </a:bodyPr>
          <a:lstStyle/>
          <a:p>
            <a:r>
              <a:rPr lang="en-IN" sz="1400" dirty="0">
                <a:latin typeface="Times New Roman" panose="02020603050405020304" pitchFamily="18" charset="0"/>
                <a:cs typeface="Times New Roman" panose="02020603050405020304" pitchFamily="18" charset="0"/>
              </a:rPr>
              <a:t>CALCULATE:    </a:t>
            </a:r>
          </a:p>
          <a:p>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Accuracy_FL</a:t>
            </a:r>
            <a:r>
              <a:rPr lang="en-IN" sz="1400" dirty="0">
                <a:latin typeface="Times New Roman" panose="02020603050405020304" pitchFamily="18" charset="0"/>
                <a:cs typeface="Times New Roman" panose="02020603050405020304" pitchFamily="18" charset="0"/>
              </a:rPr>
              <a:t>    </a:t>
            </a:r>
          </a:p>
          <a:p>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Precision_FL</a:t>
            </a:r>
            <a:r>
              <a:rPr lang="en-IN" sz="1400" dirty="0">
                <a:latin typeface="Times New Roman" panose="02020603050405020304" pitchFamily="18" charset="0"/>
                <a:cs typeface="Times New Roman" panose="02020603050405020304" pitchFamily="18" charset="0"/>
              </a:rPr>
              <a:t>    </a:t>
            </a:r>
          </a:p>
          <a:p>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Recall_FL</a:t>
            </a:r>
            <a:r>
              <a:rPr lang="en-IN" sz="1400" dirty="0">
                <a:latin typeface="Times New Roman" panose="02020603050405020304" pitchFamily="18" charset="0"/>
                <a:cs typeface="Times New Roman" panose="02020603050405020304" pitchFamily="18" charset="0"/>
              </a:rPr>
              <a:t>    </a:t>
            </a:r>
          </a:p>
          <a:p>
            <a:r>
              <a:rPr lang="en-IN" sz="1400" dirty="0">
                <a:latin typeface="Times New Roman" panose="02020603050405020304" pitchFamily="18" charset="0"/>
                <a:cs typeface="Times New Roman" panose="02020603050405020304" pitchFamily="18" charset="0"/>
              </a:rPr>
              <a:t>   F1_FL</a:t>
            </a:r>
          </a:p>
          <a:p>
            <a:r>
              <a:rPr lang="en-IN" sz="1400" dirty="0">
                <a:latin typeface="Times New Roman" panose="02020603050405020304" pitchFamily="18" charset="0"/>
                <a:cs typeface="Times New Roman" panose="02020603050405020304" pitchFamily="18" charset="0"/>
              </a:rPr>
              <a:t>STORE results as </a:t>
            </a:r>
            <a:r>
              <a:rPr lang="en-IN" sz="1400" dirty="0" err="1">
                <a:latin typeface="Times New Roman" panose="02020603050405020304" pitchFamily="18" charset="0"/>
                <a:cs typeface="Times New Roman" panose="02020603050405020304" pitchFamily="18" charset="0"/>
              </a:rPr>
              <a:t>fl_output</a:t>
            </a:r>
            <a:endParaRPr lang="en-IN"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MULTIMODAL AI MODEL (Proposed)</a:t>
            </a:r>
          </a:p>
          <a:p>
            <a:r>
              <a:rPr lang="en-IN" sz="1400" dirty="0">
                <a:latin typeface="Times New Roman" panose="02020603050405020304" pitchFamily="18" charset="0"/>
                <a:cs typeface="Times New Roman" panose="02020603050405020304" pitchFamily="18" charset="0"/>
              </a:rPr>
              <a:t>FOR each sample IN D DO   </a:t>
            </a:r>
          </a:p>
          <a:p>
            <a:r>
              <a:rPr lang="en-IN" sz="1400" dirty="0">
                <a:latin typeface="Times New Roman" panose="02020603050405020304" pitchFamily="18" charset="0"/>
                <a:cs typeface="Times New Roman" panose="02020603050405020304" pitchFamily="18" charset="0"/>
              </a:rPr>
              <a:t> EXTRACT image features    </a:t>
            </a:r>
          </a:p>
          <a:p>
            <a:r>
              <a:rPr lang="en-IN" sz="1400" dirty="0">
                <a:latin typeface="Times New Roman" panose="02020603050405020304" pitchFamily="18" charset="0"/>
                <a:cs typeface="Times New Roman" panose="02020603050405020304" pitchFamily="18" charset="0"/>
              </a:rPr>
              <a:t> EXTRACT video (temporal) features </a:t>
            </a:r>
          </a:p>
          <a:p>
            <a:r>
              <a:rPr lang="en-IN" sz="1400" dirty="0">
                <a:latin typeface="Times New Roman" panose="02020603050405020304" pitchFamily="18" charset="0"/>
                <a:cs typeface="Times New Roman" panose="02020603050405020304" pitchFamily="18" charset="0"/>
              </a:rPr>
              <a:t>  EXTRACT audio features</a:t>
            </a:r>
          </a:p>
          <a:p>
            <a:r>
              <a:rPr lang="en-IN" sz="1400" dirty="0">
                <a:latin typeface="Times New Roman" panose="02020603050405020304" pitchFamily="18" charset="0"/>
                <a:cs typeface="Times New Roman" panose="02020603050405020304" pitchFamily="18" charset="0"/>
              </a:rPr>
              <a:t>END FOR</a:t>
            </a:r>
          </a:p>
          <a:p>
            <a:r>
              <a:rPr lang="en-IN" sz="1400" dirty="0">
                <a:latin typeface="Times New Roman" panose="02020603050405020304" pitchFamily="18" charset="0"/>
                <a:cs typeface="Times New Roman" panose="02020603050405020304" pitchFamily="18" charset="0"/>
              </a:rPr>
              <a:t>COMBINE all features INTO </a:t>
            </a:r>
            <a:r>
              <a:rPr lang="en-IN" sz="1400" dirty="0" err="1">
                <a:latin typeface="Times New Roman" panose="02020603050405020304" pitchFamily="18" charset="0"/>
                <a:cs typeface="Times New Roman" panose="02020603050405020304" pitchFamily="18" charset="0"/>
              </a:rPr>
              <a:t>Combined_Feature_Set</a:t>
            </a:r>
            <a:r>
              <a:rPr lang="en-IN" sz="1400" dirty="0">
                <a:latin typeface="Times New Roman" panose="02020603050405020304" pitchFamily="18" charset="0"/>
                <a:cs typeface="Times New Roman" panose="02020603050405020304" pitchFamily="18" charset="0"/>
              </a:rPr>
              <a:t> F</a:t>
            </a:r>
          </a:p>
          <a:p>
            <a:r>
              <a:rPr lang="en-IN" sz="1400" dirty="0">
                <a:latin typeface="Times New Roman" panose="02020603050405020304" pitchFamily="18" charset="0"/>
                <a:cs typeface="Times New Roman" panose="02020603050405020304" pitchFamily="18" charset="0"/>
              </a:rPr>
              <a:t>SPLIT F and L INTO:    </a:t>
            </a:r>
          </a:p>
          <a:p>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Train_F</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Test_F</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Train_Y</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Test_Y</a:t>
            </a:r>
            <a:endParaRPr lang="en-IN"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INITIALIZE </a:t>
            </a:r>
            <a:r>
              <a:rPr lang="en-IN" sz="1400" dirty="0" err="1">
                <a:latin typeface="Times New Roman" panose="02020603050405020304" pitchFamily="18" charset="0"/>
                <a:cs typeface="Times New Roman" panose="02020603050405020304" pitchFamily="18" charset="0"/>
              </a:rPr>
              <a:t>Multimodal_Model</a:t>
            </a:r>
            <a:endParaRPr lang="en-IN"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TRAIN </a:t>
            </a:r>
            <a:r>
              <a:rPr lang="en-IN" sz="1400" dirty="0" err="1">
                <a:latin typeface="Times New Roman" panose="02020603050405020304" pitchFamily="18" charset="0"/>
                <a:cs typeface="Times New Roman" panose="02020603050405020304" pitchFamily="18" charset="0"/>
              </a:rPr>
              <a:t>Multimodal_Model</a:t>
            </a:r>
            <a:r>
              <a:rPr lang="en-IN" sz="1400" dirty="0">
                <a:latin typeface="Times New Roman" panose="02020603050405020304" pitchFamily="18" charset="0"/>
                <a:cs typeface="Times New Roman" panose="02020603050405020304" pitchFamily="18" charset="0"/>
              </a:rPr>
              <a:t> using </a:t>
            </a:r>
            <a:r>
              <a:rPr lang="en-IN" sz="1400" dirty="0" err="1">
                <a:latin typeface="Times New Roman" panose="02020603050405020304" pitchFamily="18" charset="0"/>
                <a:cs typeface="Times New Roman" panose="02020603050405020304" pitchFamily="18" charset="0"/>
              </a:rPr>
              <a:t>Train_F</a:t>
            </a:r>
            <a:r>
              <a:rPr lang="en-IN" sz="1400" dirty="0">
                <a:latin typeface="Times New Roman" panose="02020603050405020304" pitchFamily="18" charset="0"/>
                <a:cs typeface="Times New Roman" panose="02020603050405020304" pitchFamily="18" charset="0"/>
              </a:rPr>
              <a:t> and </a:t>
            </a:r>
            <a:r>
              <a:rPr lang="en-IN" sz="1400" dirty="0" err="1">
                <a:latin typeface="Times New Roman" panose="02020603050405020304" pitchFamily="18" charset="0"/>
                <a:cs typeface="Times New Roman" panose="02020603050405020304" pitchFamily="18" charset="0"/>
              </a:rPr>
              <a:t>Train_Y</a:t>
            </a:r>
            <a:endParaRPr lang="en-IN"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FOR each sample IN </a:t>
            </a:r>
            <a:r>
              <a:rPr lang="en-IN" sz="1400" dirty="0" err="1">
                <a:latin typeface="Times New Roman" panose="02020603050405020304" pitchFamily="18" charset="0"/>
                <a:cs typeface="Times New Roman" panose="02020603050405020304" pitchFamily="18" charset="0"/>
              </a:rPr>
              <a:t>Test_F</a:t>
            </a:r>
            <a:r>
              <a:rPr lang="en-IN" sz="1400" dirty="0">
                <a:latin typeface="Times New Roman" panose="02020603050405020304" pitchFamily="18" charset="0"/>
                <a:cs typeface="Times New Roman" panose="02020603050405020304" pitchFamily="18" charset="0"/>
              </a:rPr>
              <a:t> DO</a:t>
            </a:r>
          </a:p>
          <a:p>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multi_pred</a:t>
            </a:r>
            <a:r>
              <a:rPr lang="en-IN" sz="1400" dirty="0">
                <a:latin typeface="Times New Roman" panose="02020603050405020304" pitchFamily="18" charset="0"/>
                <a:cs typeface="Times New Roman" panose="02020603050405020304" pitchFamily="18" charset="0"/>
              </a:rPr>
              <a:t> ← PREDICT using </a:t>
            </a:r>
            <a:r>
              <a:rPr lang="en-IN" sz="1400" dirty="0" err="1">
                <a:latin typeface="Times New Roman" panose="02020603050405020304" pitchFamily="18" charset="0"/>
                <a:cs typeface="Times New Roman" panose="02020603050405020304" pitchFamily="18" charset="0"/>
              </a:rPr>
              <a:t>Multimodal_Model</a:t>
            </a:r>
            <a:r>
              <a:rPr lang="en-IN" sz="1400" dirty="0">
                <a:latin typeface="Times New Roman" panose="02020603050405020304" pitchFamily="18" charset="0"/>
                <a:cs typeface="Times New Roman" panose="02020603050405020304" pitchFamily="18" charset="0"/>
              </a:rPr>
              <a:t>    </a:t>
            </a:r>
          </a:p>
          <a:p>
            <a:r>
              <a:rPr lang="en-IN" sz="1400" dirty="0">
                <a:latin typeface="Times New Roman" panose="02020603050405020304" pitchFamily="18" charset="0"/>
                <a:cs typeface="Times New Roman" panose="02020603050405020304" pitchFamily="18" charset="0"/>
              </a:rPr>
              <a:t>    STORE </a:t>
            </a:r>
            <a:r>
              <a:rPr lang="en-IN" sz="1400" dirty="0" err="1">
                <a:latin typeface="Times New Roman" panose="02020603050405020304" pitchFamily="18" charset="0"/>
                <a:cs typeface="Times New Roman" panose="02020603050405020304" pitchFamily="18" charset="0"/>
              </a:rPr>
              <a:t>multi_pred</a:t>
            </a:r>
            <a:endParaRPr lang="en-IN"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END FOR</a:t>
            </a:r>
            <a:endParaRPr lang="en-IN" sz="1400" dirty="0"/>
          </a:p>
        </p:txBody>
      </p:sp>
      <p:sp>
        <p:nvSpPr>
          <p:cNvPr id="9" name="TextBox 8">
            <a:extLst>
              <a:ext uri="{FF2B5EF4-FFF2-40B4-BE49-F238E27FC236}">
                <a16:creationId xmlns:a16="http://schemas.microsoft.com/office/drawing/2014/main" id="{0B3F1B09-7149-584A-4BCC-395558721A28}"/>
              </a:ext>
            </a:extLst>
          </p:cNvPr>
          <p:cNvSpPr txBox="1"/>
          <p:nvPr/>
        </p:nvSpPr>
        <p:spPr>
          <a:xfrm>
            <a:off x="8274825" y="1706089"/>
            <a:ext cx="3727730" cy="4832092"/>
          </a:xfrm>
          <a:prstGeom prst="rect">
            <a:avLst/>
          </a:prstGeom>
          <a:noFill/>
        </p:spPr>
        <p:txBody>
          <a:bodyPr wrap="square">
            <a:spAutoFit/>
          </a:bodyPr>
          <a:lstStyle/>
          <a:p>
            <a:r>
              <a:rPr lang="en-IN" sz="1400" dirty="0">
                <a:latin typeface="Times New Roman" panose="02020603050405020304" pitchFamily="18" charset="0"/>
                <a:cs typeface="Times New Roman" panose="02020603050405020304" pitchFamily="18" charset="0"/>
              </a:rPr>
              <a:t>COMPARE </a:t>
            </a:r>
            <a:r>
              <a:rPr lang="en-IN" sz="1400" dirty="0" err="1">
                <a:latin typeface="Times New Roman" panose="02020603050405020304" pitchFamily="18" charset="0"/>
                <a:cs typeface="Times New Roman" panose="02020603050405020304" pitchFamily="18" charset="0"/>
              </a:rPr>
              <a:t>Accuracy_FL</a:t>
            </a:r>
            <a:r>
              <a:rPr lang="en-IN" sz="1400" dirty="0">
                <a:latin typeface="Times New Roman" panose="02020603050405020304" pitchFamily="18" charset="0"/>
                <a:cs typeface="Times New Roman" panose="02020603050405020304" pitchFamily="18" charset="0"/>
              </a:rPr>
              <a:t> with </a:t>
            </a:r>
            <a:r>
              <a:rPr lang="en-IN" sz="1400" dirty="0" err="1">
                <a:latin typeface="Times New Roman" panose="02020603050405020304" pitchFamily="18" charset="0"/>
                <a:cs typeface="Times New Roman" panose="02020603050405020304" pitchFamily="18" charset="0"/>
              </a:rPr>
              <a:t>Accuracy_Multi</a:t>
            </a:r>
            <a:endParaRPr lang="en-IN"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COMPARE </a:t>
            </a:r>
            <a:r>
              <a:rPr lang="en-IN" sz="1400" dirty="0" err="1">
                <a:latin typeface="Times New Roman" panose="02020603050405020304" pitchFamily="18" charset="0"/>
                <a:cs typeface="Times New Roman" panose="02020603050405020304" pitchFamily="18" charset="0"/>
              </a:rPr>
              <a:t>Precision_FL</a:t>
            </a:r>
            <a:r>
              <a:rPr lang="en-IN" sz="1400" dirty="0">
                <a:latin typeface="Times New Roman" panose="02020603050405020304" pitchFamily="18" charset="0"/>
                <a:cs typeface="Times New Roman" panose="02020603050405020304" pitchFamily="18" charset="0"/>
              </a:rPr>
              <a:t> with </a:t>
            </a:r>
            <a:r>
              <a:rPr lang="en-IN" sz="1400" dirty="0" err="1">
                <a:latin typeface="Times New Roman" panose="02020603050405020304" pitchFamily="18" charset="0"/>
                <a:cs typeface="Times New Roman" panose="02020603050405020304" pitchFamily="18" charset="0"/>
              </a:rPr>
              <a:t>Precision_Multi</a:t>
            </a:r>
            <a:endParaRPr lang="en-IN"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COMPARE </a:t>
            </a:r>
            <a:r>
              <a:rPr lang="en-IN" sz="1400" dirty="0" err="1">
                <a:latin typeface="Times New Roman" panose="02020603050405020304" pitchFamily="18" charset="0"/>
                <a:cs typeface="Times New Roman" panose="02020603050405020304" pitchFamily="18" charset="0"/>
              </a:rPr>
              <a:t>Recall_FL</a:t>
            </a:r>
            <a:r>
              <a:rPr lang="en-IN" sz="1400" dirty="0">
                <a:latin typeface="Times New Roman" panose="02020603050405020304" pitchFamily="18" charset="0"/>
                <a:cs typeface="Times New Roman" panose="02020603050405020304" pitchFamily="18" charset="0"/>
              </a:rPr>
              <a:t> with </a:t>
            </a:r>
            <a:r>
              <a:rPr lang="en-IN" sz="1400" dirty="0" err="1">
                <a:latin typeface="Times New Roman" panose="02020603050405020304" pitchFamily="18" charset="0"/>
                <a:cs typeface="Times New Roman" panose="02020603050405020304" pitchFamily="18" charset="0"/>
              </a:rPr>
              <a:t>Recall_Multi</a:t>
            </a:r>
            <a:endParaRPr lang="en-IN"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COMPARE F1_FL with F1_Multi</a:t>
            </a:r>
          </a:p>
          <a:p>
            <a:r>
              <a:rPr lang="en-IN" sz="1400" dirty="0">
                <a:latin typeface="Times New Roman" panose="02020603050405020304" pitchFamily="18" charset="0"/>
                <a:cs typeface="Times New Roman" panose="02020603050405020304" pitchFamily="18" charset="0"/>
              </a:rPr>
              <a:t>IF </a:t>
            </a:r>
            <a:r>
              <a:rPr lang="en-IN" sz="1400" dirty="0" err="1">
                <a:latin typeface="Times New Roman" panose="02020603050405020304" pitchFamily="18" charset="0"/>
                <a:cs typeface="Times New Roman" panose="02020603050405020304" pitchFamily="18" charset="0"/>
              </a:rPr>
              <a:t>Accuracy_Multi</a:t>
            </a:r>
            <a:r>
              <a:rPr lang="en-IN" sz="1400" dirty="0">
                <a:latin typeface="Times New Roman" panose="02020603050405020304" pitchFamily="18" charset="0"/>
                <a:cs typeface="Times New Roman" panose="02020603050405020304" pitchFamily="18" charset="0"/>
              </a:rPr>
              <a:t> &gt; </a:t>
            </a:r>
            <a:r>
              <a:rPr lang="en-IN" sz="1400" dirty="0" err="1">
                <a:latin typeface="Times New Roman" panose="02020603050405020304" pitchFamily="18" charset="0"/>
                <a:cs typeface="Times New Roman" panose="02020603050405020304" pitchFamily="18" charset="0"/>
              </a:rPr>
              <a:t>Accuracy_FL</a:t>
            </a:r>
            <a:r>
              <a:rPr lang="en-IN" sz="1400" dirty="0">
                <a:latin typeface="Times New Roman" panose="02020603050405020304" pitchFamily="18" charset="0"/>
                <a:cs typeface="Times New Roman" panose="02020603050405020304" pitchFamily="18" charset="0"/>
              </a:rPr>
              <a:t> THEN  </a:t>
            </a:r>
          </a:p>
          <a:p>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Best_Model</a:t>
            </a:r>
            <a:r>
              <a:rPr lang="en-IN" sz="1400" dirty="0">
                <a:latin typeface="Times New Roman" panose="02020603050405020304" pitchFamily="18" charset="0"/>
                <a:cs typeface="Times New Roman" panose="02020603050405020304" pitchFamily="18" charset="0"/>
              </a:rPr>
              <a:t> ← "Multimodal AI performs better“</a:t>
            </a:r>
          </a:p>
          <a:p>
            <a:r>
              <a:rPr lang="en-IN" sz="1400" dirty="0">
                <a:latin typeface="Times New Roman" panose="02020603050405020304" pitchFamily="18" charset="0"/>
                <a:cs typeface="Times New Roman" panose="02020603050405020304" pitchFamily="18" charset="0"/>
              </a:rPr>
              <a:t>ELSE IF </a:t>
            </a:r>
            <a:r>
              <a:rPr lang="en-IN" sz="1400" dirty="0" err="1">
                <a:latin typeface="Times New Roman" panose="02020603050405020304" pitchFamily="18" charset="0"/>
                <a:cs typeface="Times New Roman" panose="02020603050405020304" pitchFamily="18" charset="0"/>
              </a:rPr>
              <a:t>Accuracy_Multi</a:t>
            </a:r>
            <a:r>
              <a:rPr lang="en-IN" sz="1400" dirty="0">
                <a:latin typeface="Times New Roman" panose="02020603050405020304" pitchFamily="18" charset="0"/>
                <a:cs typeface="Times New Roman" panose="02020603050405020304" pitchFamily="18" charset="0"/>
              </a:rPr>
              <a:t> &lt; </a:t>
            </a:r>
            <a:r>
              <a:rPr lang="en-IN" sz="1400" dirty="0" err="1">
                <a:latin typeface="Times New Roman" panose="02020603050405020304" pitchFamily="18" charset="0"/>
                <a:cs typeface="Times New Roman" panose="02020603050405020304" pitchFamily="18" charset="0"/>
              </a:rPr>
              <a:t>Accuracy_FL</a:t>
            </a:r>
            <a:r>
              <a:rPr lang="en-IN" sz="1400" dirty="0">
                <a:latin typeface="Times New Roman" panose="02020603050405020304" pitchFamily="18" charset="0"/>
                <a:cs typeface="Times New Roman" panose="02020603050405020304" pitchFamily="18" charset="0"/>
              </a:rPr>
              <a:t> THEN</a:t>
            </a:r>
          </a:p>
          <a:p>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Best_Model</a:t>
            </a:r>
            <a:r>
              <a:rPr lang="en-IN" sz="1400" dirty="0">
                <a:latin typeface="Times New Roman" panose="02020603050405020304" pitchFamily="18" charset="0"/>
                <a:cs typeface="Times New Roman" panose="02020603050405020304" pitchFamily="18" charset="0"/>
              </a:rPr>
              <a:t> ← "Federated Learning performs better“</a:t>
            </a:r>
          </a:p>
          <a:p>
            <a:r>
              <a:rPr lang="en-IN" sz="1400" dirty="0">
                <a:latin typeface="Times New Roman" panose="02020603050405020304" pitchFamily="18" charset="0"/>
                <a:cs typeface="Times New Roman" panose="02020603050405020304" pitchFamily="18" charset="0"/>
              </a:rPr>
              <a:t>ELSE    </a:t>
            </a:r>
            <a:r>
              <a:rPr lang="en-IN" sz="1400" dirty="0" err="1">
                <a:latin typeface="Times New Roman" panose="02020603050405020304" pitchFamily="18" charset="0"/>
                <a:cs typeface="Times New Roman" panose="02020603050405020304" pitchFamily="18" charset="0"/>
              </a:rPr>
              <a:t>Best_Model</a:t>
            </a:r>
            <a:r>
              <a:rPr lang="en-IN" sz="1400" dirty="0">
                <a:latin typeface="Times New Roman" panose="02020603050405020304" pitchFamily="18" charset="0"/>
                <a:cs typeface="Times New Roman" panose="02020603050405020304" pitchFamily="18" charset="0"/>
              </a:rPr>
              <a:t> ← "Both models perform equally“</a:t>
            </a:r>
          </a:p>
          <a:p>
            <a:r>
              <a:rPr lang="en-IN" sz="1400" dirty="0">
                <a:latin typeface="Times New Roman" panose="02020603050405020304" pitchFamily="18" charset="0"/>
                <a:cs typeface="Times New Roman" panose="02020603050405020304" pitchFamily="18" charset="0"/>
              </a:rPr>
              <a:t>END IF</a:t>
            </a:r>
          </a:p>
          <a:p>
            <a:r>
              <a:rPr lang="en-IN" sz="1400" dirty="0">
                <a:latin typeface="Times New Roman" panose="02020603050405020304" pitchFamily="18" charset="0"/>
                <a:cs typeface="Times New Roman" panose="02020603050405020304" pitchFamily="18" charset="0"/>
              </a:rPr>
              <a:t>OUTPUT</a:t>
            </a:r>
          </a:p>
          <a:p>
            <a:r>
              <a:rPr lang="en-IN" sz="1400" dirty="0">
                <a:latin typeface="Times New Roman" panose="02020603050405020304" pitchFamily="18" charset="0"/>
                <a:cs typeface="Times New Roman" panose="02020603050405020304" pitchFamily="18" charset="0"/>
              </a:rPr>
              <a:t>DISPLAY "Federated Learning Results:“</a:t>
            </a:r>
          </a:p>
          <a:p>
            <a:r>
              <a:rPr lang="en-IN" sz="1400" dirty="0">
                <a:latin typeface="Times New Roman" panose="02020603050405020304" pitchFamily="18" charset="0"/>
                <a:cs typeface="Times New Roman" panose="02020603050405020304" pitchFamily="18" charset="0"/>
              </a:rPr>
              <a:t>DISPLAY </a:t>
            </a:r>
            <a:r>
              <a:rPr lang="en-IN" sz="1400" dirty="0" err="1">
                <a:latin typeface="Times New Roman" panose="02020603050405020304" pitchFamily="18" charset="0"/>
                <a:cs typeface="Times New Roman" panose="02020603050405020304" pitchFamily="18" charset="0"/>
              </a:rPr>
              <a:t>Accuracy_FL</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Precision_FL</a:t>
            </a:r>
            <a:r>
              <a:rPr lang="en-IN" sz="1400" dirty="0">
                <a:latin typeface="Times New Roman" panose="02020603050405020304" pitchFamily="18" charset="0"/>
                <a:cs typeface="Times New Roman" panose="02020603050405020304" pitchFamily="18" charset="0"/>
              </a:rPr>
              <a:t>, </a:t>
            </a:r>
          </a:p>
          <a:p>
            <a:r>
              <a:rPr lang="en-IN" sz="1400" dirty="0" err="1">
                <a:latin typeface="Times New Roman" panose="02020603050405020304" pitchFamily="18" charset="0"/>
                <a:cs typeface="Times New Roman" panose="02020603050405020304" pitchFamily="18" charset="0"/>
              </a:rPr>
              <a:t>Recall_FL</a:t>
            </a:r>
            <a:r>
              <a:rPr lang="en-IN" sz="1400" dirty="0">
                <a:latin typeface="Times New Roman" panose="02020603050405020304" pitchFamily="18" charset="0"/>
                <a:cs typeface="Times New Roman" panose="02020603050405020304" pitchFamily="18" charset="0"/>
              </a:rPr>
              <a:t>, F1_FL</a:t>
            </a:r>
          </a:p>
          <a:p>
            <a:r>
              <a:rPr lang="en-IN" sz="1400" dirty="0">
                <a:latin typeface="Times New Roman" panose="02020603050405020304" pitchFamily="18" charset="0"/>
                <a:cs typeface="Times New Roman" panose="02020603050405020304" pitchFamily="18" charset="0"/>
              </a:rPr>
              <a:t>DISPLAY "Multimodal AI Results:“</a:t>
            </a:r>
          </a:p>
          <a:p>
            <a:r>
              <a:rPr lang="en-IN" sz="1400" dirty="0">
                <a:latin typeface="Times New Roman" panose="02020603050405020304" pitchFamily="18" charset="0"/>
                <a:cs typeface="Times New Roman" panose="02020603050405020304" pitchFamily="18" charset="0"/>
              </a:rPr>
              <a:t>DISPLAY </a:t>
            </a:r>
            <a:r>
              <a:rPr lang="en-IN" sz="1400" dirty="0" err="1">
                <a:latin typeface="Times New Roman" panose="02020603050405020304" pitchFamily="18" charset="0"/>
                <a:cs typeface="Times New Roman" panose="02020603050405020304" pitchFamily="18" charset="0"/>
              </a:rPr>
              <a:t>Accuracy_Multi</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Precision_Multi</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Recall_Multi</a:t>
            </a:r>
            <a:r>
              <a:rPr lang="en-IN" sz="1400" dirty="0">
                <a:latin typeface="Times New Roman" panose="02020603050405020304" pitchFamily="18" charset="0"/>
                <a:cs typeface="Times New Roman" panose="02020603050405020304" pitchFamily="18" charset="0"/>
              </a:rPr>
              <a:t>, F1_Multi</a:t>
            </a:r>
          </a:p>
          <a:p>
            <a:r>
              <a:rPr lang="en-IN" sz="1400" dirty="0">
                <a:latin typeface="Times New Roman" panose="02020603050405020304" pitchFamily="18" charset="0"/>
                <a:cs typeface="Times New Roman" panose="02020603050405020304" pitchFamily="18" charset="0"/>
              </a:rPr>
              <a:t>DISPLAY "Best Model:", </a:t>
            </a:r>
            <a:r>
              <a:rPr lang="en-IN" sz="1400" dirty="0" err="1">
                <a:latin typeface="Times New Roman" panose="02020603050405020304" pitchFamily="18" charset="0"/>
                <a:cs typeface="Times New Roman" panose="02020603050405020304" pitchFamily="18" charset="0"/>
              </a:rPr>
              <a:t>Best_Model</a:t>
            </a:r>
            <a:endParaRPr lang="en-IN"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END</a:t>
            </a:r>
            <a:endParaRPr lang="en-IN" sz="1400" dirty="0"/>
          </a:p>
        </p:txBody>
      </p:sp>
    </p:spTree>
    <p:extLst>
      <p:ext uri="{BB962C8B-B14F-4D97-AF65-F5344CB8AC3E}">
        <p14:creationId xmlns:p14="http://schemas.microsoft.com/office/powerpoint/2010/main" val="22356193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4703F61-1548-72D5-2F16-CA18EDF27BA8}"/>
              </a:ext>
            </a:extLst>
          </p:cNvPr>
          <p:cNvPicPr/>
          <p:nvPr/>
        </p:nvPicPr>
        <p:blipFill>
          <a:blip r:embed="rId2"/>
          <a:stretch>
            <a:fillRect/>
          </a:stretch>
        </p:blipFill>
        <p:spPr>
          <a:xfrm>
            <a:off x="447040" y="87900"/>
            <a:ext cx="11074400" cy="1264555"/>
          </a:xfrm>
          <a:prstGeom prst="rect">
            <a:avLst/>
          </a:prstGeom>
        </p:spPr>
      </p:pic>
      <p:sp>
        <p:nvSpPr>
          <p:cNvPr id="6" name="TextBox 5">
            <a:extLst>
              <a:ext uri="{FF2B5EF4-FFF2-40B4-BE49-F238E27FC236}">
                <a16:creationId xmlns:a16="http://schemas.microsoft.com/office/drawing/2014/main" id="{D29AC4E9-EA82-847A-EBBE-D7FB90372D7A}"/>
              </a:ext>
            </a:extLst>
          </p:cNvPr>
          <p:cNvSpPr txBox="1"/>
          <p:nvPr/>
        </p:nvSpPr>
        <p:spPr>
          <a:xfrm>
            <a:off x="3048000" y="1222323"/>
            <a:ext cx="6096000" cy="707886"/>
          </a:xfrm>
          <a:prstGeom prst="rect">
            <a:avLst/>
          </a:prstGeom>
          <a:noFill/>
        </p:spPr>
        <p:txBody>
          <a:bodyPr wrap="square">
            <a:spAutoFit/>
          </a:bodyPr>
          <a:lstStyle/>
          <a:p>
            <a:pPr algn="ctr"/>
            <a:r>
              <a:rPr lang="en-US" sz="4000" b="1" dirty="0">
                <a:latin typeface="Times New Roman" panose="02020603050405020304" pitchFamily="18" charset="0"/>
                <a:cs typeface="Times New Roman" panose="02020603050405020304" pitchFamily="18" charset="0"/>
              </a:rPr>
              <a:t>OUTPUT</a:t>
            </a:r>
            <a:endParaRPr lang="en-IN" sz="4000" dirty="0"/>
          </a:p>
        </p:txBody>
      </p:sp>
      <p:graphicFrame>
        <p:nvGraphicFramePr>
          <p:cNvPr id="7" name="Table 6">
            <a:extLst>
              <a:ext uri="{FF2B5EF4-FFF2-40B4-BE49-F238E27FC236}">
                <a16:creationId xmlns:a16="http://schemas.microsoft.com/office/drawing/2014/main" id="{12059019-A292-BDE4-F84D-56CF72D2311A}"/>
              </a:ext>
            </a:extLst>
          </p:cNvPr>
          <p:cNvGraphicFramePr>
            <a:graphicFrameLocks noGrp="1"/>
          </p:cNvGraphicFramePr>
          <p:nvPr>
            <p:extLst>
              <p:ext uri="{D42A27DB-BD31-4B8C-83A1-F6EECF244321}">
                <p14:modId xmlns:p14="http://schemas.microsoft.com/office/powerpoint/2010/main" val="1113420253"/>
              </p:ext>
            </p:extLst>
          </p:nvPr>
        </p:nvGraphicFramePr>
        <p:xfrm>
          <a:off x="2643990" y="1800076"/>
          <a:ext cx="6680500" cy="4970024"/>
        </p:xfrm>
        <a:graphic>
          <a:graphicData uri="http://schemas.openxmlformats.org/drawingml/2006/table">
            <a:tbl>
              <a:tblPr firstRow="1" firstCol="1" bandRow="1">
                <a:tableStyleId>{2D5ABB26-0587-4C30-8999-92F81FD0307C}</a:tableStyleId>
              </a:tblPr>
              <a:tblGrid>
                <a:gridCol w="901382">
                  <a:extLst>
                    <a:ext uri="{9D8B030D-6E8A-4147-A177-3AD203B41FA5}">
                      <a16:colId xmlns:a16="http://schemas.microsoft.com/office/drawing/2014/main" val="119683202"/>
                    </a:ext>
                  </a:extLst>
                </a:gridCol>
                <a:gridCol w="2889559">
                  <a:extLst>
                    <a:ext uri="{9D8B030D-6E8A-4147-A177-3AD203B41FA5}">
                      <a16:colId xmlns:a16="http://schemas.microsoft.com/office/drawing/2014/main" val="2599942425"/>
                    </a:ext>
                  </a:extLst>
                </a:gridCol>
                <a:gridCol w="2889559">
                  <a:extLst>
                    <a:ext uri="{9D8B030D-6E8A-4147-A177-3AD203B41FA5}">
                      <a16:colId xmlns:a16="http://schemas.microsoft.com/office/drawing/2014/main" val="1875774758"/>
                    </a:ext>
                  </a:extLst>
                </a:gridCol>
              </a:tblGrid>
              <a:tr h="459624">
                <a:tc>
                  <a:txBody>
                    <a:bodyPr/>
                    <a:lstStyle/>
                    <a:p>
                      <a:pPr marL="0" marR="0" algn="ctr">
                        <a:lnSpc>
                          <a:spcPct val="107000"/>
                        </a:lnSpc>
                        <a:spcAft>
                          <a:spcPts val="800"/>
                        </a:spcAft>
                        <a:buNone/>
                      </a:pPr>
                      <a:r>
                        <a:rPr lang="en-IN" sz="1200" b="1" kern="0" dirty="0">
                          <a:effectLst/>
                          <a:latin typeface="Times New Roman" panose="02020603050405020304" pitchFamily="18" charset="0"/>
                          <a:cs typeface="Times New Roman" panose="02020603050405020304" pitchFamily="18" charset="0"/>
                        </a:rPr>
                        <a:t>Iteration</a:t>
                      </a:r>
                      <a:endPar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IN" sz="1200" b="1" kern="0" dirty="0">
                          <a:effectLst/>
                          <a:latin typeface="Times New Roman" panose="02020603050405020304" pitchFamily="18" charset="0"/>
                          <a:cs typeface="Times New Roman" panose="02020603050405020304" pitchFamily="18" charset="0"/>
                        </a:rPr>
                        <a:t>Multimodal AI Algorithm</a:t>
                      </a:r>
                      <a:endPar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IN" sz="1200" b="1" kern="0" dirty="0">
                          <a:effectLst/>
                          <a:latin typeface="Times New Roman" panose="02020603050405020304" pitchFamily="18" charset="0"/>
                          <a:cs typeface="Times New Roman" panose="02020603050405020304" pitchFamily="18" charset="0"/>
                        </a:rPr>
                        <a:t>Federated Learning Algorithm</a:t>
                      </a:r>
                      <a:endPar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8712888"/>
                  </a:ext>
                </a:extLst>
              </a:tr>
              <a:tr h="225520">
                <a:tc>
                  <a:txBody>
                    <a:bodyPr/>
                    <a:lstStyle/>
                    <a:p>
                      <a:pPr marL="0" marR="0" algn="ctr">
                        <a:lnSpc>
                          <a:spcPct val="107000"/>
                        </a:lnSpc>
                        <a:spcAft>
                          <a:spcPts val="800"/>
                        </a:spcAft>
                        <a:buNone/>
                      </a:pPr>
                      <a:r>
                        <a:rPr lang="en-IN" sz="1200" kern="0" dirty="0">
                          <a:effectLst/>
                          <a:latin typeface="Times New Roman" panose="02020603050405020304" pitchFamily="18" charset="0"/>
                          <a:cs typeface="Times New Roman" panose="02020603050405020304" pitchFamily="18" charset="0"/>
                        </a:rPr>
                        <a:t>1</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IN" sz="1200" kern="0" dirty="0">
                          <a:effectLst/>
                          <a:latin typeface="Times New Roman" panose="02020603050405020304" pitchFamily="18" charset="0"/>
                          <a:cs typeface="Times New Roman" panose="02020603050405020304" pitchFamily="18" charset="0"/>
                        </a:rPr>
                        <a:t>95.50</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8</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8.60</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89970367"/>
                  </a:ext>
                </a:extLst>
              </a:tr>
              <a:tr h="225520">
                <a:tc>
                  <a:txBody>
                    <a:bodyPr/>
                    <a:lstStyle/>
                    <a:p>
                      <a:pPr marL="0" marR="0" algn="ctr">
                        <a:lnSpc>
                          <a:spcPct val="107000"/>
                        </a:lnSpc>
                        <a:spcAft>
                          <a:spcPts val="800"/>
                        </a:spcAft>
                        <a:buNone/>
                      </a:pPr>
                      <a:r>
                        <a:rPr lang="en-IN" sz="1200" kern="0">
                          <a:effectLst/>
                          <a:latin typeface="Times New Roman" panose="02020603050405020304" pitchFamily="18" charset="0"/>
                          <a:cs typeface="Times New Roman" panose="02020603050405020304" pitchFamily="18" charset="0"/>
                        </a:rPr>
                        <a:t>2</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IN" sz="1200" kern="0" dirty="0">
                          <a:effectLst/>
                          <a:latin typeface="Times New Roman" panose="02020603050405020304" pitchFamily="18" charset="0"/>
                          <a:cs typeface="Times New Roman" panose="02020603050405020304" pitchFamily="18" charset="0"/>
                        </a:rPr>
                        <a:t>95.60</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88.65</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3544471"/>
                  </a:ext>
                </a:extLst>
              </a:tr>
              <a:tr h="225520">
                <a:tc>
                  <a:txBody>
                    <a:bodyPr/>
                    <a:lstStyle/>
                    <a:p>
                      <a:pPr marL="0" marR="0" algn="ctr">
                        <a:lnSpc>
                          <a:spcPct val="107000"/>
                        </a:lnSpc>
                        <a:spcAft>
                          <a:spcPts val="800"/>
                        </a:spcAft>
                        <a:buNone/>
                      </a:pPr>
                      <a:r>
                        <a:rPr lang="en-IN" sz="1200" kern="0">
                          <a:effectLst/>
                          <a:latin typeface="Times New Roman" panose="02020603050405020304" pitchFamily="18" charset="0"/>
                          <a:cs typeface="Times New Roman" panose="02020603050405020304" pitchFamily="18" charset="0"/>
                        </a:rPr>
                        <a:t>3</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IN" sz="1200" kern="0" dirty="0">
                          <a:effectLst/>
                          <a:latin typeface="Times New Roman" panose="02020603050405020304" pitchFamily="18" charset="0"/>
                          <a:cs typeface="Times New Roman" panose="02020603050405020304" pitchFamily="18" charset="0"/>
                        </a:rPr>
                        <a:t>95.40</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88.55</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77442683"/>
                  </a:ext>
                </a:extLst>
              </a:tr>
              <a:tr h="225520">
                <a:tc>
                  <a:txBody>
                    <a:bodyPr/>
                    <a:lstStyle/>
                    <a:p>
                      <a:pPr marL="0" marR="0" algn="ctr">
                        <a:lnSpc>
                          <a:spcPct val="107000"/>
                        </a:lnSpc>
                        <a:spcAft>
                          <a:spcPts val="800"/>
                        </a:spcAft>
                        <a:buNone/>
                      </a:pPr>
                      <a:r>
                        <a:rPr lang="en-IN" sz="1200" kern="0">
                          <a:effectLst/>
                          <a:latin typeface="Times New Roman" panose="02020603050405020304" pitchFamily="18" charset="0"/>
                          <a:cs typeface="Times New Roman" panose="02020603050405020304" pitchFamily="18" charset="0"/>
                        </a:rPr>
                        <a:t>4</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9</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5.50</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8</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8.70</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54474003"/>
                  </a:ext>
                </a:extLst>
              </a:tr>
              <a:tr h="225520">
                <a:tc>
                  <a:txBody>
                    <a:bodyPr/>
                    <a:lstStyle/>
                    <a:p>
                      <a:pPr marL="0" marR="0" algn="ctr">
                        <a:lnSpc>
                          <a:spcPct val="107000"/>
                        </a:lnSpc>
                        <a:spcAft>
                          <a:spcPts val="800"/>
                        </a:spcAft>
                        <a:buNone/>
                      </a:pPr>
                      <a:r>
                        <a:rPr lang="en-IN" sz="1200" kern="0">
                          <a:effectLst/>
                          <a:latin typeface="Times New Roman" panose="02020603050405020304" pitchFamily="18" charset="0"/>
                          <a:cs typeface="Times New Roman" panose="02020603050405020304" pitchFamily="18" charset="0"/>
                        </a:rPr>
                        <a:t>5</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IN" sz="1200" kern="0" dirty="0">
                          <a:effectLst/>
                          <a:latin typeface="Times New Roman" panose="02020603050405020304" pitchFamily="18" charset="0"/>
                          <a:cs typeface="Times New Roman" panose="02020603050405020304" pitchFamily="18" charset="0"/>
                        </a:rPr>
                        <a:t>95.55</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8</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8.60</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08902433"/>
                  </a:ext>
                </a:extLst>
              </a:tr>
              <a:tr h="225520">
                <a:tc>
                  <a:txBody>
                    <a:bodyPr/>
                    <a:lstStyle/>
                    <a:p>
                      <a:pPr marL="0" marR="0" algn="ctr">
                        <a:lnSpc>
                          <a:spcPct val="107000"/>
                        </a:lnSpc>
                        <a:spcAft>
                          <a:spcPts val="800"/>
                        </a:spcAft>
                        <a:buNone/>
                      </a:pPr>
                      <a:r>
                        <a:rPr lang="en-IN" sz="1200" kern="0">
                          <a:effectLst/>
                          <a:latin typeface="Times New Roman" panose="02020603050405020304" pitchFamily="18" charset="0"/>
                          <a:cs typeface="Times New Roman" panose="02020603050405020304" pitchFamily="18" charset="0"/>
                        </a:rPr>
                        <a:t>6</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9</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5.45</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8</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8.65</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75137201"/>
                  </a:ext>
                </a:extLst>
              </a:tr>
              <a:tr h="225520">
                <a:tc>
                  <a:txBody>
                    <a:bodyPr/>
                    <a:lstStyle/>
                    <a:p>
                      <a:pPr marL="0" marR="0" algn="ctr">
                        <a:lnSpc>
                          <a:spcPct val="107000"/>
                        </a:lnSpc>
                        <a:spcAft>
                          <a:spcPts val="800"/>
                        </a:spcAft>
                        <a:buNone/>
                      </a:pPr>
                      <a:r>
                        <a:rPr lang="en-IN" sz="1200" kern="0">
                          <a:effectLst/>
                          <a:latin typeface="Times New Roman" panose="02020603050405020304" pitchFamily="18" charset="0"/>
                          <a:cs typeface="Times New Roman" panose="02020603050405020304" pitchFamily="18" charset="0"/>
                        </a:rPr>
                        <a:t>7</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9</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5.50</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8</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8.55</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20798773"/>
                  </a:ext>
                </a:extLst>
              </a:tr>
              <a:tr h="225520">
                <a:tc>
                  <a:txBody>
                    <a:bodyPr/>
                    <a:lstStyle/>
                    <a:p>
                      <a:pPr marL="0" marR="0" algn="ctr">
                        <a:lnSpc>
                          <a:spcPct val="107000"/>
                        </a:lnSpc>
                        <a:spcAft>
                          <a:spcPts val="800"/>
                        </a:spcAft>
                        <a:buNone/>
                      </a:pPr>
                      <a:r>
                        <a:rPr lang="en-IN" sz="1200" kern="0">
                          <a:effectLst/>
                          <a:latin typeface="Times New Roman" panose="02020603050405020304" pitchFamily="18" charset="0"/>
                          <a:cs typeface="Times New Roman" panose="02020603050405020304" pitchFamily="18" charset="0"/>
                        </a:rPr>
                        <a:t>8</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IN" sz="1200" kern="0" dirty="0">
                          <a:effectLst/>
                          <a:latin typeface="Times New Roman" panose="02020603050405020304" pitchFamily="18" charset="0"/>
                          <a:cs typeface="Times New Roman" panose="02020603050405020304" pitchFamily="18" charset="0"/>
                        </a:rPr>
                        <a:t>95.60</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8</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8.70</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40358329"/>
                  </a:ext>
                </a:extLst>
              </a:tr>
              <a:tr h="225520">
                <a:tc>
                  <a:txBody>
                    <a:bodyPr/>
                    <a:lstStyle/>
                    <a:p>
                      <a:pPr marL="0" marR="0" algn="ctr">
                        <a:lnSpc>
                          <a:spcPct val="107000"/>
                        </a:lnSpc>
                        <a:spcAft>
                          <a:spcPts val="800"/>
                        </a:spcAft>
                        <a:buNone/>
                      </a:pPr>
                      <a:r>
                        <a:rPr lang="en-IN" sz="1200" kern="0">
                          <a:effectLst/>
                          <a:latin typeface="Times New Roman" panose="02020603050405020304" pitchFamily="18" charset="0"/>
                          <a:cs typeface="Times New Roman" panose="02020603050405020304" pitchFamily="18" charset="0"/>
                        </a:rPr>
                        <a:t>9</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IN" sz="1200" kern="0" dirty="0">
                          <a:effectLst/>
                          <a:latin typeface="Times New Roman" panose="02020603050405020304" pitchFamily="18" charset="0"/>
                          <a:cs typeface="Times New Roman" panose="02020603050405020304" pitchFamily="18" charset="0"/>
                        </a:rPr>
                        <a:t>95.40</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8</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8.60</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56338072"/>
                  </a:ext>
                </a:extLst>
              </a:tr>
              <a:tr h="225520">
                <a:tc>
                  <a:txBody>
                    <a:bodyPr/>
                    <a:lstStyle/>
                    <a:p>
                      <a:pPr marL="0" marR="0" algn="ctr">
                        <a:lnSpc>
                          <a:spcPct val="107000"/>
                        </a:lnSpc>
                        <a:spcAft>
                          <a:spcPts val="800"/>
                        </a:spcAft>
                        <a:buNone/>
                      </a:pPr>
                      <a:r>
                        <a:rPr lang="en-IN" sz="1200" kern="0">
                          <a:effectLst/>
                          <a:latin typeface="Times New Roman" panose="02020603050405020304" pitchFamily="18" charset="0"/>
                          <a:cs typeface="Times New Roman" panose="02020603050405020304" pitchFamily="18" charset="0"/>
                        </a:rPr>
                        <a:t>10</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9</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5.50</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8</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8.65</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79650888"/>
                  </a:ext>
                </a:extLst>
              </a:tr>
              <a:tr h="225520">
                <a:tc>
                  <a:txBody>
                    <a:bodyPr/>
                    <a:lstStyle/>
                    <a:p>
                      <a:pPr marL="0" marR="0" algn="ctr">
                        <a:lnSpc>
                          <a:spcPct val="107000"/>
                        </a:lnSpc>
                        <a:spcAft>
                          <a:spcPts val="800"/>
                        </a:spcAft>
                        <a:buNone/>
                      </a:pPr>
                      <a:r>
                        <a:rPr lang="en-IN" sz="1200" kern="0">
                          <a:effectLst/>
                          <a:latin typeface="Times New Roman" panose="02020603050405020304" pitchFamily="18" charset="0"/>
                          <a:cs typeface="Times New Roman" panose="02020603050405020304" pitchFamily="18" charset="0"/>
                        </a:rPr>
                        <a:t>11</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9</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5.55</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8</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8.55</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72954832"/>
                  </a:ext>
                </a:extLst>
              </a:tr>
              <a:tr h="225520">
                <a:tc>
                  <a:txBody>
                    <a:bodyPr/>
                    <a:lstStyle/>
                    <a:p>
                      <a:pPr marL="0" marR="0" algn="ctr">
                        <a:lnSpc>
                          <a:spcPct val="107000"/>
                        </a:lnSpc>
                        <a:spcAft>
                          <a:spcPts val="800"/>
                        </a:spcAft>
                        <a:buNone/>
                      </a:pPr>
                      <a:r>
                        <a:rPr lang="en-IN" sz="1200" kern="0">
                          <a:effectLst/>
                          <a:latin typeface="Times New Roman" panose="02020603050405020304" pitchFamily="18" charset="0"/>
                          <a:cs typeface="Times New Roman" panose="02020603050405020304" pitchFamily="18" charset="0"/>
                        </a:rPr>
                        <a:t>12</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IN" sz="1200" kern="0" dirty="0">
                          <a:effectLst/>
                          <a:latin typeface="Times New Roman" panose="02020603050405020304" pitchFamily="18" charset="0"/>
                          <a:cs typeface="Times New Roman" panose="02020603050405020304" pitchFamily="18" charset="0"/>
                        </a:rPr>
                        <a:t>95.45</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8</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8.70</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08145807"/>
                  </a:ext>
                </a:extLst>
              </a:tr>
              <a:tr h="225520">
                <a:tc>
                  <a:txBody>
                    <a:bodyPr/>
                    <a:lstStyle/>
                    <a:p>
                      <a:pPr marL="0" marR="0" algn="ctr">
                        <a:lnSpc>
                          <a:spcPct val="107000"/>
                        </a:lnSpc>
                        <a:spcAft>
                          <a:spcPts val="800"/>
                        </a:spcAft>
                        <a:buNone/>
                      </a:pPr>
                      <a:r>
                        <a:rPr lang="en-IN" sz="1200" kern="0">
                          <a:effectLst/>
                          <a:latin typeface="Times New Roman" panose="02020603050405020304" pitchFamily="18" charset="0"/>
                          <a:cs typeface="Times New Roman" panose="02020603050405020304" pitchFamily="18" charset="0"/>
                        </a:rPr>
                        <a:t>13</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IN" sz="1200" kern="0" dirty="0">
                          <a:effectLst/>
                          <a:latin typeface="Times New Roman" panose="02020603050405020304" pitchFamily="18" charset="0"/>
                          <a:cs typeface="Times New Roman" panose="02020603050405020304" pitchFamily="18" charset="0"/>
                        </a:rPr>
                        <a:t>95.50</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8</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8.60</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16621285"/>
                  </a:ext>
                </a:extLst>
              </a:tr>
              <a:tr h="225520">
                <a:tc>
                  <a:txBody>
                    <a:bodyPr/>
                    <a:lstStyle/>
                    <a:p>
                      <a:pPr marL="0" marR="0" algn="ctr">
                        <a:lnSpc>
                          <a:spcPct val="107000"/>
                        </a:lnSpc>
                        <a:spcAft>
                          <a:spcPts val="800"/>
                        </a:spcAft>
                        <a:buNone/>
                      </a:pPr>
                      <a:r>
                        <a:rPr lang="en-IN" sz="1200" kern="0">
                          <a:effectLst/>
                          <a:latin typeface="Times New Roman" panose="02020603050405020304" pitchFamily="18" charset="0"/>
                          <a:cs typeface="Times New Roman" panose="02020603050405020304" pitchFamily="18" charset="0"/>
                        </a:rPr>
                        <a:t>14</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IN" sz="1200" kern="0" dirty="0">
                          <a:effectLst/>
                          <a:latin typeface="Times New Roman" panose="02020603050405020304" pitchFamily="18" charset="0"/>
                          <a:cs typeface="Times New Roman" panose="02020603050405020304" pitchFamily="18" charset="0"/>
                        </a:rPr>
                        <a:t>95.60</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8</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8.65</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79759872"/>
                  </a:ext>
                </a:extLst>
              </a:tr>
              <a:tr h="225520">
                <a:tc>
                  <a:txBody>
                    <a:bodyPr/>
                    <a:lstStyle/>
                    <a:p>
                      <a:pPr marL="0" marR="0" algn="ctr">
                        <a:lnSpc>
                          <a:spcPct val="107000"/>
                        </a:lnSpc>
                        <a:spcAft>
                          <a:spcPts val="800"/>
                        </a:spcAft>
                        <a:buNone/>
                      </a:pPr>
                      <a:r>
                        <a:rPr lang="en-IN" sz="1200" kern="0">
                          <a:effectLst/>
                          <a:latin typeface="Times New Roman" panose="02020603050405020304" pitchFamily="18" charset="0"/>
                          <a:cs typeface="Times New Roman" panose="02020603050405020304" pitchFamily="18" charset="0"/>
                        </a:rPr>
                        <a:t>15</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9</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5.40</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8</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8.55</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0130601"/>
                  </a:ext>
                </a:extLst>
              </a:tr>
              <a:tr h="225520">
                <a:tc>
                  <a:txBody>
                    <a:bodyPr/>
                    <a:lstStyle/>
                    <a:p>
                      <a:pPr marL="0" marR="0" algn="ctr">
                        <a:lnSpc>
                          <a:spcPct val="107000"/>
                        </a:lnSpc>
                        <a:spcAft>
                          <a:spcPts val="800"/>
                        </a:spcAft>
                        <a:buNone/>
                      </a:pPr>
                      <a:r>
                        <a:rPr lang="en-IN" sz="1200" kern="0">
                          <a:effectLst/>
                          <a:latin typeface="Times New Roman" panose="02020603050405020304" pitchFamily="18" charset="0"/>
                          <a:cs typeface="Times New Roman" panose="02020603050405020304" pitchFamily="18" charset="0"/>
                        </a:rPr>
                        <a:t>16</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IN" sz="1200" kern="0" dirty="0">
                          <a:effectLst/>
                          <a:latin typeface="Times New Roman" panose="02020603050405020304" pitchFamily="18" charset="0"/>
                          <a:cs typeface="Times New Roman" panose="02020603050405020304" pitchFamily="18" charset="0"/>
                        </a:rPr>
                        <a:t>95.50</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cs typeface="Times New Roman" panose="02020603050405020304" pitchFamily="18" charset="0"/>
                        </a:rPr>
                        <a:t>8</a:t>
                      </a:r>
                      <a:r>
                        <a:rPr lang="en-IN" sz="1200" kern="0" dirty="0">
                          <a:effectLst/>
                          <a:latin typeface="Times New Roman" panose="02020603050405020304" pitchFamily="18" charset="0"/>
                          <a:cs typeface="Times New Roman" panose="02020603050405020304" pitchFamily="18" charset="0"/>
                        </a:rPr>
                        <a:t>8.70</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37662328"/>
                  </a:ext>
                </a:extLst>
              </a:tr>
              <a:tr h="225520">
                <a:tc>
                  <a:txBody>
                    <a:bodyPr/>
                    <a:lstStyle/>
                    <a:p>
                      <a:pPr marL="0" marR="0" algn="ctr">
                        <a:lnSpc>
                          <a:spcPct val="107000"/>
                        </a:lnSpc>
                        <a:spcAft>
                          <a:spcPts val="800"/>
                        </a:spcAft>
                        <a:buNone/>
                      </a:pPr>
                      <a:r>
                        <a:rPr lang="en-IN" sz="1200" kern="0">
                          <a:effectLst/>
                          <a:latin typeface="Times New Roman" panose="02020603050405020304" pitchFamily="18" charset="0"/>
                          <a:cs typeface="Times New Roman" panose="02020603050405020304" pitchFamily="18" charset="0"/>
                        </a:rPr>
                        <a:t>17</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95.55</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8</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8.60</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13005364"/>
                  </a:ext>
                </a:extLst>
              </a:tr>
              <a:tr h="225520">
                <a:tc>
                  <a:txBody>
                    <a:bodyPr/>
                    <a:lstStyle/>
                    <a:p>
                      <a:pPr marL="0" marR="0" algn="ctr">
                        <a:lnSpc>
                          <a:spcPct val="107000"/>
                        </a:lnSpc>
                        <a:spcAft>
                          <a:spcPts val="800"/>
                        </a:spcAft>
                        <a:buNone/>
                      </a:pPr>
                      <a:r>
                        <a:rPr lang="en-IN" sz="1200" kern="0">
                          <a:effectLst/>
                          <a:latin typeface="Times New Roman" panose="02020603050405020304" pitchFamily="18" charset="0"/>
                          <a:cs typeface="Times New Roman" panose="02020603050405020304" pitchFamily="18" charset="0"/>
                        </a:rPr>
                        <a:t>18</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IN" sz="1200" kern="0" dirty="0">
                          <a:effectLst/>
                          <a:latin typeface="Times New Roman" panose="02020603050405020304" pitchFamily="18" charset="0"/>
                          <a:cs typeface="Times New Roman" panose="02020603050405020304" pitchFamily="18" charset="0"/>
                        </a:rPr>
                        <a:t>95.45</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8</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8.65</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28248223"/>
                  </a:ext>
                </a:extLst>
              </a:tr>
              <a:tr h="225520">
                <a:tc>
                  <a:txBody>
                    <a:bodyPr/>
                    <a:lstStyle/>
                    <a:p>
                      <a:pPr marL="0" marR="0" algn="ctr">
                        <a:lnSpc>
                          <a:spcPct val="107000"/>
                        </a:lnSpc>
                        <a:spcAft>
                          <a:spcPts val="800"/>
                        </a:spcAft>
                        <a:buNone/>
                      </a:pPr>
                      <a:r>
                        <a:rPr lang="en-IN" sz="1200" kern="0">
                          <a:effectLst/>
                          <a:latin typeface="Times New Roman" panose="02020603050405020304" pitchFamily="18" charset="0"/>
                          <a:cs typeface="Times New Roman" panose="02020603050405020304" pitchFamily="18" charset="0"/>
                        </a:rPr>
                        <a:t>19</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IN" sz="1200" kern="0" dirty="0">
                          <a:effectLst/>
                          <a:latin typeface="Times New Roman" panose="02020603050405020304" pitchFamily="18" charset="0"/>
                          <a:cs typeface="Times New Roman" panose="02020603050405020304" pitchFamily="18" charset="0"/>
                        </a:rPr>
                        <a:t>95.50</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8</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8.55</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81378814"/>
                  </a:ext>
                </a:extLst>
              </a:tr>
              <a:tr h="225520">
                <a:tc>
                  <a:txBody>
                    <a:bodyPr/>
                    <a:lstStyle/>
                    <a:p>
                      <a:pPr marL="0" marR="0" algn="ctr">
                        <a:lnSpc>
                          <a:spcPct val="107000"/>
                        </a:lnSpc>
                        <a:spcAft>
                          <a:spcPts val="800"/>
                        </a:spcAft>
                        <a:buNone/>
                      </a:pPr>
                      <a:r>
                        <a:rPr lang="en-IN" sz="1200" kern="0" dirty="0">
                          <a:effectLst/>
                          <a:latin typeface="Times New Roman" panose="02020603050405020304" pitchFamily="18" charset="0"/>
                          <a:cs typeface="Times New Roman" panose="02020603050405020304" pitchFamily="18" charset="0"/>
                        </a:rPr>
                        <a:t>20</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IN" sz="1200" kern="0" dirty="0">
                          <a:effectLst/>
                          <a:latin typeface="Times New Roman" panose="02020603050405020304" pitchFamily="18" charset="0"/>
                          <a:cs typeface="Times New Roman" panose="02020603050405020304" pitchFamily="18" charset="0"/>
                        </a:rPr>
                        <a:t>95.50</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8</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8.64</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39933413"/>
                  </a:ext>
                </a:extLst>
              </a:tr>
            </a:tbl>
          </a:graphicData>
        </a:graphic>
      </p:graphicFrame>
    </p:spTree>
    <p:extLst>
      <p:ext uri="{BB962C8B-B14F-4D97-AF65-F5344CB8AC3E}">
        <p14:creationId xmlns:p14="http://schemas.microsoft.com/office/powerpoint/2010/main" val="11071920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A2244B0-B22C-0452-A690-6B7D255881C0}"/>
              </a:ext>
            </a:extLst>
          </p:cNvPr>
          <p:cNvPicPr/>
          <p:nvPr/>
        </p:nvPicPr>
        <p:blipFill>
          <a:blip r:embed="rId2"/>
          <a:stretch>
            <a:fillRect/>
          </a:stretch>
        </p:blipFill>
        <p:spPr>
          <a:xfrm>
            <a:off x="447040" y="87900"/>
            <a:ext cx="11074400" cy="1264555"/>
          </a:xfrm>
          <a:prstGeom prst="rect">
            <a:avLst/>
          </a:prstGeom>
        </p:spPr>
      </p:pic>
      <p:sp>
        <p:nvSpPr>
          <p:cNvPr id="6" name="TextBox 5">
            <a:extLst>
              <a:ext uri="{FF2B5EF4-FFF2-40B4-BE49-F238E27FC236}">
                <a16:creationId xmlns:a16="http://schemas.microsoft.com/office/drawing/2014/main" id="{E7612861-7167-E65F-B021-9FE3A880D58F}"/>
              </a:ext>
            </a:extLst>
          </p:cNvPr>
          <p:cNvSpPr txBox="1"/>
          <p:nvPr/>
        </p:nvSpPr>
        <p:spPr>
          <a:xfrm>
            <a:off x="3210560" y="1352455"/>
            <a:ext cx="6096000" cy="707886"/>
          </a:xfrm>
          <a:prstGeom prst="rect">
            <a:avLst/>
          </a:prstGeom>
          <a:noFill/>
        </p:spPr>
        <p:txBody>
          <a:bodyPr wrap="square">
            <a:spAutoFit/>
          </a:bodyPr>
          <a:lstStyle/>
          <a:p>
            <a:pPr algn="ctr"/>
            <a:r>
              <a:rPr lang="en-US" sz="4000" b="1" dirty="0">
                <a:latin typeface="Times New Roman" panose="02020603050405020304" pitchFamily="18" charset="0"/>
                <a:cs typeface="Times New Roman" panose="02020603050405020304" pitchFamily="18" charset="0"/>
              </a:rPr>
              <a:t>SPSS ANALYSIS </a:t>
            </a:r>
            <a:endParaRPr lang="en-IN" sz="4000" dirty="0"/>
          </a:p>
        </p:txBody>
      </p:sp>
      <p:pic>
        <p:nvPicPr>
          <p:cNvPr id="9" name="Picture 8">
            <a:extLst>
              <a:ext uri="{FF2B5EF4-FFF2-40B4-BE49-F238E27FC236}">
                <a16:creationId xmlns:a16="http://schemas.microsoft.com/office/drawing/2014/main" id="{526949EA-9D41-872F-9B72-598F830E03F9}"/>
              </a:ext>
            </a:extLst>
          </p:cNvPr>
          <p:cNvPicPr>
            <a:picLocks noChangeAspect="1"/>
          </p:cNvPicPr>
          <p:nvPr/>
        </p:nvPicPr>
        <p:blipFill>
          <a:blip r:embed="rId3"/>
          <a:stretch>
            <a:fillRect/>
          </a:stretch>
        </p:blipFill>
        <p:spPr>
          <a:xfrm>
            <a:off x="1239520" y="2128440"/>
            <a:ext cx="10038080" cy="3212699"/>
          </a:xfrm>
          <a:prstGeom prst="rect">
            <a:avLst/>
          </a:prstGeom>
        </p:spPr>
      </p:pic>
      <p:sp>
        <p:nvSpPr>
          <p:cNvPr id="11" name="TextBox 10">
            <a:extLst>
              <a:ext uri="{FF2B5EF4-FFF2-40B4-BE49-F238E27FC236}">
                <a16:creationId xmlns:a16="http://schemas.microsoft.com/office/drawing/2014/main" id="{F2C7F1C4-6F08-B8B9-DE0D-8C4B035EDC62}"/>
              </a:ext>
            </a:extLst>
          </p:cNvPr>
          <p:cNvSpPr txBox="1"/>
          <p:nvPr/>
        </p:nvSpPr>
        <p:spPr>
          <a:xfrm>
            <a:off x="2936240" y="5593904"/>
            <a:ext cx="6096000" cy="523220"/>
          </a:xfrm>
          <a:prstGeom prst="rect">
            <a:avLst/>
          </a:prstGeom>
          <a:noFill/>
        </p:spPr>
        <p:txBody>
          <a:bodyPr wrap="square">
            <a:spAutoFit/>
          </a:bodyPr>
          <a:lstStyle/>
          <a:p>
            <a:pPr marL="0" indent="0" algn="ctr">
              <a:buNone/>
            </a:pPr>
            <a:r>
              <a:rPr lang="en-US" sz="2800" dirty="0">
                <a:latin typeface="Times New Roman" panose="02020603050405020304" pitchFamily="18" charset="0"/>
                <a:cs typeface="Times New Roman" panose="02020603050405020304" pitchFamily="18" charset="0"/>
              </a:rPr>
              <a:t>Hence it is significant since p=0.013</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93190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A949D4C-7AFA-454C-DB9F-4C210C410101}"/>
              </a:ext>
            </a:extLst>
          </p:cNvPr>
          <p:cNvPicPr/>
          <p:nvPr/>
        </p:nvPicPr>
        <p:blipFill>
          <a:blip r:embed="rId2"/>
          <a:stretch>
            <a:fillRect/>
          </a:stretch>
        </p:blipFill>
        <p:spPr>
          <a:xfrm>
            <a:off x="447040" y="87900"/>
            <a:ext cx="11074400" cy="1264555"/>
          </a:xfrm>
          <a:prstGeom prst="rect">
            <a:avLst/>
          </a:prstGeom>
        </p:spPr>
      </p:pic>
      <p:sp>
        <p:nvSpPr>
          <p:cNvPr id="6" name="TextBox 5">
            <a:extLst>
              <a:ext uri="{FF2B5EF4-FFF2-40B4-BE49-F238E27FC236}">
                <a16:creationId xmlns:a16="http://schemas.microsoft.com/office/drawing/2014/main" id="{C2E1F0D5-78F4-5951-5163-47687405C10A}"/>
              </a:ext>
            </a:extLst>
          </p:cNvPr>
          <p:cNvSpPr txBox="1"/>
          <p:nvPr/>
        </p:nvSpPr>
        <p:spPr>
          <a:xfrm>
            <a:off x="2936240" y="1352455"/>
            <a:ext cx="6096000" cy="707886"/>
          </a:xfrm>
          <a:prstGeom prst="rect">
            <a:avLst/>
          </a:prstGeom>
          <a:noFill/>
        </p:spPr>
        <p:txBody>
          <a:bodyPr wrap="square">
            <a:spAutoFit/>
          </a:bodyPr>
          <a:lstStyle/>
          <a:p>
            <a:pPr algn="ctr"/>
            <a:r>
              <a:rPr lang="en-US" sz="4000" b="1" dirty="0">
                <a:latin typeface="Times New Roman" panose="02020603050405020304" pitchFamily="18" charset="0"/>
                <a:cs typeface="Times New Roman" panose="02020603050405020304" pitchFamily="18" charset="0"/>
              </a:rPr>
              <a:t>SPSS ANALYSIS </a:t>
            </a:r>
            <a:endParaRPr lang="en-IN" sz="4000" dirty="0"/>
          </a:p>
        </p:txBody>
      </p:sp>
      <p:pic>
        <p:nvPicPr>
          <p:cNvPr id="9" name="Picture 8">
            <a:extLst>
              <a:ext uri="{FF2B5EF4-FFF2-40B4-BE49-F238E27FC236}">
                <a16:creationId xmlns:a16="http://schemas.microsoft.com/office/drawing/2014/main" id="{5A316D58-9303-0F7D-54D4-604359AC59C4}"/>
              </a:ext>
            </a:extLst>
          </p:cNvPr>
          <p:cNvPicPr>
            <a:picLocks noChangeAspect="1"/>
          </p:cNvPicPr>
          <p:nvPr/>
        </p:nvPicPr>
        <p:blipFill>
          <a:blip r:embed="rId3"/>
          <a:stretch>
            <a:fillRect/>
          </a:stretch>
        </p:blipFill>
        <p:spPr>
          <a:xfrm>
            <a:off x="2092960" y="2060341"/>
            <a:ext cx="8006080" cy="4228699"/>
          </a:xfrm>
          <a:prstGeom prst="rect">
            <a:avLst/>
          </a:prstGeom>
        </p:spPr>
      </p:pic>
    </p:spTree>
    <p:extLst>
      <p:ext uri="{BB962C8B-B14F-4D97-AF65-F5344CB8AC3E}">
        <p14:creationId xmlns:p14="http://schemas.microsoft.com/office/powerpoint/2010/main" val="20220869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6007A8B-3D15-980D-CA97-A0736715D030}"/>
              </a:ext>
            </a:extLst>
          </p:cNvPr>
          <p:cNvPicPr/>
          <p:nvPr/>
        </p:nvPicPr>
        <p:blipFill>
          <a:blip r:embed="rId2"/>
          <a:stretch>
            <a:fillRect/>
          </a:stretch>
        </p:blipFill>
        <p:spPr>
          <a:xfrm>
            <a:off x="447040" y="87900"/>
            <a:ext cx="11074400" cy="1264555"/>
          </a:xfrm>
          <a:prstGeom prst="rect">
            <a:avLst/>
          </a:prstGeom>
        </p:spPr>
      </p:pic>
      <p:sp>
        <p:nvSpPr>
          <p:cNvPr id="6" name="TextBox 5">
            <a:extLst>
              <a:ext uri="{FF2B5EF4-FFF2-40B4-BE49-F238E27FC236}">
                <a16:creationId xmlns:a16="http://schemas.microsoft.com/office/drawing/2014/main" id="{CABFCEC0-2EB8-4D4D-004C-5E059312D76E}"/>
              </a:ext>
            </a:extLst>
          </p:cNvPr>
          <p:cNvSpPr txBox="1"/>
          <p:nvPr/>
        </p:nvSpPr>
        <p:spPr>
          <a:xfrm>
            <a:off x="3048000" y="1438815"/>
            <a:ext cx="6096000" cy="769441"/>
          </a:xfrm>
          <a:prstGeom prst="rect">
            <a:avLst/>
          </a:prstGeom>
          <a:noFill/>
        </p:spPr>
        <p:txBody>
          <a:bodyPr wrap="square">
            <a:spAutoFit/>
          </a:bodyPr>
          <a:lstStyle/>
          <a:p>
            <a:pPr algn="ctr"/>
            <a:r>
              <a:rPr lang="en-US" sz="4400" b="1" dirty="0">
                <a:latin typeface="Times New Roman" panose="02020603050405020304" pitchFamily="18" charset="0"/>
                <a:cs typeface="Times New Roman" panose="02020603050405020304" pitchFamily="18" charset="0"/>
              </a:rPr>
              <a:t>RESULT</a:t>
            </a:r>
            <a:endParaRPr lang="en-IN" sz="4400" dirty="0"/>
          </a:p>
        </p:txBody>
      </p:sp>
      <p:sp>
        <p:nvSpPr>
          <p:cNvPr id="8" name="TextBox 7">
            <a:extLst>
              <a:ext uri="{FF2B5EF4-FFF2-40B4-BE49-F238E27FC236}">
                <a16:creationId xmlns:a16="http://schemas.microsoft.com/office/drawing/2014/main" id="{A8199EBF-F83C-9E11-C71D-F652646C1BEE}"/>
              </a:ext>
            </a:extLst>
          </p:cNvPr>
          <p:cNvSpPr txBox="1"/>
          <p:nvPr/>
        </p:nvSpPr>
        <p:spPr>
          <a:xfrm>
            <a:off x="1534160" y="2294616"/>
            <a:ext cx="9560560" cy="3785652"/>
          </a:xfrm>
          <a:prstGeom prst="rect">
            <a:avLst/>
          </a:prstGeom>
          <a:noFill/>
        </p:spPr>
        <p:txBody>
          <a:bodyPr wrap="square">
            <a:spAutoFit/>
          </a:bodyPr>
          <a:lstStyle/>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proposed approach </a:t>
            </a:r>
            <a:r>
              <a:rPr lang="en-US" sz="2000" b="1" dirty="0">
                <a:latin typeface="Times New Roman" panose="02020603050405020304" pitchFamily="18" charset="0"/>
                <a:cs typeface="Times New Roman" panose="02020603050405020304" pitchFamily="18" charset="0"/>
              </a:rPr>
              <a:t>using Multimodal AI (Multimodal Artificial Intelligence) </a:t>
            </a:r>
            <a:r>
              <a:rPr lang="en-US" sz="2000" dirty="0">
                <a:latin typeface="Times New Roman" panose="02020603050405020304" pitchFamily="18" charset="0"/>
                <a:cs typeface="Times New Roman" panose="02020603050405020304" pitchFamily="18" charset="0"/>
              </a:rPr>
              <a:t>with a mean accuracy of </a:t>
            </a:r>
            <a:r>
              <a:rPr lang="en-US" sz="2000" b="1" dirty="0">
                <a:latin typeface="Times New Roman" panose="02020603050405020304" pitchFamily="18" charset="0"/>
                <a:cs typeface="Times New Roman" panose="02020603050405020304" pitchFamily="18" charset="0"/>
              </a:rPr>
              <a:t>95.57% </a:t>
            </a:r>
            <a:r>
              <a:rPr lang="en-US" sz="2000" dirty="0">
                <a:latin typeface="Times New Roman" panose="02020603050405020304" pitchFamily="18" charset="0"/>
                <a:cs typeface="Times New Roman" panose="02020603050405020304" pitchFamily="18" charset="0"/>
              </a:rPr>
              <a:t>demonstrates a clear improvement in automated deepfake detection performance compared to </a:t>
            </a:r>
            <a:r>
              <a:rPr lang="en-US" sz="2000" b="1" dirty="0">
                <a:latin typeface="Times New Roman" panose="02020603050405020304" pitchFamily="18" charset="0"/>
                <a:cs typeface="Times New Roman" panose="02020603050405020304" pitchFamily="18" charset="0"/>
              </a:rPr>
              <a:t>Federated Learning (FL) </a:t>
            </a:r>
            <a:r>
              <a:rPr lang="en-US" sz="2000" dirty="0">
                <a:latin typeface="Times New Roman" panose="02020603050405020304" pitchFamily="18" charset="0"/>
                <a:cs typeface="Times New Roman" panose="02020603050405020304" pitchFamily="18" charset="0"/>
              </a:rPr>
              <a:t>which achieved a mean accuracy of </a:t>
            </a:r>
            <a:r>
              <a:rPr lang="en-US" sz="2000" b="1" dirty="0">
                <a:latin typeface="Times New Roman" panose="02020603050405020304" pitchFamily="18" charset="0"/>
                <a:cs typeface="Times New Roman" panose="02020603050405020304" pitchFamily="18" charset="0"/>
              </a:rPr>
              <a:t>88.62%.</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higher mean accuracy of the proposed model indicates its superior capability in identifying fake and real content by effectively integrating multiple feature representations such as visual, audio, and temporal features.</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This improvement is further supported by statistical analysis using the T-test, where the significance value </a:t>
            </a:r>
            <a:r>
              <a:rPr lang="en-US" sz="2000" b="1" dirty="0">
                <a:latin typeface="Times New Roman" panose="02020603050405020304" pitchFamily="18" charset="0"/>
                <a:cs typeface="Times New Roman" panose="02020603050405020304" pitchFamily="18" charset="0"/>
              </a:rPr>
              <a:t>(p = 0.013) </a:t>
            </a:r>
            <a:r>
              <a:rPr lang="en-US" sz="2000" dirty="0">
                <a:latin typeface="Times New Roman" panose="02020603050405020304" pitchFamily="18" charset="0"/>
                <a:cs typeface="Times New Roman" panose="02020603050405020304" pitchFamily="18" charset="0"/>
              </a:rPr>
              <a:t>is less than </a:t>
            </a:r>
            <a:r>
              <a:rPr lang="en-US" sz="2000" b="1" dirty="0">
                <a:latin typeface="Times New Roman" panose="02020603050405020304" pitchFamily="18" charset="0"/>
                <a:cs typeface="Times New Roman" panose="02020603050405020304" pitchFamily="18" charset="0"/>
              </a:rPr>
              <a:t>0.05.</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Therefore, the observed enhancement in detection accuracy using Multimodal AI is statistically significant and not due to random variation, confirming that the proposed method outperforms the existing Federated Learning technique in deepfake detection.</a:t>
            </a:r>
          </a:p>
        </p:txBody>
      </p:sp>
    </p:spTree>
    <p:extLst>
      <p:ext uri="{BB962C8B-B14F-4D97-AF65-F5344CB8AC3E}">
        <p14:creationId xmlns:p14="http://schemas.microsoft.com/office/powerpoint/2010/main" val="60013030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D5F172B-0EFA-86D1-1130-CBEB60CD5F87}"/>
              </a:ext>
            </a:extLst>
          </p:cNvPr>
          <p:cNvPicPr/>
          <p:nvPr/>
        </p:nvPicPr>
        <p:blipFill>
          <a:blip r:embed="rId2"/>
          <a:stretch>
            <a:fillRect/>
          </a:stretch>
        </p:blipFill>
        <p:spPr>
          <a:xfrm>
            <a:off x="447040" y="87900"/>
            <a:ext cx="11074400" cy="1264555"/>
          </a:xfrm>
          <a:prstGeom prst="rect">
            <a:avLst/>
          </a:prstGeom>
        </p:spPr>
      </p:pic>
      <p:sp>
        <p:nvSpPr>
          <p:cNvPr id="6" name="TextBox 5">
            <a:extLst>
              <a:ext uri="{FF2B5EF4-FFF2-40B4-BE49-F238E27FC236}">
                <a16:creationId xmlns:a16="http://schemas.microsoft.com/office/drawing/2014/main" id="{8A4D922E-FB80-35E6-3583-1242A1AAF977}"/>
              </a:ext>
            </a:extLst>
          </p:cNvPr>
          <p:cNvSpPr txBox="1"/>
          <p:nvPr/>
        </p:nvSpPr>
        <p:spPr>
          <a:xfrm>
            <a:off x="934720" y="2408535"/>
            <a:ext cx="10322560" cy="1569660"/>
          </a:xfrm>
          <a:prstGeom prst="rect">
            <a:avLst/>
          </a:prstGeom>
          <a:noFill/>
        </p:spPr>
        <p:txBody>
          <a:bodyPr wrap="square">
            <a:spAutoFit/>
          </a:bodyPr>
          <a:lstStyle/>
          <a:p>
            <a:pPr algn="ctr"/>
            <a:r>
              <a:rPr lang="en-US" sz="3200" b="1" dirty="0">
                <a:latin typeface="Times New Roman" panose="02020603050405020304" pitchFamily="18" charset="0"/>
                <a:cs typeface="Times New Roman" panose="02020603050405020304" pitchFamily="18" charset="0"/>
              </a:rPr>
              <a:t>Title 4: Evaluation of Enhanced Deepfake Detection Models Using Multimodal AI Compared with AI Governance Technique</a:t>
            </a:r>
            <a:endParaRPr lang="en-IN" sz="3200" dirty="0"/>
          </a:p>
        </p:txBody>
      </p:sp>
    </p:spTree>
    <p:extLst>
      <p:ext uri="{BB962C8B-B14F-4D97-AF65-F5344CB8AC3E}">
        <p14:creationId xmlns:p14="http://schemas.microsoft.com/office/powerpoint/2010/main" val="28170691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6AA77E8-7FA7-F961-C380-EE82028DEBBF}"/>
              </a:ext>
            </a:extLst>
          </p:cNvPr>
          <p:cNvPicPr/>
          <p:nvPr/>
        </p:nvPicPr>
        <p:blipFill>
          <a:blip r:embed="rId2"/>
          <a:stretch>
            <a:fillRect/>
          </a:stretch>
        </p:blipFill>
        <p:spPr>
          <a:xfrm>
            <a:off x="447040" y="87900"/>
            <a:ext cx="11074400" cy="1264555"/>
          </a:xfrm>
          <a:prstGeom prst="rect">
            <a:avLst/>
          </a:prstGeom>
        </p:spPr>
      </p:pic>
      <p:sp>
        <p:nvSpPr>
          <p:cNvPr id="6" name="TextBox 5">
            <a:extLst>
              <a:ext uri="{FF2B5EF4-FFF2-40B4-BE49-F238E27FC236}">
                <a16:creationId xmlns:a16="http://schemas.microsoft.com/office/drawing/2014/main" id="{8DC43288-F136-1380-77EB-488C25AD07F5}"/>
              </a:ext>
            </a:extLst>
          </p:cNvPr>
          <p:cNvSpPr txBox="1"/>
          <p:nvPr/>
        </p:nvSpPr>
        <p:spPr>
          <a:xfrm>
            <a:off x="2824480" y="1207127"/>
            <a:ext cx="6096000" cy="769441"/>
          </a:xfrm>
          <a:prstGeom prst="rect">
            <a:avLst/>
          </a:prstGeom>
          <a:noFill/>
        </p:spPr>
        <p:txBody>
          <a:bodyPr wrap="square">
            <a:spAutoFit/>
          </a:bodyPr>
          <a:lstStyle/>
          <a:p>
            <a:pPr algn="ctr" fontAlgn="ctr"/>
            <a:r>
              <a:rPr lang="en-US" sz="4400" b="1" dirty="0">
                <a:latin typeface="Times New Roman" panose="02020603050405020304" pitchFamily="18" charset="0"/>
                <a:cs typeface="Times New Roman" panose="02020603050405020304" pitchFamily="18" charset="0"/>
              </a:rPr>
              <a:t>PICO</a:t>
            </a:r>
          </a:p>
        </p:txBody>
      </p:sp>
      <p:sp>
        <p:nvSpPr>
          <p:cNvPr id="8" name="TextBox 7">
            <a:extLst>
              <a:ext uri="{FF2B5EF4-FFF2-40B4-BE49-F238E27FC236}">
                <a16:creationId xmlns:a16="http://schemas.microsoft.com/office/drawing/2014/main" id="{C01A6ADA-E78B-08F3-6BE6-D41E29E9AB18}"/>
              </a:ext>
            </a:extLst>
          </p:cNvPr>
          <p:cNvSpPr txBox="1"/>
          <p:nvPr/>
        </p:nvSpPr>
        <p:spPr>
          <a:xfrm>
            <a:off x="1183640" y="1846051"/>
            <a:ext cx="9972040" cy="5011949"/>
          </a:xfrm>
          <a:prstGeom prst="rect">
            <a:avLst/>
          </a:prstGeom>
          <a:noFill/>
        </p:spPr>
        <p:txBody>
          <a:bodyPr wrap="square">
            <a:spAutoFit/>
          </a:bodyPr>
          <a:lstStyle/>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P(Population)</a:t>
            </a:r>
          </a:p>
          <a:p>
            <a:pPr lvl="0" eaLnBrk="0" fontAlgn="base" hangingPunct="0">
              <a:lnSpc>
                <a:spcPct val="150000"/>
              </a:lnSpc>
              <a:spcBef>
                <a:spcPct val="0"/>
              </a:spcBef>
              <a:spcAft>
                <a:spcPct val="0"/>
              </a:spcAft>
            </a:pPr>
            <a:r>
              <a:rPr lang="en-US" altLang="en-US" sz="2400" b="1" dirty="0">
                <a:latin typeface="Times New Roman" panose="02020603050405020304" pitchFamily="18" charset="0"/>
                <a:cs typeface="Times New Roman" panose="02020603050405020304" pitchFamily="18" charset="0"/>
              </a:rPr>
              <a:t>      </a:t>
            </a:r>
            <a:r>
              <a:rPr lang="en-US" altLang="en-US" sz="2400" dirty="0">
                <a:latin typeface="Times New Roman" panose="02020603050405020304" pitchFamily="18" charset="0"/>
                <a:cs typeface="Times New Roman" panose="02020603050405020304" pitchFamily="18" charset="0"/>
              </a:rPr>
              <a:t> Image and video datasets with real and deepfake content</a:t>
            </a: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I(Intervention)</a:t>
            </a:r>
          </a:p>
          <a:p>
            <a:pPr lvl="0" eaLnBrk="0" fontAlgn="base" hangingPunct="0">
              <a:lnSpc>
                <a:spcPct val="150000"/>
              </a:lnSpc>
              <a:spcBef>
                <a:spcPct val="0"/>
              </a:spcBef>
              <a:spcAft>
                <a:spcPct val="0"/>
              </a:spcAft>
            </a:pPr>
            <a:r>
              <a:rPr lang="en-US" altLang="en-US" sz="2400" b="1" dirty="0">
                <a:latin typeface="Times New Roman" panose="02020603050405020304" pitchFamily="18" charset="0"/>
                <a:cs typeface="Times New Roman" panose="02020603050405020304" pitchFamily="18" charset="0"/>
              </a:rPr>
              <a:t>        </a:t>
            </a:r>
            <a:r>
              <a:rPr lang="en-US" altLang="en-US" sz="2400" dirty="0">
                <a:latin typeface="Times New Roman" panose="02020603050405020304" pitchFamily="18" charset="0"/>
                <a:cs typeface="Times New Roman" panose="02020603050405020304" pitchFamily="18" charset="0"/>
              </a:rPr>
              <a:t>Multimodal AI detection models</a:t>
            </a: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C(Comparison)</a:t>
            </a:r>
          </a:p>
          <a:p>
            <a:pPr lvl="0" eaLnBrk="0" fontAlgn="base" hangingPunct="0">
              <a:lnSpc>
                <a:spcPct val="150000"/>
              </a:lnSpc>
              <a:spcBef>
                <a:spcPct val="0"/>
              </a:spcBef>
              <a:spcAft>
                <a:spcPct val="0"/>
              </a:spcAft>
            </a:pPr>
            <a:r>
              <a:rPr lang="en-US" altLang="en-US" sz="2400" b="1" dirty="0">
                <a:latin typeface="Times New Roman" panose="02020603050405020304" pitchFamily="18" charset="0"/>
                <a:cs typeface="Times New Roman" panose="02020603050405020304" pitchFamily="18" charset="0"/>
              </a:rPr>
              <a:t>        </a:t>
            </a:r>
            <a:r>
              <a:rPr lang="en-US" altLang="en-US" sz="2400" dirty="0">
                <a:latin typeface="Times New Roman" panose="02020603050405020304" pitchFamily="18" charset="0"/>
                <a:cs typeface="Times New Roman" panose="02020603050405020304" pitchFamily="18" charset="0"/>
              </a:rPr>
              <a:t> Detection systems incorporating AI governance principles (e.g., fairness, accountability, transparency mechanisms)</a:t>
            </a: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O(Outcome)</a:t>
            </a:r>
          </a:p>
          <a:p>
            <a:pPr lvl="0" eaLnBrk="0" fontAlgn="base" hangingPunct="0">
              <a:lnSpc>
                <a:spcPct val="150000"/>
              </a:lnSpc>
              <a:spcBef>
                <a:spcPct val="0"/>
              </a:spcBef>
              <a:spcAft>
                <a:spcPct val="0"/>
              </a:spcAft>
            </a:pPr>
            <a:r>
              <a:rPr lang="en-US" altLang="en-US" sz="2400" b="1" dirty="0">
                <a:latin typeface="Times New Roman" panose="02020603050405020304" pitchFamily="18" charset="0"/>
                <a:cs typeface="Times New Roman" panose="02020603050405020304" pitchFamily="18" charset="0"/>
              </a:rPr>
              <a:t>        </a:t>
            </a:r>
            <a:r>
              <a:rPr lang="en-US" altLang="en-US" sz="2400" dirty="0">
                <a:latin typeface="Times New Roman" panose="02020603050405020304" pitchFamily="18" charset="0"/>
                <a:cs typeface="Times New Roman" panose="02020603050405020304" pitchFamily="18" charset="0"/>
              </a:rPr>
              <a:t> Detection accuracy, trustworthiness, compliance, and robustness</a:t>
            </a:r>
          </a:p>
        </p:txBody>
      </p:sp>
    </p:spTree>
    <p:extLst>
      <p:ext uri="{BB962C8B-B14F-4D97-AF65-F5344CB8AC3E}">
        <p14:creationId xmlns:p14="http://schemas.microsoft.com/office/powerpoint/2010/main" val="6464352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4BC9F63-ED15-FA36-5364-22BF78EC7BDD}"/>
              </a:ext>
            </a:extLst>
          </p:cNvPr>
          <p:cNvPicPr/>
          <p:nvPr/>
        </p:nvPicPr>
        <p:blipFill>
          <a:blip r:embed="rId2"/>
          <a:stretch>
            <a:fillRect/>
          </a:stretch>
        </p:blipFill>
        <p:spPr>
          <a:xfrm>
            <a:off x="447040" y="87900"/>
            <a:ext cx="11074400" cy="1264555"/>
          </a:xfrm>
          <a:prstGeom prst="rect">
            <a:avLst/>
          </a:prstGeom>
        </p:spPr>
      </p:pic>
      <p:sp>
        <p:nvSpPr>
          <p:cNvPr id="6" name="TextBox 5">
            <a:extLst>
              <a:ext uri="{FF2B5EF4-FFF2-40B4-BE49-F238E27FC236}">
                <a16:creationId xmlns:a16="http://schemas.microsoft.com/office/drawing/2014/main" id="{E9C3AF38-B3F9-4C27-2541-BFC26F51C4F2}"/>
              </a:ext>
            </a:extLst>
          </p:cNvPr>
          <p:cNvSpPr txBox="1"/>
          <p:nvPr/>
        </p:nvSpPr>
        <p:spPr>
          <a:xfrm>
            <a:off x="2702560" y="1352455"/>
            <a:ext cx="6096000" cy="769441"/>
          </a:xfrm>
          <a:prstGeom prst="rect">
            <a:avLst/>
          </a:prstGeom>
          <a:noFill/>
        </p:spPr>
        <p:txBody>
          <a:bodyPr wrap="square">
            <a:spAutoFit/>
          </a:bodyPr>
          <a:lstStyle/>
          <a:p>
            <a:pPr algn="ctr"/>
            <a:r>
              <a:rPr lang="en-US" sz="4400" b="1" dirty="0">
                <a:latin typeface="Times New Roman" panose="02020603050405020304" pitchFamily="18" charset="0"/>
                <a:cs typeface="Times New Roman" panose="02020603050405020304" pitchFamily="18" charset="0"/>
              </a:rPr>
              <a:t>DATA SET</a:t>
            </a:r>
            <a:endParaRPr lang="en-IN" sz="4400" dirty="0"/>
          </a:p>
        </p:txBody>
      </p:sp>
      <p:sp>
        <p:nvSpPr>
          <p:cNvPr id="8" name="TextBox 7">
            <a:extLst>
              <a:ext uri="{FF2B5EF4-FFF2-40B4-BE49-F238E27FC236}">
                <a16:creationId xmlns:a16="http://schemas.microsoft.com/office/drawing/2014/main" id="{8F21C3FD-C390-29F2-C343-076598C65559}"/>
              </a:ext>
            </a:extLst>
          </p:cNvPr>
          <p:cNvSpPr txBox="1"/>
          <p:nvPr/>
        </p:nvSpPr>
        <p:spPr>
          <a:xfrm>
            <a:off x="2153920" y="2121896"/>
            <a:ext cx="8067040" cy="539378"/>
          </a:xfrm>
          <a:prstGeom prst="rect">
            <a:avLst/>
          </a:prstGeom>
          <a:noFill/>
        </p:spPr>
        <p:txBody>
          <a:bodyPr wrap="square">
            <a:spAutoFit/>
          </a:bodyPr>
          <a:lstStyle/>
          <a:p>
            <a:pPr marL="0" lvl="0" indent="0" algn="ctr" eaLnBrk="0" fontAlgn="base" hangingPunct="0">
              <a:lnSpc>
                <a:spcPct val="150000"/>
              </a:lnSpc>
              <a:spcBef>
                <a:spcPct val="0"/>
              </a:spcBef>
              <a:spcAft>
                <a:spcPct val="0"/>
              </a:spcAft>
              <a:buNone/>
            </a:pPr>
            <a:r>
              <a:rPr lang="en-US" altLang="en-US" sz="2200" dirty="0">
                <a:latin typeface="Times New Roman" panose="02020603050405020304" pitchFamily="18" charset="0"/>
                <a:cs typeface="Times New Roman" panose="02020603050405020304" pitchFamily="18" charset="0"/>
                <a:hlinkClick r:id="rId3"/>
              </a:rPr>
              <a:t>https://www.kaggle.com/code/aditya48/real-and-fake-face-detection</a:t>
            </a:r>
            <a:endParaRPr lang="en-US" altLang="en-US" sz="22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6646BD30-2112-22B9-3B48-8626745E807F}"/>
              </a:ext>
            </a:extLst>
          </p:cNvPr>
          <p:cNvSpPr txBox="1"/>
          <p:nvPr/>
        </p:nvSpPr>
        <p:spPr>
          <a:xfrm>
            <a:off x="162560" y="2724731"/>
            <a:ext cx="11673840" cy="1323439"/>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The dataset consists of approximately </a:t>
            </a:r>
            <a:r>
              <a:rPr lang="en-US" sz="2000" b="1" dirty="0">
                <a:latin typeface="Times New Roman" panose="02020603050405020304" pitchFamily="18" charset="0"/>
                <a:cs typeface="Times New Roman" panose="02020603050405020304" pitchFamily="18" charset="0"/>
              </a:rPr>
              <a:t>2000+ instances</a:t>
            </a:r>
            <a:r>
              <a:rPr lang="en-US" sz="2000" dirty="0">
                <a:latin typeface="Times New Roman" panose="02020603050405020304" pitchFamily="18" charset="0"/>
                <a:cs typeface="Times New Roman" panose="02020603050405020304" pitchFamily="18" charset="0"/>
              </a:rPr>
              <a:t> with attributes representing facial image data for deepfake detection. It includes both real and manipulated (fake) face images created using advanced editing techniques such as facial feature swapping and image synthesis, enabling analysis of detection performance across multiple AI techniques.</a:t>
            </a:r>
            <a:endParaRPr lang="en-IN" sz="2000"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03A675F6-9CF3-8BB2-FD11-DF6C59F681DF}"/>
              </a:ext>
            </a:extLst>
          </p:cNvPr>
          <p:cNvSpPr txBox="1"/>
          <p:nvPr/>
        </p:nvSpPr>
        <p:spPr>
          <a:xfrm>
            <a:off x="1158240" y="4493078"/>
            <a:ext cx="3088640" cy="1631216"/>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List of Attributes</a:t>
            </a:r>
          </a:p>
          <a:p>
            <a:pPr>
              <a:buFont typeface="Arial" panose="020B0604020202020204" pitchFamily="34" charset="0"/>
              <a:buChar char="•"/>
            </a:pPr>
            <a:r>
              <a:rPr lang="en-US" sz="2000" dirty="0" err="1">
                <a:latin typeface="Times New Roman" panose="02020603050405020304" pitchFamily="18" charset="0"/>
                <a:cs typeface="Times New Roman" panose="02020603050405020304" pitchFamily="18" charset="0"/>
              </a:rPr>
              <a:t>Image_Data</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PixelValues</a:t>
            </a:r>
            <a:r>
              <a:rPr lang="en-US" sz="2000"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sz="2000" dirty="0" err="1">
                <a:latin typeface="Times New Roman" panose="02020603050405020304" pitchFamily="18" charset="0"/>
                <a:cs typeface="Times New Roman" panose="02020603050405020304" pitchFamily="18" charset="0"/>
              </a:rPr>
              <a:t>Image_Width</a:t>
            </a:r>
            <a:r>
              <a:rPr lang="en-US" sz="2000"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sz="2000" dirty="0" err="1">
                <a:latin typeface="Times New Roman" panose="02020603050405020304" pitchFamily="18" charset="0"/>
                <a:cs typeface="Times New Roman" panose="02020603050405020304" pitchFamily="18" charset="0"/>
              </a:rPr>
              <a:t>Image_Height</a:t>
            </a:r>
            <a:r>
              <a:rPr lang="en-US" sz="2000"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sz="2000" dirty="0" err="1">
                <a:latin typeface="Times New Roman" panose="02020603050405020304" pitchFamily="18" charset="0"/>
                <a:cs typeface="Times New Roman" panose="02020603050405020304" pitchFamily="18" charset="0"/>
              </a:rPr>
              <a:t>Color_Channels</a:t>
            </a:r>
            <a:r>
              <a:rPr lang="en-US" sz="2000" dirty="0">
                <a:latin typeface="Times New Roman" panose="02020603050405020304" pitchFamily="18" charset="0"/>
                <a:cs typeface="Times New Roman" panose="02020603050405020304" pitchFamily="18" charset="0"/>
              </a:rPr>
              <a:t> (RGB)</a:t>
            </a:r>
            <a:endParaRPr lang="en-IN" sz="2000" dirty="0"/>
          </a:p>
        </p:txBody>
      </p:sp>
      <p:sp>
        <p:nvSpPr>
          <p:cNvPr id="14" name="TextBox 13">
            <a:extLst>
              <a:ext uri="{FF2B5EF4-FFF2-40B4-BE49-F238E27FC236}">
                <a16:creationId xmlns:a16="http://schemas.microsoft.com/office/drawing/2014/main" id="{CE4233E5-4E3A-5FB9-D847-FEBABA7D6C5B}"/>
              </a:ext>
            </a:extLst>
          </p:cNvPr>
          <p:cNvSpPr txBox="1"/>
          <p:nvPr/>
        </p:nvSpPr>
        <p:spPr>
          <a:xfrm>
            <a:off x="5171440" y="4493078"/>
            <a:ext cx="6096000" cy="1631216"/>
          </a:xfrm>
          <a:prstGeom prst="rect">
            <a:avLst/>
          </a:prstGeom>
          <a:noFill/>
        </p:spPr>
        <p:txBody>
          <a:bodyPr wrap="square">
            <a:spAutoFit/>
          </a:bodyPr>
          <a:lstStyle/>
          <a:p>
            <a:pPr>
              <a:buFont typeface="Arial" panose="020B0604020202020204" pitchFamily="34" charset="0"/>
              <a:buChar char="•"/>
            </a:pPr>
            <a:r>
              <a:rPr lang="en-US" sz="2000" dirty="0" err="1">
                <a:latin typeface="Times New Roman" panose="02020603050405020304" pitchFamily="18" charset="0"/>
                <a:cs typeface="Times New Roman" panose="02020603050405020304" pitchFamily="18" charset="0"/>
              </a:rPr>
              <a:t>Texture_Features</a:t>
            </a:r>
            <a:r>
              <a:rPr lang="en-US" sz="2000"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sz="2000" dirty="0" err="1">
                <a:latin typeface="Times New Roman" panose="02020603050405020304" pitchFamily="18" charset="0"/>
                <a:cs typeface="Times New Roman" panose="02020603050405020304" pitchFamily="18" charset="0"/>
              </a:rPr>
              <a:t>Edge_Features</a:t>
            </a:r>
            <a:r>
              <a:rPr lang="en-US" sz="2000"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sz="2000" dirty="0" err="1">
                <a:latin typeface="Times New Roman" panose="02020603050405020304" pitchFamily="18" charset="0"/>
                <a:cs typeface="Times New Roman" panose="02020603050405020304" pitchFamily="18" charset="0"/>
              </a:rPr>
              <a:t>Facial_Regions</a:t>
            </a:r>
            <a:r>
              <a:rPr lang="en-US" sz="2000"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Resolution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Label (Real/Fake)</a:t>
            </a:r>
            <a:endParaRPr lang="en-IN" sz="2000" dirty="0"/>
          </a:p>
        </p:txBody>
      </p:sp>
    </p:spTree>
    <p:extLst>
      <p:ext uri="{BB962C8B-B14F-4D97-AF65-F5344CB8AC3E}">
        <p14:creationId xmlns:p14="http://schemas.microsoft.com/office/powerpoint/2010/main" val="97631265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BF6BCB1-86CA-D5BE-A534-71C1AFBC6E4F}"/>
              </a:ext>
            </a:extLst>
          </p:cNvPr>
          <p:cNvPicPr/>
          <p:nvPr/>
        </p:nvPicPr>
        <p:blipFill>
          <a:blip r:embed="rId2"/>
          <a:stretch>
            <a:fillRect/>
          </a:stretch>
        </p:blipFill>
        <p:spPr>
          <a:xfrm>
            <a:off x="447040" y="87900"/>
            <a:ext cx="11074400" cy="1264555"/>
          </a:xfrm>
          <a:prstGeom prst="rect">
            <a:avLst/>
          </a:prstGeom>
        </p:spPr>
      </p:pic>
      <p:sp>
        <p:nvSpPr>
          <p:cNvPr id="6" name="TextBox 5">
            <a:extLst>
              <a:ext uri="{FF2B5EF4-FFF2-40B4-BE49-F238E27FC236}">
                <a16:creationId xmlns:a16="http://schemas.microsoft.com/office/drawing/2014/main" id="{59D871CA-E291-E659-64ED-930FB0DCCBB1}"/>
              </a:ext>
            </a:extLst>
          </p:cNvPr>
          <p:cNvSpPr txBox="1"/>
          <p:nvPr/>
        </p:nvSpPr>
        <p:spPr>
          <a:xfrm>
            <a:off x="2936240" y="1458881"/>
            <a:ext cx="6096000" cy="769441"/>
          </a:xfrm>
          <a:prstGeom prst="rect">
            <a:avLst/>
          </a:prstGeom>
          <a:noFill/>
        </p:spPr>
        <p:txBody>
          <a:bodyPr wrap="square">
            <a:spAutoFit/>
          </a:bodyPr>
          <a:lstStyle/>
          <a:p>
            <a:pPr algn="ctr"/>
            <a:r>
              <a:rPr lang="en-US" sz="4400" b="1" dirty="0">
                <a:latin typeface="Times New Roman" panose="02020603050405020304" pitchFamily="18" charset="0"/>
                <a:cs typeface="Times New Roman" panose="02020603050405020304" pitchFamily="18" charset="0"/>
              </a:rPr>
              <a:t>KEY ATTRIBUTES</a:t>
            </a:r>
            <a:endParaRPr lang="en-IN" sz="4400" dirty="0"/>
          </a:p>
        </p:txBody>
      </p:sp>
      <p:sp>
        <p:nvSpPr>
          <p:cNvPr id="8" name="TextBox 7">
            <a:extLst>
              <a:ext uri="{FF2B5EF4-FFF2-40B4-BE49-F238E27FC236}">
                <a16:creationId xmlns:a16="http://schemas.microsoft.com/office/drawing/2014/main" id="{B2D1BCE4-0C1C-F43A-22FE-9DB09CE2F355}"/>
              </a:ext>
            </a:extLst>
          </p:cNvPr>
          <p:cNvSpPr txBox="1"/>
          <p:nvPr/>
        </p:nvSpPr>
        <p:spPr>
          <a:xfrm>
            <a:off x="1330960" y="2496156"/>
            <a:ext cx="10190480" cy="347787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Image_Data</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(Pixel Values)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Core numerical representation of images used for model training and prediction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Color_Channels</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(RGB)</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Provides color information that helps detect unnatural patterns in fake images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Texture_Features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Identifies irregular skin textures and smoothing artifacts in manipulated faces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Edge_Features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Detects sharp transitions and inconsistencies caused by editing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Facial_Regions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Focuses on key areas like eyes, nose, and mouth where manipulation is common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Resolution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Affects feature quality and model accuracy in detecting deepfakes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Label (Real/Fake)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Target variable used for classification of images </a:t>
            </a:r>
          </a:p>
        </p:txBody>
      </p:sp>
    </p:spTree>
    <p:extLst>
      <p:ext uri="{BB962C8B-B14F-4D97-AF65-F5344CB8AC3E}">
        <p14:creationId xmlns:p14="http://schemas.microsoft.com/office/powerpoint/2010/main" val="48683829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7FCA48A-CAE6-F1D2-B7FB-61EDB8D90ABD}"/>
              </a:ext>
            </a:extLst>
          </p:cNvPr>
          <p:cNvPicPr/>
          <p:nvPr/>
        </p:nvPicPr>
        <p:blipFill>
          <a:blip r:embed="rId2"/>
          <a:stretch>
            <a:fillRect/>
          </a:stretch>
        </p:blipFill>
        <p:spPr>
          <a:xfrm>
            <a:off x="447040" y="87900"/>
            <a:ext cx="11074400" cy="1264555"/>
          </a:xfrm>
          <a:prstGeom prst="rect">
            <a:avLst/>
          </a:prstGeom>
        </p:spPr>
      </p:pic>
      <p:sp>
        <p:nvSpPr>
          <p:cNvPr id="6" name="TextBox 5">
            <a:extLst>
              <a:ext uri="{FF2B5EF4-FFF2-40B4-BE49-F238E27FC236}">
                <a16:creationId xmlns:a16="http://schemas.microsoft.com/office/drawing/2014/main" id="{A4529224-3ECD-B5B5-FEF9-0794E459668D}"/>
              </a:ext>
            </a:extLst>
          </p:cNvPr>
          <p:cNvSpPr txBox="1"/>
          <p:nvPr/>
        </p:nvSpPr>
        <p:spPr>
          <a:xfrm>
            <a:off x="2692400" y="1352455"/>
            <a:ext cx="8107680" cy="707886"/>
          </a:xfrm>
          <a:prstGeom prst="rect">
            <a:avLst/>
          </a:prstGeom>
          <a:noFill/>
        </p:spPr>
        <p:txBody>
          <a:bodyPr wrap="square">
            <a:spAutoFit/>
          </a:bodyPr>
          <a:lstStyle/>
          <a:p>
            <a:r>
              <a:rPr lang="en-US" sz="4000" b="1" dirty="0">
                <a:latin typeface="Times New Roman" panose="02020603050405020304" pitchFamily="18" charset="0"/>
                <a:cs typeface="Times New Roman" panose="02020603050405020304" pitchFamily="18" charset="0"/>
              </a:rPr>
              <a:t>SAMPLE SIZE CALCULATION</a:t>
            </a:r>
            <a:endParaRPr lang="en-IN" sz="4000" dirty="0"/>
          </a:p>
        </p:txBody>
      </p:sp>
      <p:sp>
        <p:nvSpPr>
          <p:cNvPr id="8" name="TextBox 7">
            <a:extLst>
              <a:ext uri="{FF2B5EF4-FFF2-40B4-BE49-F238E27FC236}">
                <a16:creationId xmlns:a16="http://schemas.microsoft.com/office/drawing/2014/main" id="{10A55F61-9D9A-6BF8-7C54-B340E48D16EA}"/>
              </a:ext>
            </a:extLst>
          </p:cNvPr>
          <p:cNvSpPr txBox="1"/>
          <p:nvPr/>
        </p:nvSpPr>
        <p:spPr>
          <a:xfrm>
            <a:off x="3047999" y="2125745"/>
            <a:ext cx="6096000" cy="369332"/>
          </a:xfrm>
          <a:prstGeom prst="rect">
            <a:avLst/>
          </a:prstGeom>
          <a:noFill/>
        </p:spPr>
        <p:txBody>
          <a:bodyPr wrap="square">
            <a:spAutoFit/>
          </a:bodyPr>
          <a:lstStyle/>
          <a:p>
            <a:pPr algn="ctr"/>
            <a:r>
              <a:rPr lang="en-IN" b="1" dirty="0">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Link: </a:t>
            </a:r>
            <a:r>
              <a:rPr lang="en-IN" dirty="0">
                <a:solidFill>
                  <a:srgbClr val="467886"/>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https://clincalc.com/stats/samplesize.aspx</a:t>
            </a:r>
            <a:endParaRPr lang="en-IN" dirty="0">
              <a:latin typeface="Times New Roman" panose="02020603050405020304" pitchFamily="18" charset="0"/>
              <a:cs typeface="Times New Roman" panose="02020603050405020304" pitchFamily="18" charset="0"/>
            </a:endParaRPr>
          </a:p>
        </p:txBody>
      </p:sp>
      <p:graphicFrame>
        <p:nvGraphicFramePr>
          <p:cNvPr id="9" name="Table 8">
            <a:extLst>
              <a:ext uri="{FF2B5EF4-FFF2-40B4-BE49-F238E27FC236}">
                <a16:creationId xmlns:a16="http://schemas.microsoft.com/office/drawing/2014/main" id="{59E1AA59-447C-1EEB-7076-132347783E65}"/>
              </a:ext>
            </a:extLst>
          </p:cNvPr>
          <p:cNvGraphicFramePr>
            <a:graphicFrameLocks noGrp="1"/>
          </p:cNvGraphicFramePr>
          <p:nvPr>
            <p:extLst>
              <p:ext uri="{D42A27DB-BD31-4B8C-83A1-F6EECF244321}">
                <p14:modId xmlns:p14="http://schemas.microsoft.com/office/powerpoint/2010/main" val="2834051664"/>
              </p:ext>
            </p:extLst>
          </p:nvPr>
        </p:nvGraphicFramePr>
        <p:xfrm>
          <a:off x="897366" y="3299145"/>
          <a:ext cx="4301267" cy="2399385"/>
        </p:xfrm>
        <a:graphic>
          <a:graphicData uri="http://schemas.openxmlformats.org/drawingml/2006/table">
            <a:tbl>
              <a:tblPr firstRow="1" bandRow="1">
                <a:tableStyleId>{2D5ABB26-0587-4C30-8999-92F81FD0307C}</a:tableStyleId>
              </a:tblPr>
              <a:tblGrid>
                <a:gridCol w="2166955">
                  <a:extLst>
                    <a:ext uri="{9D8B030D-6E8A-4147-A177-3AD203B41FA5}">
                      <a16:colId xmlns:a16="http://schemas.microsoft.com/office/drawing/2014/main" val="711535546"/>
                    </a:ext>
                  </a:extLst>
                </a:gridCol>
                <a:gridCol w="2134312">
                  <a:extLst>
                    <a:ext uri="{9D8B030D-6E8A-4147-A177-3AD203B41FA5}">
                      <a16:colId xmlns:a16="http://schemas.microsoft.com/office/drawing/2014/main" val="3949887568"/>
                    </a:ext>
                  </a:extLst>
                </a:gridCol>
              </a:tblGrid>
              <a:tr h="484920">
                <a:tc gridSpan="2">
                  <a:txBody>
                    <a:bodyPr/>
                    <a:lstStyle/>
                    <a:p>
                      <a:pPr algn="ctr"/>
                      <a:r>
                        <a:rPr lang="en-US" sz="2400" b="1" dirty="0">
                          <a:latin typeface="Times New Roman" panose="02020603050405020304" pitchFamily="18" charset="0"/>
                          <a:cs typeface="Times New Roman" panose="02020603050405020304" pitchFamily="18" charset="0"/>
                        </a:rPr>
                        <a:t>Sample Size</a:t>
                      </a:r>
                      <a:endParaRPr lang="en-IN" sz="24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a:p>
                  </a:txBody>
                  <a:tcPr/>
                </a:tc>
                <a:extLst>
                  <a:ext uri="{0D108BD9-81ED-4DB2-BD59-A6C34878D82A}">
                    <a16:rowId xmlns:a16="http://schemas.microsoft.com/office/drawing/2014/main" val="2910710541"/>
                  </a:ext>
                </a:extLst>
              </a:tr>
              <a:tr h="622294">
                <a:tc>
                  <a:txBody>
                    <a:bodyPr/>
                    <a:lstStyle/>
                    <a:p>
                      <a:pPr algn="ctr"/>
                      <a:r>
                        <a:rPr lang="en-US" sz="2400" b="1" dirty="0">
                          <a:latin typeface="Times New Roman" panose="02020603050405020304" pitchFamily="18" charset="0"/>
                          <a:cs typeface="Times New Roman" panose="02020603050405020304" pitchFamily="18" charset="0"/>
                        </a:rPr>
                        <a:t>Group 1</a:t>
                      </a:r>
                      <a:endParaRPr lang="en-IN" sz="24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latin typeface="Times New Roman" panose="02020603050405020304" pitchFamily="18" charset="0"/>
                          <a:cs typeface="Times New Roman" panose="02020603050405020304" pitchFamily="18" charset="0"/>
                        </a:rPr>
                        <a:t>100</a:t>
                      </a:r>
                      <a:endParaRPr lang="en-IN"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17357351"/>
                  </a:ext>
                </a:extLst>
              </a:tr>
              <a:tr h="585945">
                <a:tc>
                  <a:txBody>
                    <a:bodyPr/>
                    <a:lstStyle/>
                    <a:p>
                      <a:pPr algn="ctr"/>
                      <a:r>
                        <a:rPr lang="en-US" sz="2400" b="1" dirty="0">
                          <a:latin typeface="Times New Roman" panose="02020603050405020304" pitchFamily="18" charset="0"/>
                          <a:cs typeface="Times New Roman" panose="02020603050405020304" pitchFamily="18" charset="0"/>
                        </a:rPr>
                        <a:t>Group 2</a:t>
                      </a:r>
                      <a:endParaRPr lang="en-IN" sz="24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latin typeface="Times New Roman" panose="02020603050405020304" pitchFamily="18" charset="0"/>
                          <a:cs typeface="Times New Roman" panose="02020603050405020304" pitchFamily="18" charset="0"/>
                        </a:rPr>
                        <a:t>100</a:t>
                      </a:r>
                      <a:endParaRPr lang="en-IN"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74239669"/>
                  </a:ext>
                </a:extLst>
              </a:tr>
              <a:tr h="706226">
                <a:tc>
                  <a:txBody>
                    <a:bodyPr/>
                    <a:lstStyle/>
                    <a:p>
                      <a:pPr algn="ctr"/>
                      <a:r>
                        <a:rPr lang="en-US" sz="2400" b="1" dirty="0">
                          <a:latin typeface="Times New Roman" panose="02020603050405020304" pitchFamily="18" charset="0"/>
                          <a:cs typeface="Times New Roman" panose="02020603050405020304" pitchFamily="18" charset="0"/>
                        </a:rPr>
                        <a:t>Total</a:t>
                      </a:r>
                      <a:endParaRPr lang="en-IN" sz="24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latin typeface="Times New Roman" panose="02020603050405020304" pitchFamily="18" charset="0"/>
                          <a:cs typeface="Times New Roman" panose="02020603050405020304" pitchFamily="18" charset="0"/>
                        </a:rPr>
                        <a:t>200</a:t>
                      </a:r>
                      <a:endParaRPr lang="en-IN"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99550171"/>
                  </a:ext>
                </a:extLst>
              </a:tr>
            </a:tbl>
          </a:graphicData>
        </a:graphic>
      </p:graphicFrame>
      <p:graphicFrame>
        <p:nvGraphicFramePr>
          <p:cNvPr id="10" name="Table 9">
            <a:extLst>
              <a:ext uri="{FF2B5EF4-FFF2-40B4-BE49-F238E27FC236}">
                <a16:creationId xmlns:a16="http://schemas.microsoft.com/office/drawing/2014/main" id="{91530464-2861-4F88-DA01-3304AF66EEB8}"/>
              </a:ext>
            </a:extLst>
          </p:cNvPr>
          <p:cNvGraphicFramePr>
            <a:graphicFrameLocks noGrp="1"/>
          </p:cNvGraphicFramePr>
          <p:nvPr>
            <p:extLst>
              <p:ext uri="{D42A27DB-BD31-4B8C-83A1-F6EECF244321}">
                <p14:modId xmlns:p14="http://schemas.microsoft.com/office/powerpoint/2010/main" val="117890825"/>
              </p:ext>
            </p:extLst>
          </p:nvPr>
        </p:nvGraphicFramePr>
        <p:xfrm>
          <a:off x="5897880" y="2879987"/>
          <a:ext cx="5519868" cy="3237702"/>
        </p:xfrm>
        <a:graphic>
          <a:graphicData uri="http://schemas.openxmlformats.org/drawingml/2006/table">
            <a:tbl>
              <a:tblPr firstRow="1" bandRow="1">
                <a:tableStyleId>{2D5ABB26-0587-4C30-8999-92F81FD0307C}</a:tableStyleId>
              </a:tblPr>
              <a:tblGrid>
                <a:gridCol w="2780880">
                  <a:extLst>
                    <a:ext uri="{9D8B030D-6E8A-4147-A177-3AD203B41FA5}">
                      <a16:colId xmlns:a16="http://schemas.microsoft.com/office/drawing/2014/main" val="4224429367"/>
                    </a:ext>
                  </a:extLst>
                </a:gridCol>
                <a:gridCol w="2738988">
                  <a:extLst>
                    <a:ext uri="{9D8B030D-6E8A-4147-A177-3AD203B41FA5}">
                      <a16:colId xmlns:a16="http://schemas.microsoft.com/office/drawing/2014/main" val="3381732406"/>
                    </a:ext>
                  </a:extLst>
                </a:gridCol>
              </a:tblGrid>
              <a:tr h="535096">
                <a:tc gridSpan="2">
                  <a:txBody>
                    <a:bodyPr/>
                    <a:lstStyle/>
                    <a:p>
                      <a:pPr algn="ctr"/>
                      <a:r>
                        <a:rPr lang="en-US" sz="2400" b="1" dirty="0">
                          <a:latin typeface="Times New Roman" panose="02020603050405020304" pitchFamily="18" charset="0"/>
                          <a:cs typeface="Times New Roman" panose="02020603050405020304" pitchFamily="18" charset="0"/>
                        </a:rPr>
                        <a:t>Study Parameters</a:t>
                      </a:r>
                      <a:endParaRPr lang="en-IN" sz="24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a:p>
                  </a:txBody>
                  <a:tcPr/>
                </a:tc>
                <a:extLst>
                  <a:ext uri="{0D108BD9-81ED-4DB2-BD59-A6C34878D82A}">
                    <a16:rowId xmlns:a16="http://schemas.microsoft.com/office/drawing/2014/main" val="2873613438"/>
                  </a:ext>
                </a:extLst>
              </a:tr>
              <a:tr h="562222">
                <a:tc>
                  <a:txBody>
                    <a:bodyPr/>
                    <a:lstStyle/>
                    <a:p>
                      <a:pPr algn="ctr"/>
                      <a:r>
                        <a:rPr lang="en-US" sz="2400" b="1" dirty="0">
                          <a:latin typeface="Times New Roman" panose="02020603050405020304" pitchFamily="18" charset="0"/>
                          <a:cs typeface="Times New Roman" panose="02020603050405020304" pitchFamily="18" charset="0"/>
                        </a:rPr>
                        <a:t>Incidence, Group 1</a:t>
                      </a:r>
                      <a:endParaRPr lang="en-IN" sz="24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latin typeface="Times New Roman" panose="02020603050405020304" pitchFamily="18" charset="0"/>
                          <a:cs typeface="Times New Roman" panose="02020603050405020304" pitchFamily="18" charset="0"/>
                        </a:rPr>
                        <a:t>97%</a:t>
                      </a:r>
                      <a:endParaRPr lang="en-IN"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8883939"/>
                  </a:ext>
                </a:extLst>
              </a:tr>
              <a:tr h="535096">
                <a:tc>
                  <a:txBody>
                    <a:bodyPr/>
                    <a:lstStyle/>
                    <a:p>
                      <a:pPr algn="ctr"/>
                      <a:r>
                        <a:rPr lang="en-US" sz="2400" b="1" dirty="0">
                          <a:latin typeface="Times New Roman" panose="02020603050405020304" pitchFamily="18" charset="0"/>
                          <a:cs typeface="Times New Roman" panose="02020603050405020304" pitchFamily="18" charset="0"/>
                        </a:rPr>
                        <a:t>Incidence, Group 2</a:t>
                      </a:r>
                      <a:endParaRPr lang="en-IN" sz="24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latin typeface="Times New Roman" panose="02020603050405020304" pitchFamily="18" charset="0"/>
                          <a:cs typeface="Times New Roman" panose="02020603050405020304" pitchFamily="18" charset="0"/>
                        </a:rPr>
                        <a:t>86%</a:t>
                      </a:r>
                      <a:endParaRPr lang="en-IN"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68353722"/>
                  </a:ext>
                </a:extLst>
              </a:tr>
              <a:tr h="535096">
                <a:tc>
                  <a:txBody>
                    <a:bodyPr/>
                    <a:lstStyle/>
                    <a:p>
                      <a:pPr algn="ctr"/>
                      <a:r>
                        <a:rPr lang="en-US" sz="2400" b="1" dirty="0">
                          <a:latin typeface="Times New Roman" panose="02020603050405020304" pitchFamily="18" charset="0"/>
                          <a:cs typeface="Times New Roman" panose="02020603050405020304" pitchFamily="18" charset="0"/>
                        </a:rPr>
                        <a:t>Alpha</a:t>
                      </a:r>
                      <a:endParaRPr lang="en-IN" sz="24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latin typeface="Times New Roman" panose="02020603050405020304" pitchFamily="18" charset="0"/>
                          <a:cs typeface="Times New Roman" panose="02020603050405020304" pitchFamily="18" charset="0"/>
                        </a:rPr>
                        <a:t>0.05</a:t>
                      </a:r>
                      <a:endParaRPr lang="en-IN"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37663970"/>
                  </a:ext>
                </a:extLst>
              </a:tr>
              <a:tr h="535096">
                <a:tc>
                  <a:txBody>
                    <a:bodyPr/>
                    <a:lstStyle/>
                    <a:p>
                      <a:pPr algn="ctr"/>
                      <a:r>
                        <a:rPr lang="en-US" sz="2400" b="1" dirty="0">
                          <a:latin typeface="Times New Roman" panose="02020603050405020304" pitchFamily="18" charset="0"/>
                          <a:cs typeface="Times New Roman" panose="02020603050405020304" pitchFamily="18" charset="0"/>
                        </a:rPr>
                        <a:t>Beta</a:t>
                      </a:r>
                      <a:endParaRPr lang="en-IN" sz="24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latin typeface="Times New Roman" panose="02020603050405020304" pitchFamily="18" charset="0"/>
                          <a:cs typeface="Times New Roman" panose="02020603050405020304" pitchFamily="18" charset="0"/>
                        </a:rPr>
                        <a:t>0.2</a:t>
                      </a:r>
                      <a:endParaRPr lang="en-IN"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0826234"/>
                  </a:ext>
                </a:extLst>
              </a:tr>
              <a:tr h="535096">
                <a:tc>
                  <a:txBody>
                    <a:bodyPr/>
                    <a:lstStyle/>
                    <a:p>
                      <a:pPr algn="ctr"/>
                      <a:r>
                        <a:rPr lang="en-US" sz="2400" b="1" dirty="0">
                          <a:latin typeface="Times New Roman" panose="02020603050405020304" pitchFamily="18" charset="0"/>
                          <a:cs typeface="Times New Roman" panose="02020603050405020304" pitchFamily="18" charset="0"/>
                        </a:rPr>
                        <a:t>Power</a:t>
                      </a:r>
                      <a:endParaRPr lang="en-IN" sz="24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latin typeface="Times New Roman" panose="02020603050405020304" pitchFamily="18" charset="0"/>
                          <a:cs typeface="Times New Roman" panose="02020603050405020304" pitchFamily="18" charset="0"/>
                        </a:rPr>
                        <a:t>0.8</a:t>
                      </a:r>
                      <a:endParaRPr lang="en-IN"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06043028"/>
                  </a:ext>
                </a:extLst>
              </a:tr>
            </a:tbl>
          </a:graphicData>
        </a:graphic>
      </p:graphicFrame>
    </p:spTree>
    <p:extLst>
      <p:ext uri="{BB962C8B-B14F-4D97-AF65-F5344CB8AC3E}">
        <p14:creationId xmlns:p14="http://schemas.microsoft.com/office/powerpoint/2010/main" val="35420230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97AA31A-B13C-F679-53CE-F5E9B0249544}"/>
              </a:ext>
            </a:extLst>
          </p:cNvPr>
          <p:cNvPicPr/>
          <p:nvPr/>
        </p:nvPicPr>
        <p:blipFill>
          <a:blip r:embed="rId2"/>
          <a:stretch>
            <a:fillRect/>
          </a:stretch>
        </p:blipFill>
        <p:spPr>
          <a:xfrm>
            <a:off x="447040" y="87900"/>
            <a:ext cx="11074400" cy="1264555"/>
          </a:xfrm>
          <a:prstGeom prst="rect">
            <a:avLst/>
          </a:prstGeom>
        </p:spPr>
      </p:pic>
      <p:sp>
        <p:nvSpPr>
          <p:cNvPr id="6" name="TextBox 5">
            <a:extLst>
              <a:ext uri="{FF2B5EF4-FFF2-40B4-BE49-F238E27FC236}">
                <a16:creationId xmlns:a16="http://schemas.microsoft.com/office/drawing/2014/main" id="{BC415AD8-B7ED-1FB8-B236-2DFE6FCF149D}"/>
              </a:ext>
            </a:extLst>
          </p:cNvPr>
          <p:cNvSpPr txBox="1"/>
          <p:nvPr/>
        </p:nvSpPr>
        <p:spPr>
          <a:xfrm>
            <a:off x="1706880" y="1352455"/>
            <a:ext cx="8778240" cy="1200329"/>
          </a:xfrm>
          <a:prstGeom prst="rect">
            <a:avLst/>
          </a:prstGeom>
          <a:noFill/>
        </p:spPr>
        <p:txBody>
          <a:bodyPr wrap="square">
            <a:spAutoFit/>
          </a:bodyPr>
          <a:lstStyle/>
          <a:p>
            <a:pPr algn="ctr"/>
            <a:r>
              <a:rPr lang="en-US" sz="3600" b="1" dirty="0">
                <a:latin typeface="Times New Roman" panose="02020603050405020304" pitchFamily="18" charset="0"/>
                <a:cs typeface="Times New Roman" panose="02020603050405020304" pitchFamily="18" charset="0"/>
              </a:rPr>
              <a:t>INTERVENTION ALGORITHM </a:t>
            </a:r>
            <a:br>
              <a:rPr lang="en-US" sz="3600" b="1" dirty="0">
                <a:latin typeface="Times New Roman" panose="02020603050405020304" pitchFamily="18" charset="0"/>
                <a:cs typeface="Times New Roman" panose="02020603050405020304" pitchFamily="18" charset="0"/>
              </a:rPr>
            </a:br>
            <a:r>
              <a:rPr lang="en-US" sz="3600" b="1" dirty="0">
                <a:latin typeface="Times New Roman" panose="02020603050405020304" pitchFamily="18" charset="0"/>
                <a:cs typeface="Times New Roman" panose="02020603050405020304" pitchFamily="18" charset="0"/>
              </a:rPr>
              <a:t>Proposed-Multimodal Artificial Intelligence</a:t>
            </a:r>
            <a:endParaRPr lang="en-IN" sz="3600" dirty="0"/>
          </a:p>
        </p:txBody>
      </p:sp>
      <p:sp>
        <p:nvSpPr>
          <p:cNvPr id="8" name="TextBox 7">
            <a:extLst>
              <a:ext uri="{FF2B5EF4-FFF2-40B4-BE49-F238E27FC236}">
                <a16:creationId xmlns:a16="http://schemas.microsoft.com/office/drawing/2014/main" id="{B20C0D60-AF82-11A1-5FA9-6FABF3BC534A}"/>
              </a:ext>
            </a:extLst>
          </p:cNvPr>
          <p:cNvSpPr txBox="1"/>
          <p:nvPr/>
        </p:nvSpPr>
        <p:spPr>
          <a:xfrm>
            <a:off x="274320" y="2660032"/>
            <a:ext cx="11643360" cy="1323439"/>
          </a:xfrm>
          <a:prstGeom prst="rect">
            <a:avLst/>
          </a:prstGeom>
          <a:noFill/>
        </p:spPr>
        <p:txBody>
          <a:bodyPr wrap="square">
            <a:spAutoFit/>
          </a:bodyPr>
          <a:lstStyle/>
          <a:p>
            <a:r>
              <a:rPr lang="en-US" sz="1600" b="1" dirty="0" err="1">
                <a:latin typeface="Times New Roman" panose="02020603050405020304" pitchFamily="18" charset="0"/>
                <a:cs typeface="Times New Roman" panose="02020603050405020304" pitchFamily="18" charset="0"/>
              </a:rPr>
              <a:t>Defintion</a:t>
            </a:r>
            <a:r>
              <a:rPr lang="en-US" sz="1600" b="1" dirty="0">
                <a:latin typeface="Times New Roman" panose="02020603050405020304" pitchFamily="18" charset="0"/>
                <a:cs typeface="Times New Roman" panose="02020603050405020304" pitchFamily="18" charset="0"/>
              </a:rPr>
              <a:t>:</a:t>
            </a:r>
          </a:p>
          <a:p>
            <a:r>
              <a:rPr lang="en-US" sz="1600" dirty="0">
                <a:latin typeface="Times New Roman" panose="02020603050405020304" pitchFamily="18" charset="0"/>
                <a:cs typeface="Times New Roman" panose="02020603050405020304" pitchFamily="18" charset="0"/>
              </a:rPr>
              <a:t>              A Multimodal AI algorithm integrates and processes multiple data types—such as image frames, video sequences, and audio signals—by extracting features from each modality and combining them into a unified model. This approach improves deepfake detection by capturing cross-modal inconsistencies, leading to higher accuracy and robustness in authentication compared to single-modality methods.</a:t>
            </a:r>
            <a:endParaRPr lang="en-IN" sz="16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BA5FEA1B-0E22-58BC-7769-65A63C93524D}"/>
              </a:ext>
            </a:extLst>
          </p:cNvPr>
          <p:cNvSpPr txBox="1"/>
          <p:nvPr/>
        </p:nvSpPr>
        <p:spPr>
          <a:xfrm>
            <a:off x="553720" y="3983471"/>
            <a:ext cx="5095240" cy="2677656"/>
          </a:xfrm>
          <a:prstGeom prst="rect">
            <a:avLst/>
          </a:prstGeom>
          <a:noFill/>
        </p:spPr>
        <p:txBody>
          <a:bodyPr wrap="square">
            <a:spAutoFit/>
          </a:bodyPr>
          <a:lstStyle/>
          <a:p>
            <a:r>
              <a:rPr lang="en-IN" sz="1400" dirty="0">
                <a:latin typeface="Times New Roman" panose="02020603050405020304" pitchFamily="18" charset="0"/>
                <a:cs typeface="Times New Roman" panose="02020603050405020304" pitchFamily="18" charset="0"/>
              </a:rPr>
              <a:t>START</a:t>
            </a:r>
          </a:p>
          <a:p>
            <a:r>
              <a:rPr lang="en-IN" sz="1400" dirty="0">
                <a:latin typeface="Times New Roman" panose="02020603050405020304" pitchFamily="18" charset="0"/>
                <a:cs typeface="Times New Roman" panose="02020603050405020304" pitchFamily="18" charset="0"/>
              </a:rPr>
              <a:t>INPUT dataset (images + videos)</a:t>
            </a:r>
          </a:p>
          <a:p>
            <a:r>
              <a:rPr lang="en-IN" sz="1400" dirty="0">
                <a:latin typeface="Times New Roman" panose="02020603050405020304" pitchFamily="18" charset="0"/>
                <a:cs typeface="Times New Roman" panose="02020603050405020304" pitchFamily="18" charset="0"/>
              </a:rPr>
              <a:t>FOR each sample in dataset DO</a:t>
            </a:r>
          </a:p>
          <a:p>
            <a:r>
              <a:rPr lang="en-IN" sz="1400" dirty="0">
                <a:latin typeface="Times New Roman" panose="02020603050405020304" pitchFamily="18" charset="0"/>
                <a:cs typeface="Times New Roman" panose="02020603050405020304" pitchFamily="18" charset="0"/>
              </a:rPr>
              <a:t>    EXTRACT </a:t>
            </a:r>
            <a:r>
              <a:rPr lang="en-IN" sz="1400" dirty="0" err="1">
                <a:latin typeface="Times New Roman" panose="02020603050405020304" pitchFamily="18" charset="0"/>
                <a:cs typeface="Times New Roman" panose="02020603050405020304" pitchFamily="18" charset="0"/>
              </a:rPr>
              <a:t>visual_features</a:t>
            </a:r>
            <a:r>
              <a:rPr lang="en-IN" sz="1400" dirty="0">
                <a:latin typeface="Times New Roman" panose="02020603050405020304" pitchFamily="18" charset="0"/>
                <a:cs typeface="Times New Roman" panose="02020603050405020304" pitchFamily="18" charset="0"/>
              </a:rPr>
              <a:t> using CNN</a:t>
            </a:r>
          </a:p>
          <a:p>
            <a:r>
              <a:rPr lang="en-IN" sz="1400" dirty="0">
                <a:latin typeface="Times New Roman" panose="02020603050405020304" pitchFamily="18" charset="0"/>
                <a:cs typeface="Times New Roman" panose="02020603050405020304" pitchFamily="18" charset="0"/>
              </a:rPr>
              <a:t>    EXTRACT </a:t>
            </a:r>
            <a:r>
              <a:rPr lang="en-IN" sz="1400" dirty="0" err="1">
                <a:latin typeface="Times New Roman" panose="02020603050405020304" pitchFamily="18" charset="0"/>
                <a:cs typeface="Times New Roman" panose="02020603050405020304" pitchFamily="18" charset="0"/>
              </a:rPr>
              <a:t>temporal_features</a:t>
            </a:r>
            <a:r>
              <a:rPr lang="en-IN" sz="1400" dirty="0">
                <a:latin typeface="Times New Roman" panose="02020603050405020304" pitchFamily="18" charset="0"/>
                <a:cs typeface="Times New Roman" panose="02020603050405020304" pitchFamily="18" charset="0"/>
              </a:rPr>
              <a:t> using RNN/LSTM (for video)</a:t>
            </a:r>
          </a:p>
          <a:p>
            <a:r>
              <a:rPr lang="en-IN" sz="1400" dirty="0">
                <a:latin typeface="Times New Roman" panose="02020603050405020304" pitchFamily="18" charset="0"/>
                <a:cs typeface="Times New Roman" panose="02020603050405020304" pitchFamily="18" charset="0"/>
              </a:rPr>
              <a:t>    EXTRACT </a:t>
            </a:r>
            <a:r>
              <a:rPr lang="en-IN" sz="1400" dirty="0" err="1">
                <a:latin typeface="Times New Roman" panose="02020603050405020304" pitchFamily="18" charset="0"/>
                <a:cs typeface="Times New Roman" panose="02020603050405020304" pitchFamily="18" charset="0"/>
              </a:rPr>
              <a:t>audio_features</a:t>
            </a:r>
            <a:r>
              <a:rPr lang="en-IN" sz="1400" dirty="0">
                <a:latin typeface="Times New Roman" panose="02020603050405020304" pitchFamily="18" charset="0"/>
                <a:cs typeface="Times New Roman" panose="02020603050405020304" pitchFamily="18" charset="0"/>
              </a:rPr>
              <a:t> using MFCC (if audio exists)</a:t>
            </a:r>
          </a:p>
          <a:p>
            <a:r>
              <a:rPr lang="en-IN" sz="1400" dirty="0">
                <a:latin typeface="Times New Roman" panose="02020603050405020304" pitchFamily="18" charset="0"/>
                <a:cs typeface="Times New Roman" panose="02020603050405020304" pitchFamily="18" charset="0"/>
              </a:rPr>
              <a:t>END FOR</a:t>
            </a:r>
          </a:p>
          <a:p>
            <a:r>
              <a:rPr lang="en-IN" sz="1400" dirty="0">
                <a:latin typeface="Times New Roman" panose="02020603050405020304" pitchFamily="18" charset="0"/>
                <a:cs typeface="Times New Roman" panose="02020603050405020304" pitchFamily="18" charset="0"/>
              </a:rPr>
              <a:t>FOR each sample DO</a:t>
            </a:r>
          </a:p>
          <a:p>
            <a:r>
              <a:rPr lang="en-IN" sz="1400" dirty="0">
                <a:latin typeface="Times New Roman" panose="02020603050405020304" pitchFamily="18" charset="0"/>
                <a:cs typeface="Times New Roman" panose="02020603050405020304" pitchFamily="18" charset="0"/>
              </a:rPr>
              <a:t>    COMBINE all features into </a:t>
            </a:r>
            <a:r>
              <a:rPr lang="en-IN" sz="1400" dirty="0" err="1">
                <a:latin typeface="Times New Roman" panose="02020603050405020304" pitchFamily="18" charset="0"/>
                <a:cs typeface="Times New Roman" panose="02020603050405020304" pitchFamily="18" charset="0"/>
              </a:rPr>
              <a:t>multimodal_vector</a:t>
            </a:r>
            <a:endParaRPr lang="en-IN"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END FOR</a:t>
            </a:r>
          </a:p>
          <a:p>
            <a:r>
              <a:rPr lang="en-IN" sz="1400" dirty="0">
                <a:latin typeface="Times New Roman" panose="02020603050405020304" pitchFamily="18" charset="0"/>
                <a:cs typeface="Times New Roman" panose="02020603050405020304" pitchFamily="18" charset="0"/>
              </a:rPr>
              <a:t>INITIALIZE </a:t>
            </a:r>
            <a:r>
              <a:rPr lang="en-IN" sz="1400" dirty="0" err="1">
                <a:latin typeface="Times New Roman" panose="02020603050405020304" pitchFamily="18" charset="0"/>
                <a:cs typeface="Times New Roman" panose="02020603050405020304" pitchFamily="18" charset="0"/>
              </a:rPr>
              <a:t>Multimodal_Model</a:t>
            </a:r>
            <a:endParaRPr lang="en-IN"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TRAIN </a:t>
            </a:r>
            <a:r>
              <a:rPr lang="en-IN" sz="1400" dirty="0" err="1">
                <a:latin typeface="Times New Roman" panose="02020603050405020304" pitchFamily="18" charset="0"/>
                <a:cs typeface="Times New Roman" panose="02020603050405020304" pitchFamily="18" charset="0"/>
              </a:rPr>
              <a:t>Multimodal_Model</a:t>
            </a:r>
            <a:r>
              <a:rPr lang="en-IN" sz="1400" dirty="0">
                <a:latin typeface="Times New Roman" panose="02020603050405020304" pitchFamily="18" charset="0"/>
                <a:cs typeface="Times New Roman" panose="02020603050405020304" pitchFamily="18" charset="0"/>
              </a:rPr>
              <a:t> using </a:t>
            </a:r>
            <a:r>
              <a:rPr lang="en-IN" sz="1400" dirty="0" err="1">
                <a:latin typeface="Times New Roman" panose="02020603050405020304" pitchFamily="18" charset="0"/>
                <a:cs typeface="Times New Roman" panose="02020603050405020304" pitchFamily="18" charset="0"/>
              </a:rPr>
              <a:t>multimodal_vector</a:t>
            </a:r>
            <a:r>
              <a:rPr lang="en-IN" sz="1400" dirty="0">
                <a:latin typeface="Times New Roman" panose="02020603050405020304" pitchFamily="18" charset="0"/>
                <a:cs typeface="Times New Roman" panose="02020603050405020304" pitchFamily="18" charset="0"/>
              </a:rPr>
              <a:t> and labels</a:t>
            </a:r>
          </a:p>
        </p:txBody>
      </p:sp>
      <p:sp>
        <p:nvSpPr>
          <p:cNvPr id="10" name="TextBox 9">
            <a:extLst>
              <a:ext uri="{FF2B5EF4-FFF2-40B4-BE49-F238E27FC236}">
                <a16:creationId xmlns:a16="http://schemas.microsoft.com/office/drawing/2014/main" id="{66BC8B21-CB1C-60DB-D421-AC8629BC0B5C}"/>
              </a:ext>
            </a:extLst>
          </p:cNvPr>
          <p:cNvSpPr txBox="1"/>
          <p:nvPr/>
        </p:nvSpPr>
        <p:spPr>
          <a:xfrm>
            <a:off x="6182360" y="3964900"/>
            <a:ext cx="4688840" cy="2893100"/>
          </a:xfrm>
          <a:prstGeom prst="rect">
            <a:avLst/>
          </a:prstGeom>
          <a:noFill/>
        </p:spPr>
        <p:txBody>
          <a:bodyPr wrap="square">
            <a:spAutoFit/>
          </a:bodyPr>
          <a:lstStyle/>
          <a:p>
            <a:r>
              <a:rPr lang="en-IN" sz="1400" dirty="0">
                <a:latin typeface="Times New Roman" panose="02020603050405020304" pitchFamily="18" charset="0"/>
                <a:cs typeface="Times New Roman" panose="02020603050405020304" pitchFamily="18" charset="0"/>
              </a:rPr>
              <a:t>FOR each </a:t>
            </a:r>
            <a:r>
              <a:rPr lang="en-IN" sz="1400" dirty="0" err="1">
                <a:latin typeface="Times New Roman" panose="02020603050405020304" pitchFamily="18" charset="0"/>
                <a:cs typeface="Times New Roman" panose="02020603050405020304" pitchFamily="18" charset="0"/>
              </a:rPr>
              <a:t>test_sample</a:t>
            </a:r>
            <a:r>
              <a:rPr lang="en-IN" sz="1400" dirty="0">
                <a:latin typeface="Times New Roman" panose="02020603050405020304" pitchFamily="18" charset="0"/>
                <a:cs typeface="Times New Roman" panose="02020603050405020304" pitchFamily="18" charset="0"/>
              </a:rPr>
              <a:t> DO</a:t>
            </a:r>
          </a:p>
          <a:p>
            <a:r>
              <a:rPr lang="en-IN" sz="1400" dirty="0">
                <a:latin typeface="Times New Roman" panose="02020603050405020304" pitchFamily="18" charset="0"/>
                <a:cs typeface="Times New Roman" panose="02020603050405020304" pitchFamily="18" charset="0"/>
              </a:rPr>
              <a:t>    EXTRACT features (visual + temporal + audio)</a:t>
            </a:r>
          </a:p>
          <a:p>
            <a:r>
              <a:rPr lang="en-IN" sz="1400" dirty="0">
                <a:latin typeface="Times New Roman" panose="02020603050405020304" pitchFamily="18" charset="0"/>
                <a:cs typeface="Times New Roman" panose="02020603050405020304" pitchFamily="18" charset="0"/>
              </a:rPr>
              <a:t>    FUSE features into </a:t>
            </a:r>
            <a:r>
              <a:rPr lang="en-IN" sz="1400" dirty="0" err="1">
                <a:latin typeface="Times New Roman" panose="02020603050405020304" pitchFamily="18" charset="0"/>
                <a:cs typeface="Times New Roman" panose="02020603050405020304" pitchFamily="18" charset="0"/>
              </a:rPr>
              <a:t>test_vector</a:t>
            </a:r>
            <a:endParaRPr lang="en-IN"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    PREDICT result using </a:t>
            </a:r>
            <a:r>
              <a:rPr lang="en-IN" sz="1400" dirty="0" err="1">
                <a:latin typeface="Times New Roman" panose="02020603050405020304" pitchFamily="18" charset="0"/>
                <a:cs typeface="Times New Roman" panose="02020603050405020304" pitchFamily="18" charset="0"/>
              </a:rPr>
              <a:t>Multimodal_Model</a:t>
            </a:r>
            <a:r>
              <a:rPr lang="en-IN" sz="1400" dirty="0">
                <a:latin typeface="Times New Roman" panose="02020603050405020304" pitchFamily="18" charset="0"/>
                <a:cs typeface="Times New Roman" panose="02020603050405020304" pitchFamily="18" charset="0"/>
              </a:rPr>
              <a:t> </a:t>
            </a:r>
          </a:p>
          <a:p>
            <a:r>
              <a:rPr lang="en-IN" sz="1400" dirty="0">
                <a:latin typeface="Times New Roman" panose="02020603050405020304" pitchFamily="18" charset="0"/>
                <a:cs typeface="Times New Roman" panose="02020603050405020304" pitchFamily="18" charset="0"/>
              </a:rPr>
              <a:t>    IF prediction == deepfake THEN</a:t>
            </a:r>
          </a:p>
          <a:p>
            <a:r>
              <a:rPr lang="en-IN" sz="1400" dirty="0">
                <a:latin typeface="Times New Roman" panose="02020603050405020304" pitchFamily="18" charset="0"/>
                <a:cs typeface="Times New Roman" panose="02020603050405020304" pitchFamily="18" charset="0"/>
              </a:rPr>
              <a:t>        LABEL as "Fake"</a:t>
            </a:r>
          </a:p>
          <a:p>
            <a:r>
              <a:rPr lang="en-IN" sz="1400" dirty="0">
                <a:latin typeface="Times New Roman" panose="02020603050405020304" pitchFamily="18" charset="0"/>
                <a:cs typeface="Times New Roman" panose="02020603050405020304" pitchFamily="18" charset="0"/>
              </a:rPr>
              <a:t>    ELSE</a:t>
            </a:r>
          </a:p>
          <a:p>
            <a:r>
              <a:rPr lang="en-IN" sz="1400" dirty="0">
                <a:latin typeface="Times New Roman" panose="02020603050405020304" pitchFamily="18" charset="0"/>
                <a:cs typeface="Times New Roman" panose="02020603050405020304" pitchFamily="18" charset="0"/>
              </a:rPr>
              <a:t>        LABEL as "Real"</a:t>
            </a:r>
          </a:p>
          <a:p>
            <a:r>
              <a:rPr lang="en-IN" sz="1400" dirty="0">
                <a:latin typeface="Times New Roman" panose="02020603050405020304" pitchFamily="18" charset="0"/>
                <a:cs typeface="Times New Roman" panose="02020603050405020304" pitchFamily="18" charset="0"/>
              </a:rPr>
              <a:t>    END IF</a:t>
            </a:r>
          </a:p>
          <a:p>
            <a:r>
              <a:rPr lang="en-IN" sz="1400" dirty="0">
                <a:latin typeface="Times New Roman" panose="02020603050405020304" pitchFamily="18" charset="0"/>
                <a:cs typeface="Times New Roman" panose="02020603050405020304" pitchFamily="18" charset="0"/>
              </a:rPr>
              <a:t>END FOR</a:t>
            </a:r>
          </a:p>
          <a:p>
            <a:r>
              <a:rPr lang="en-IN" sz="1400" dirty="0">
                <a:latin typeface="Times New Roman" panose="02020603050405020304" pitchFamily="18" charset="0"/>
                <a:cs typeface="Times New Roman" panose="02020603050405020304" pitchFamily="18" charset="0"/>
              </a:rPr>
              <a:t>CALCULATE accuracy, precision, recall, F1-score</a:t>
            </a:r>
          </a:p>
          <a:p>
            <a:r>
              <a:rPr lang="en-IN" sz="1400" dirty="0">
                <a:latin typeface="Times New Roman" panose="02020603050405020304" pitchFamily="18" charset="0"/>
                <a:cs typeface="Times New Roman" panose="02020603050405020304" pitchFamily="18" charset="0"/>
              </a:rPr>
              <a:t>DISPLAY performance metrics</a:t>
            </a:r>
          </a:p>
          <a:p>
            <a:r>
              <a:rPr lang="en-IN" sz="1400" dirty="0">
                <a:latin typeface="Times New Roman" panose="02020603050405020304" pitchFamily="18" charset="0"/>
                <a:cs typeface="Times New Roman" panose="02020603050405020304" pitchFamily="18" charset="0"/>
              </a:rPr>
              <a:t>END</a:t>
            </a:r>
          </a:p>
        </p:txBody>
      </p:sp>
    </p:spTree>
    <p:extLst>
      <p:ext uri="{BB962C8B-B14F-4D97-AF65-F5344CB8AC3E}">
        <p14:creationId xmlns:p14="http://schemas.microsoft.com/office/powerpoint/2010/main" val="140041271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76E3358-19B9-5246-5864-A93CF4E082A9}"/>
              </a:ext>
            </a:extLst>
          </p:cNvPr>
          <p:cNvPicPr/>
          <p:nvPr/>
        </p:nvPicPr>
        <p:blipFill>
          <a:blip r:embed="rId2"/>
          <a:stretch>
            <a:fillRect/>
          </a:stretch>
        </p:blipFill>
        <p:spPr>
          <a:xfrm>
            <a:off x="447040" y="108220"/>
            <a:ext cx="11074400" cy="1264555"/>
          </a:xfrm>
          <a:prstGeom prst="rect">
            <a:avLst/>
          </a:prstGeom>
        </p:spPr>
      </p:pic>
      <p:sp>
        <p:nvSpPr>
          <p:cNvPr id="6" name="TextBox 5">
            <a:extLst>
              <a:ext uri="{FF2B5EF4-FFF2-40B4-BE49-F238E27FC236}">
                <a16:creationId xmlns:a16="http://schemas.microsoft.com/office/drawing/2014/main" id="{76B72804-D6BC-ABA2-B91E-AB0460F8038D}"/>
              </a:ext>
            </a:extLst>
          </p:cNvPr>
          <p:cNvSpPr txBox="1"/>
          <p:nvPr/>
        </p:nvSpPr>
        <p:spPr>
          <a:xfrm>
            <a:off x="2692400" y="1372775"/>
            <a:ext cx="6990080" cy="1200329"/>
          </a:xfrm>
          <a:prstGeom prst="rect">
            <a:avLst/>
          </a:prstGeom>
          <a:noFill/>
        </p:spPr>
        <p:txBody>
          <a:bodyPr wrap="square">
            <a:spAutoFit/>
          </a:bodyPr>
          <a:lstStyle/>
          <a:p>
            <a:pPr algn="ctr"/>
            <a:r>
              <a:rPr lang="en-US" sz="3600" b="1" dirty="0">
                <a:latin typeface="Times New Roman" panose="02020603050405020304" pitchFamily="18" charset="0"/>
                <a:cs typeface="Times New Roman" panose="02020603050405020304" pitchFamily="18" charset="0"/>
              </a:rPr>
              <a:t>COMPARSION ALGORITHM</a:t>
            </a:r>
            <a:br>
              <a:rPr lang="en-US" sz="3600" b="1" dirty="0">
                <a:latin typeface="Times New Roman" panose="02020603050405020304" pitchFamily="18" charset="0"/>
                <a:cs typeface="Times New Roman" panose="02020603050405020304" pitchFamily="18" charset="0"/>
              </a:rPr>
            </a:br>
            <a:r>
              <a:rPr lang="en-US" sz="3600" b="1" dirty="0">
                <a:latin typeface="Times New Roman" panose="02020603050405020304" pitchFamily="18" charset="0"/>
                <a:cs typeface="Times New Roman" panose="02020603050405020304" pitchFamily="18" charset="0"/>
              </a:rPr>
              <a:t>Existing-AI Governance</a:t>
            </a:r>
            <a:endParaRPr lang="en-IN" sz="3600" dirty="0"/>
          </a:p>
        </p:txBody>
      </p:sp>
      <p:sp>
        <p:nvSpPr>
          <p:cNvPr id="8" name="TextBox 7">
            <a:extLst>
              <a:ext uri="{FF2B5EF4-FFF2-40B4-BE49-F238E27FC236}">
                <a16:creationId xmlns:a16="http://schemas.microsoft.com/office/drawing/2014/main" id="{8D948476-74CC-73F5-BD93-9A3A38884A10}"/>
              </a:ext>
            </a:extLst>
          </p:cNvPr>
          <p:cNvSpPr txBox="1"/>
          <p:nvPr/>
        </p:nvSpPr>
        <p:spPr>
          <a:xfrm>
            <a:off x="391160" y="2530571"/>
            <a:ext cx="11592560" cy="1323439"/>
          </a:xfrm>
          <a:prstGeom prst="rect">
            <a:avLst/>
          </a:prstGeom>
          <a:noFill/>
        </p:spPr>
        <p:txBody>
          <a:bodyPr wrap="square">
            <a:spAutoFit/>
          </a:bodyPr>
          <a:lstStyle/>
          <a:p>
            <a:r>
              <a:rPr lang="en-US" sz="1600" b="1" dirty="0" err="1">
                <a:latin typeface="Times New Roman" panose="02020603050405020304" pitchFamily="18" charset="0"/>
                <a:cs typeface="Times New Roman" panose="02020603050405020304" pitchFamily="18" charset="0"/>
              </a:rPr>
              <a:t>Defintion</a:t>
            </a:r>
            <a:r>
              <a:rPr lang="en-US" sz="1600" b="1" dirty="0">
                <a:latin typeface="Times New Roman" panose="02020603050405020304" pitchFamily="18" charset="0"/>
                <a:cs typeface="Times New Roman" panose="02020603050405020304" pitchFamily="18" charset="0"/>
              </a:rPr>
              <a:t>:</a:t>
            </a:r>
          </a:p>
          <a:p>
            <a:r>
              <a:rPr lang="en-US" sz="1600" dirty="0">
                <a:latin typeface="Times New Roman" panose="02020603050405020304" pitchFamily="18" charset="0"/>
                <a:cs typeface="Times New Roman" panose="02020603050405020304" pitchFamily="18" charset="0"/>
              </a:rPr>
              <a:t>              An AI Governance-based approach focuses on applying policies, ethical guidelines, model auditing, and regulatory frameworks to ensure responsible deepfake detection. It monitors model behavior, fairness, accountability, and compliance rather than directly improving detection algorithms. While it enhances transparency and trust, it does not inherently increase detection accuracy like technical models such as Multimodal AI.</a:t>
            </a:r>
            <a:endParaRPr lang="en-IN" sz="16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D94A3A14-CB75-E204-24AE-B977368CF9BD}"/>
              </a:ext>
            </a:extLst>
          </p:cNvPr>
          <p:cNvSpPr txBox="1"/>
          <p:nvPr/>
        </p:nvSpPr>
        <p:spPr>
          <a:xfrm>
            <a:off x="868680" y="3917561"/>
            <a:ext cx="4404360" cy="2677656"/>
          </a:xfrm>
          <a:prstGeom prst="rect">
            <a:avLst/>
          </a:prstGeom>
          <a:noFill/>
        </p:spPr>
        <p:txBody>
          <a:bodyPr wrap="square">
            <a:spAutoFit/>
          </a:bodyPr>
          <a:lstStyle/>
          <a:p>
            <a:r>
              <a:rPr lang="en-IN" sz="1400" dirty="0">
                <a:latin typeface="Times New Roman" panose="02020603050405020304" pitchFamily="18" charset="0"/>
                <a:cs typeface="Times New Roman" panose="02020603050405020304" pitchFamily="18" charset="0"/>
              </a:rPr>
              <a:t>START</a:t>
            </a:r>
          </a:p>
          <a:p>
            <a:r>
              <a:rPr lang="en-IN" sz="1400" dirty="0">
                <a:latin typeface="Times New Roman" panose="02020603050405020304" pitchFamily="18" charset="0"/>
                <a:cs typeface="Times New Roman" panose="02020603050405020304" pitchFamily="18" charset="0"/>
              </a:rPr>
              <a:t>INPUT dataset</a:t>
            </a:r>
          </a:p>
          <a:p>
            <a:r>
              <a:rPr lang="en-IN" sz="1400" dirty="0">
                <a:latin typeface="Times New Roman" panose="02020603050405020304" pitchFamily="18" charset="0"/>
                <a:cs typeface="Times New Roman" panose="02020603050405020304" pitchFamily="18" charset="0"/>
              </a:rPr>
              <a:t>PREPROCESS data:    </a:t>
            </a:r>
          </a:p>
          <a:p>
            <a:r>
              <a:rPr lang="en-IN" sz="1400" dirty="0">
                <a:latin typeface="Times New Roman" panose="02020603050405020304" pitchFamily="18" charset="0"/>
                <a:cs typeface="Times New Roman" panose="02020603050405020304" pitchFamily="18" charset="0"/>
              </a:rPr>
              <a:t>     Clean and </a:t>
            </a:r>
            <a:r>
              <a:rPr lang="en-IN" sz="1400" dirty="0" err="1">
                <a:latin typeface="Times New Roman" panose="02020603050405020304" pitchFamily="18" charset="0"/>
                <a:cs typeface="Times New Roman" panose="02020603050405020304" pitchFamily="18" charset="0"/>
              </a:rPr>
              <a:t>normalizeDEFINE</a:t>
            </a:r>
            <a:r>
              <a:rPr lang="en-IN" sz="1400" dirty="0">
                <a:latin typeface="Times New Roman" panose="02020603050405020304" pitchFamily="18" charset="0"/>
                <a:cs typeface="Times New Roman" panose="02020603050405020304" pitchFamily="18" charset="0"/>
              </a:rPr>
              <a:t> labels (Fake / Real)</a:t>
            </a:r>
          </a:p>
          <a:p>
            <a:r>
              <a:rPr lang="en-IN" sz="1400" dirty="0">
                <a:latin typeface="Times New Roman" panose="02020603050405020304" pitchFamily="18" charset="0"/>
                <a:cs typeface="Times New Roman" panose="02020603050405020304" pitchFamily="18" charset="0"/>
              </a:rPr>
              <a:t>SPLIT dataset into training and testing</a:t>
            </a:r>
          </a:p>
          <a:p>
            <a:r>
              <a:rPr lang="en-IN" sz="1400" dirty="0">
                <a:latin typeface="Times New Roman" panose="02020603050405020304" pitchFamily="18" charset="0"/>
                <a:cs typeface="Times New Roman" panose="02020603050405020304" pitchFamily="18" charset="0"/>
              </a:rPr>
              <a:t>AI GOVERNANCE METHOD (Existing)</a:t>
            </a:r>
          </a:p>
          <a:p>
            <a:r>
              <a:rPr lang="en-IN" sz="1400" dirty="0">
                <a:latin typeface="Times New Roman" panose="02020603050405020304" pitchFamily="18" charset="0"/>
                <a:cs typeface="Times New Roman" panose="02020603050405020304" pitchFamily="18" charset="0"/>
              </a:rPr>
              <a:t>DEFINE rules:    </a:t>
            </a:r>
          </a:p>
          <a:p>
            <a:r>
              <a:rPr lang="en-IN" sz="1400" dirty="0">
                <a:latin typeface="Times New Roman" panose="02020603050405020304" pitchFamily="18" charset="0"/>
                <a:cs typeface="Times New Roman" panose="02020603050405020304" pitchFamily="18" charset="0"/>
              </a:rPr>
              <a:t>     IF metadata mismatch → Fake  </a:t>
            </a:r>
          </a:p>
          <a:p>
            <a:r>
              <a:rPr lang="en-IN" sz="1400" dirty="0">
                <a:latin typeface="Times New Roman" panose="02020603050405020304" pitchFamily="18" charset="0"/>
                <a:cs typeface="Times New Roman" panose="02020603050405020304" pitchFamily="18" charset="0"/>
              </a:rPr>
              <a:t>     IF face inconsistency → Fake   </a:t>
            </a:r>
          </a:p>
          <a:p>
            <a:r>
              <a:rPr lang="en-IN" sz="1400" dirty="0">
                <a:latin typeface="Times New Roman" panose="02020603050405020304" pitchFamily="18" charset="0"/>
                <a:cs typeface="Times New Roman" panose="02020603050405020304" pitchFamily="18" charset="0"/>
              </a:rPr>
              <a:t>     ELSE → Real</a:t>
            </a:r>
          </a:p>
          <a:p>
            <a:r>
              <a:rPr lang="en-IN" sz="1400" dirty="0">
                <a:latin typeface="Times New Roman" panose="02020603050405020304" pitchFamily="18" charset="0"/>
                <a:cs typeface="Times New Roman" panose="02020603050405020304" pitchFamily="18" charset="0"/>
              </a:rPr>
              <a:t>APPLY rules on test data</a:t>
            </a:r>
          </a:p>
          <a:p>
            <a:r>
              <a:rPr lang="en-IN" sz="1400" dirty="0">
                <a:latin typeface="Times New Roman" panose="02020603050405020304" pitchFamily="18" charset="0"/>
                <a:cs typeface="Times New Roman" panose="02020603050405020304" pitchFamily="18" charset="0"/>
              </a:rPr>
              <a:t>STORE results as </a:t>
            </a:r>
            <a:r>
              <a:rPr lang="en-IN" sz="1400" dirty="0" err="1">
                <a:latin typeface="Times New Roman" panose="02020603050405020304" pitchFamily="18" charset="0"/>
                <a:cs typeface="Times New Roman" panose="02020603050405020304" pitchFamily="18" charset="0"/>
              </a:rPr>
              <a:t>gov_output</a:t>
            </a:r>
            <a:endParaRPr lang="en-IN" sz="14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C5285B50-98C1-2185-B2B6-AC57E82F2609}"/>
              </a:ext>
            </a:extLst>
          </p:cNvPr>
          <p:cNvSpPr txBox="1"/>
          <p:nvPr/>
        </p:nvSpPr>
        <p:spPr>
          <a:xfrm>
            <a:off x="6299200" y="3917561"/>
            <a:ext cx="3728720" cy="2893100"/>
          </a:xfrm>
          <a:prstGeom prst="rect">
            <a:avLst/>
          </a:prstGeom>
          <a:noFill/>
        </p:spPr>
        <p:txBody>
          <a:bodyPr wrap="square">
            <a:spAutoFit/>
          </a:bodyPr>
          <a:lstStyle/>
          <a:p>
            <a:r>
              <a:rPr lang="en-IN" sz="1400" dirty="0">
                <a:latin typeface="Times New Roman" panose="02020603050405020304" pitchFamily="18" charset="0"/>
                <a:cs typeface="Times New Roman" panose="02020603050405020304" pitchFamily="18" charset="0"/>
              </a:rPr>
              <a:t>MULTIMODAL AI MODEL (Proposed)</a:t>
            </a:r>
          </a:p>
          <a:p>
            <a:r>
              <a:rPr lang="en-IN" sz="1400" dirty="0">
                <a:latin typeface="Times New Roman" panose="02020603050405020304" pitchFamily="18" charset="0"/>
                <a:cs typeface="Times New Roman" panose="02020603050405020304" pitchFamily="18" charset="0"/>
              </a:rPr>
              <a:t>EXTRACT multimodal features:   </a:t>
            </a:r>
          </a:p>
          <a:p>
            <a:r>
              <a:rPr lang="en-IN" sz="1400" dirty="0">
                <a:latin typeface="Times New Roman" panose="02020603050405020304" pitchFamily="18" charset="0"/>
                <a:cs typeface="Times New Roman" panose="02020603050405020304" pitchFamily="18" charset="0"/>
              </a:rPr>
              <a:t>       Image features  </a:t>
            </a:r>
          </a:p>
          <a:p>
            <a:r>
              <a:rPr lang="en-IN" sz="1400" dirty="0">
                <a:latin typeface="Times New Roman" panose="02020603050405020304" pitchFamily="18" charset="0"/>
                <a:cs typeface="Times New Roman" panose="02020603050405020304" pitchFamily="18" charset="0"/>
              </a:rPr>
              <a:t>       Audio features    </a:t>
            </a:r>
          </a:p>
          <a:p>
            <a:r>
              <a:rPr lang="en-IN" sz="1400" dirty="0">
                <a:latin typeface="Times New Roman" panose="02020603050405020304" pitchFamily="18" charset="0"/>
                <a:cs typeface="Times New Roman" panose="02020603050405020304" pitchFamily="18" charset="0"/>
              </a:rPr>
              <a:t>       Temporal patterns</a:t>
            </a:r>
          </a:p>
          <a:p>
            <a:r>
              <a:rPr lang="en-IN" sz="1400" dirty="0">
                <a:latin typeface="Times New Roman" panose="02020603050405020304" pitchFamily="18" charset="0"/>
                <a:cs typeface="Times New Roman" panose="02020603050405020304" pitchFamily="18" charset="0"/>
              </a:rPr>
              <a:t>TRAIN model</a:t>
            </a:r>
          </a:p>
          <a:p>
            <a:r>
              <a:rPr lang="en-IN" sz="1400" dirty="0">
                <a:latin typeface="Times New Roman" panose="02020603050405020304" pitchFamily="18" charset="0"/>
                <a:cs typeface="Times New Roman" panose="02020603050405020304" pitchFamily="18" charset="0"/>
              </a:rPr>
              <a:t>TEST model</a:t>
            </a:r>
          </a:p>
          <a:p>
            <a:r>
              <a:rPr lang="en-IN" sz="1400" dirty="0">
                <a:latin typeface="Times New Roman" panose="02020603050405020304" pitchFamily="18" charset="0"/>
                <a:cs typeface="Times New Roman" panose="02020603050405020304" pitchFamily="18" charset="0"/>
              </a:rPr>
              <a:t>STORE results as </a:t>
            </a:r>
            <a:r>
              <a:rPr lang="en-IN" sz="1400" dirty="0" err="1">
                <a:latin typeface="Times New Roman" panose="02020603050405020304" pitchFamily="18" charset="0"/>
                <a:cs typeface="Times New Roman" panose="02020603050405020304" pitchFamily="18" charset="0"/>
              </a:rPr>
              <a:t>multi_output</a:t>
            </a:r>
            <a:endParaRPr lang="en-IN"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EVALUATION</a:t>
            </a:r>
          </a:p>
          <a:p>
            <a:r>
              <a:rPr lang="en-IN" sz="1400" dirty="0">
                <a:latin typeface="Times New Roman" panose="02020603050405020304" pitchFamily="18" charset="0"/>
                <a:cs typeface="Times New Roman" panose="02020603050405020304" pitchFamily="18" charset="0"/>
              </a:rPr>
              <a:t>CALCULATE performance metrics</a:t>
            </a:r>
          </a:p>
          <a:p>
            <a:r>
              <a:rPr lang="en-IN" sz="1400" dirty="0">
                <a:latin typeface="Times New Roman" panose="02020603050405020304" pitchFamily="18" charset="0"/>
                <a:cs typeface="Times New Roman" panose="02020603050405020304" pitchFamily="18" charset="0"/>
              </a:rPr>
              <a:t>COMPARE </a:t>
            </a:r>
            <a:r>
              <a:rPr lang="en-IN" sz="1400" dirty="0" err="1">
                <a:latin typeface="Times New Roman" panose="02020603050405020304" pitchFamily="18" charset="0"/>
                <a:cs typeface="Times New Roman" panose="02020603050405020304" pitchFamily="18" charset="0"/>
              </a:rPr>
              <a:t>gov_output</a:t>
            </a:r>
            <a:r>
              <a:rPr lang="en-IN" sz="1400" dirty="0">
                <a:latin typeface="Times New Roman" panose="02020603050405020304" pitchFamily="18" charset="0"/>
                <a:cs typeface="Times New Roman" panose="02020603050405020304" pitchFamily="18" charset="0"/>
              </a:rPr>
              <a:t> and </a:t>
            </a:r>
            <a:r>
              <a:rPr lang="en-IN" sz="1400" dirty="0" err="1">
                <a:latin typeface="Times New Roman" panose="02020603050405020304" pitchFamily="18" charset="0"/>
                <a:cs typeface="Times New Roman" panose="02020603050405020304" pitchFamily="18" charset="0"/>
              </a:rPr>
              <a:t>multi_output</a:t>
            </a:r>
            <a:endParaRPr lang="en-IN"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DISPLAY results</a:t>
            </a:r>
          </a:p>
          <a:p>
            <a:r>
              <a:rPr lang="en-IN" sz="1400" dirty="0">
                <a:latin typeface="Times New Roman" panose="02020603050405020304" pitchFamily="18" charset="0"/>
                <a:cs typeface="Times New Roman" panose="02020603050405020304" pitchFamily="18" charset="0"/>
              </a:rPr>
              <a:t>END</a:t>
            </a:r>
          </a:p>
        </p:txBody>
      </p:sp>
    </p:spTree>
    <p:extLst>
      <p:ext uri="{BB962C8B-B14F-4D97-AF65-F5344CB8AC3E}">
        <p14:creationId xmlns:p14="http://schemas.microsoft.com/office/powerpoint/2010/main" val="116427460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41EA7FA-8353-2323-6AA5-2E382454965E}"/>
              </a:ext>
            </a:extLst>
          </p:cNvPr>
          <p:cNvPicPr/>
          <p:nvPr/>
        </p:nvPicPr>
        <p:blipFill>
          <a:blip r:embed="rId2"/>
          <a:stretch>
            <a:fillRect/>
          </a:stretch>
        </p:blipFill>
        <p:spPr>
          <a:xfrm>
            <a:off x="447040" y="68755"/>
            <a:ext cx="11074400" cy="1264555"/>
          </a:xfrm>
          <a:prstGeom prst="rect">
            <a:avLst/>
          </a:prstGeom>
        </p:spPr>
      </p:pic>
      <p:sp>
        <p:nvSpPr>
          <p:cNvPr id="6" name="TextBox 5">
            <a:extLst>
              <a:ext uri="{FF2B5EF4-FFF2-40B4-BE49-F238E27FC236}">
                <a16:creationId xmlns:a16="http://schemas.microsoft.com/office/drawing/2014/main" id="{14C33216-65F7-5F1D-396A-6662EC16BD9D}"/>
              </a:ext>
            </a:extLst>
          </p:cNvPr>
          <p:cNvSpPr txBox="1"/>
          <p:nvPr/>
        </p:nvSpPr>
        <p:spPr>
          <a:xfrm>
            <a:off x="2834640" y="1241078"/>
            <a:ext cx="6096000" cy="707886"/>
          </a:xfrm>
          <a:prstGeom prst="rect">
            <a:avLst/>
          </a:prstGeom>
          <a:noFill/>
        </p:spPr>
        <p:txBody>
          <a:bodyPr wrap="square">
            <a:spAutoFit/>
          </a:bodyPr>
          <a:lstStyle/>
          <a:p>
            <a:pPr algn="ctr"/>
            <a:r>
              <a:rPr lang="en-US" sz="4000" b="1" dirty="0">
                <a:latin typeface="Times New Roman" panose="02020603050405020304" pitchFamily="18" charset="0"/>
                <a:cs typeface="Times New Roman" panose="02020603050405020304" pitchFamily="18" charset="0"/>
              </a:rPr>
              <a:t>PROCESS</a:t>
            </a:r>
            <a:endParaRPr lang="en-IN" sz="4000" dirty="0"/>
          </a:p>
        </p:txBody>
      </p:sp>
      <p:sp>
        <p:nvSpPr>
          <p:cNvPr id="7" name="TextBox 6">
            <a:extLst>
              <a:ext uri="{FF2B5EF4-FFF2-40B4-BE49-F238E27FC236}">
                <a16:creationId xmlns:a16="http://schemas.microsoft.com/office/drawing/2014/main" id="{16F78326-C2C1-08F2-BDC1-416717FDC895}"/>
              </a:ext>
            </a:extLst>
          </p:cNvPr>
          <p:cNvSpPr txBox="1"/>
          <p:nvPr/>
        </p:nvSpPr>
        <p:spPr>
          <a:xfrm>
            <a:off x="320041" y="1859806"/>
            <a:ext cx="3500119" cy="4616648"/>
          </a:xfrm>
          <a:prstGeom prst="rect">
            <a:avLst/>
          </a:prstGeom>
          <a:noFill/>
        </p:spPr>
        <p:txBody>
          <a:bodyPr wrap="square">
            <a:spAutoFit/>
          </a:bodyPr>
          <a:lstStyle/>
          <a:p>
            <a:r>
              <a:rPr lang="en-IN" sz="1400" dirty="0">
                <a:latin typeface="Times New Roman" panose="02020603050405020304" pitchFamily="18" charset="0"/>
                <a:cs typeface="Times New Roman" panose="02020603050405020304" pitchFamily="18" charset="0"/>
              </a:rPr>
              <a:t>START</a:t>
            </a:r>
          </a:p>
          <a:p>
            <a:r>
              <a:rPr lang="en-IN" sz="1400" dirty="0">
                <a:latin typeface="Times New Roman" panose="02020603050405020304" pitchFamily="18" charset="0"/>
                <a:cs typeface="Times New Roman" panose="02020603050405020304" pitchFamily="18" charset="0"/>
              </a:rPr>
              <a:t>INPUT dataset D (images, videos, audio)</a:t>
            </a:r>
          </a:p>
          <a:p>
            <a:r>
              <a:rPr lang="en-IN" sz="1400" dirty="0">
                <a:latin typeface="Times New Roman" panose="02020603050405020304" pitchFamily="18" charset="0"/>
                <a:cs typeface="Times New Roman" panose="02020603050405020304" pitchFamily="18" charset="0"/>
              </a:rPr>
              <a:t>INPUT labels L (Fake / Real)</a:t>
            </a:r>
          </a:p>
          <a:p>
            <a:r>
              <a:rPr lang="en-IN" sz="1400" dirty="0">
                <a:latin typeface="Times New Roman" panose="02020603050405020304" pitchFamily="18" charset="0"/>
                <a:cs typeface="Times New Roman" panose="02020603050405020304" pitchFamily="18" charset="0"/>
              </a:rPr>
              <a:t>DATA PREPROCESSING</a:t>
            </a:r>
          </a:p>
          <a:p>
            <a:r>
              <a:rPr lang="en-IN" sz="1400" dirty="0">
                <a:latin typeface="Times New Roman" panose="02020603050405020304" pitchFamily="18" charset="0"/>
                <a:cs typeface="Times New Roman" panose="02020603050405020304" pitchFamily="18" charset="0"/>
              </a:rPr>
              <a:t>CLEAN dataset D (remove noise, handle missing values)</a:t>
            </a:r>
          </a:p>
          <a:p>
            <a:r>
              <a:rPr lang="en-IN" sz="1400" dirty="0">
                <a:latin typeface="Times New Roman" panose="02020603050405020304" pitchFamily="18" charset="0"/>
                <a:cs typeface="Times New Roman" panose="02020603050405020304" pitchFamily="18" charset="0"/>
              </a:rPr>
              <a:t>NORMALIZE data in D</a:t>
            </a:r>
          </a:p>
          <a:p>
            <a:r>
              <a:rPr lang="en-IN" sz="1400" dirty="0">
                <a:latin typeface="Times New Roman" panose="02020603050405020304" pitchFamily="18" charset="0"/>
                <a:cs typeface="Times New Roman" panose="02020603050405020304" pitchFamily="18" charset="0"/>
              </a:rPr>
              <a:t>DATA SPLITTING</a:t>
            </a:r>
          </a:p>
          <a:p>
            <a:r>
              <a:rPr lang="en-IN" sz="1400" dirty="0">
                <a:latin typeface="Times New Roman" panose="02020603050405020304" pitchFamily="18" charset="0"/>
                <a:cs typeface="Times New Roman" panose="02020603050405020304" pitchFamily="18" charset="0"/>
              </a:rPr>
              <a:t>SPLIT D and L INTO:   </a:t>
            </a:r>
          </a:p>
          <a:p>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Training_Set</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Train_X</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Train_Y</a:t>
            </a:r>
            <a:r>
              <a:rPr lang="en-IN" sz="1400" dirty="0">
                <a:latin typeface="Times New Roman" panose="02020603050405020304" pitchFamily="18" charset="0"/>
                <a:cs typeface="Times New Roman" panose="02020603050405020304" pitchFamily="18" charset="0"/>
              </a:rPr>
              <a:t>)    </a:t>
            </a:r>
          </a:p>
          <a:p>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Testing_Set</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Test_X</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Test_Y</a:t>
            </a:r>
            <a:r>
              <a:rPr lang="en-IN" sz="1400" dirty="0">
                <a:latin typeface="Times New Roman" panose="02020603050405020304" pitchFamily="18" charset="0"/>
                <a:cs typeface="Times New Roman" panose="02020603050405020304" pitchFamily="18" charset="0"/>
              </a:rPr>
              <a:t>)</a:t>
            </a:r>
          </a:p>
          <a:p>
            <a:r>
              <a:rPr lang="en-IN" sz="1400" dirty="0">
                <a:latin typeface="Times New Roman" panose="02020603050405020304" pitchFamily="18" charset="0"/>
                <a:cs typeface="Times New Roman" panose="02020603050405020304" pitchFamily="18" charset="0"/>
              </a:rPr>
              <a:t>AI GOVERNANCE METHOD (Existing)</a:t>
            </a:r>
          </a:p>
          <a:p>
            <a:r>
              <a:rPr lang="en-IN" sz="1400" dirty="0">
                <a:latin typeface="Times New Roman" panose="02020603050405020304" pitchFamily="18" charset="0"/>
                <a:cs typeface="Times New Roman" panose="02020603050405020304" pitchFamily="18" charset="0"/>
              </a:rPr>
              <a:t>DEFINE rules:    </a:t>
            </a:r>
          </a:p>
          <a:p>
            <a:r>
              <a:rPr lang="en-IN" sz="1400" dirty="0">
                <a:latin typeface="Times New Roman" panose="02020603050405020304" pitchFamily="18" charset="0"/>
                <a:cs typeface="Times New Roman" panose="02020603050405020304" pitchFamily="18" charset="0"/>
              </a:rPr>
              <a:t>   IF metadata mismatch THEN label ← Fake   </a:t>
            </a:r>
          </a:p>
          <a:p>
            <a:r>
              <a:rPr lang="en-IN" sz="1400" dirty="0">
                <a:latin typeface="Times New Roman" panose="02020603050405020304" pitchFamily="18" charset="0"/>
                <a:cs typeface="Times New Roman" panose="02020603050405020304" pitchFamily="18" charset="0"/>
              </a:rPr>
              <a:t>   IF face inconsistency THEN label ← Fake    ELSE label ← Real</a:t>
            </a:r>
          </a:p>
          <a:p>
            <a:r>
              <a:rPr lang="en-IN" sz="1400" dirty="0">
                <a:latin typeface="Times New Roman" panose="02020603050405020304" pitchFamily="18" charset="0"/>
                <a:cs typeface="Times New Roman" panose="02020603050405020304" pitchFamily="18" charset="0"/>
              </a:rPr>
              <a:t>FOR each sample IN </a:t>
            </a:r>
            <a:r>
              <a:rPr lang="en-IN" sz="1400" dirty="0" err="1">
                <a:latin typeface="Times New Roman" panose="02020603050405020304" pitchFamily="18" charset="0"/>
                <a:cs typeface="Times New Roman" panose="02020603050405020304" pitchFamily="18" charset="0"/>
              </a:rPr>
              <a:t>Test_X</a:t>
            </a:r>
            <a:r>
              <a:rPr lang="en-IN" sz="1400" dirty="0">
                <a:latin typeface="Times New Roman" panose="02020603050405020304" pitchFamily="18" charset="0"/>
                <a:cs typeface="Times New Roman" panose="02020603050405020304" pitchFamily="18" charset="0"/>
              </a:rPr>
              <a:t> DO    </a:t>
            </a:r>
          </a:p>
          <a:p>
            <a:r>
              <a:rPr lang="en-IN" sz="1400" dirty="0">
                <a:latin typeface="Times New Roman" panose="02020603050405020304" pitchFamily="18" charset="0"/>
                <a:cs typeface="Times New Roman" panose="02020603050405020304" pitchFamily="18" charset="0"/>
              </a:rPr>
              <a:t>   APPLY governance rules    </a:t>
            </a:r>
          </a:p>
          <a:p>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gov_pred</a:t>
            </a:r>
            <a:r>
              <a:rPr lang="en-IN" sz="1400" dirty="0">
                <a:latin typeface="Times New Roman" panose="02020603050405020304" pitchFamily="18" charset="0"/>
                <a:cs typeface="Times New Roman" panose="02020603050405020304" pitchFamily="18" charset="0"/>
              </a:rPr>
              <a:t> ← predicted label   </a:t>
            </a:r>
          </a:p>
          <a:p>
            <a:r>
              <a:rPr lang="en-IN" sz="1400" dirty="0">
                <a:latin typeface="Times New Roman" panose="02020603050405020304" pitchFamily="18" charset="0"/>
                <a:cs typeface="Times New Roman" panose="02020603050405020304" pitchFamily="18" charset="0"/>
              </a:rPr>
              <a:t>  STORE </a:t>
            </a:r>
            <a:r>
              <a:rPr lang="en-IN" sz="1400" dirty="0" err="1">
                <a:latin typeface="Times New Roman" panose="02020603050405020304" pitchFamily="18" charset="0"/>
                <a:cs typeface="Times New Roman" panose="02020603050405020304" pitchFamily="18" charset="0"/>
              </a:rPr>
              <a:t>gov_pred</a:t>
            </a:r>
            <a:endParaRPr lang="en-IN"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END FOR</a:t>
            </a:r>
            <a:endParaRPr lang="en-IN"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9AE2BFA4-45D4-F4B1-224A-A103620F40BA}"/>
              </a:ext>
            </a:extLst>
          </p:cNvPr>
          <p:cNvSpPr txBox="1"/>
          <p:nvPr/>
        </p:nvSpPr>
        <p:spPr>
          <a:xfrm>
            <a:off x="4033519" y="1833066"/>
            <a:ext cx="4429760" cy="5047536"/>
          </a:xfrm>
          <a:prstGeom prst="rect">
            <a:avLst/>
          </a:prstGeom>
          <a:noFill/>
        </p:spPr>
        <p:txBody>
          <a:bodyPr wrap="square">
            <a:spAutoFit/>
          </a:bodyPr>
          <a:lstStyle/>
          <a:p>
            <a:r>
              <a:rPr lang="en-IN" sz="1400" dirty="0">
                <a:latin typeface="Times New Roman" panose="02020603050405020304" pitchFamily="18" charset="0"/>
                <a:cs typeface="Times New Roman" panose="02020603050405020304" pitchFamily="18" charset="0"/>
              </a:rPr>
              <a:t>CALCULATE:    </a:t>
            </a:r>
          </a:p>
          <a:p>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Accuracy_Gov</a:t>
            </a:r>
            <a:r>
              <a:rPr lang="en-IN" sz="1400" dirty="0">
                <a:latin typeface="Times New Roman" panose="02020603050405020304" pitchFamily="18" charset="0"/>
                <a:cs typeface="Times New Roman" panose="02020603050405020304" pitchFamily="18" charset="0"/>
              </a:rPr>
              <a:t>    </a:t>
            </a:r>
          </a:p>
          <a:p>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Precision_Gov</a:t>
            </a:r>
            <a:r>
              <a:rPr lang="en-IN" sz="1400" dirty="0">
                <a:latin typeface="Times New Roman" panose="02020603050405020304" pitchFamily="18" charset="0"/>
                <a:cs typeface="Times New Roman" panose="02020603050405020304" pitchFamily="18" charset="0"/>
              </a:rPr>
              <a:t>    </a:t>
            </a:r>
          </a:p>
          <a:p>
            <a:r>
              <a:rPr lang="en-IN" sz="1400" dirty="0">
                <a:latin typeface="Times New Roman" panose="02020603050405020304" pitchFamily="18" charset="0"/>
                <a:cs typeface="Times New Roman" panose="02020603050405020304" pitchFamily="18" charset="0"/>
              </a:rPr>
              <a:t>STORE results as </a:t>
            </a:r>
            <a:r>
              <a:rPr lang="en-IN" sz="1400" dirty="0" err="1">
                <a:latin typeface="Times New Roman" panose="02020603050405020304" pitchFamily="18" charset="0"/>
                <a:cs typeface="Times New Roman" panose="02020603050405020304" pitchFamily="18" charset="0"/>
              </a:rPr>
              <a:t>gov_output</a:t>
            </a:r>
            <a:endParaRPr lang="en-IN"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MULTIMODAL AI MODEL (Proposed)</a:t>
            </a:r>
          </a:p>
          <a:p>
            <a:r>
              <a:rPr lang="en-IN" sz="1400" dirty="0">
                <a:latin typeface="Times New Roman" panose="02020603050405020304" pitchFamily="18" charset="0"/>
                <a:cs typeface="Times New Roman" panose="02020603050405020304" pitchFamily="18" charset="0"/>
              </a:rPr>
              <a:t>FOR each sample IN </a:t>
            </a:r>
            <a:r>
              <a:rPr lang="en-IN" sz="1400" dirty="0" err="1">
                <a:latin typeface="Times New Roman" panose="02020603050405020304" pitchFamily="18" charset="0"/>
                <a:cs typeface="Times New Roman" panose="02020603050405020304" pitchFamily="18" charset="0"/>
              </a:rPr>
              <a:t>Train_X</a:t>
            </a:r>
            <a:r>
              <a:rPr lang="en-IN" sz="1400" dirty="0">
                <a:latin typeface="Times New Roman" panose="02020603050405020304" pitchFamily="18" charset="0"/>
                <a:cs typeface="Times New Roman" panose="02020603050405020304" pitchFamily="18" charset="0"/>
              </a:rPr>
              <a:t> DO  </a:t>
            </a:r>
          </a:p>
          <a:p>
            <a:r>
              <a:rPr lang="en-IN" sz="1400" dirty="0">
                <a:latin typeface="Times New Roman" panose="02020603050405020304" pitchFamily="18" charset="0"/>
                <a:cs typeface="Times New Roman" panose="02020603050405020304" pitchFamily="18" charset="0"/>
              </a:rPr>
              <a:t>  EXTRACT image features   </a:t>
            </a:r>
          </a:p>
          <a:p>
            <a:r>
              <a:rPr lang="en-IN" sz="1400" dirty="0">
                <a:latin typeface="Times New Roman" panose="02020603050405020304" pitchFamily="18" charset="0"/>
                <a:cs typeface="Times New Roman" panose="02020603050405020304" pitchFamily="18" charset="0"/>
              </a:rPr>
              <a:t>  EXTRACT audio features    </a:t>
            </a:r>
          </a:p>
          <a:p>
            <a:r>
              <a:rPr lang="en-IN" sz="1400" dirty="0">
                <a:latin typeface="Times New Roman" panose="02020603050405020304" pitchFamily="18" charset="0"/>
                <a:cs typeface="Times New Roman" panose="02020603050405020304" pitchFamily="18" charset="0"/>
              </a:rPr>
              <a:t>  EXTRACT temporal (video) features</a:t>
            </a:r>
          </a:p>
          <a:p>
            <a:r>
              <a:rPr lang="en-IN" sz="1400" dirty="0">
                <a:latin typeface="Times New Roman" panose="02020603050405020304" pitchFamily="18" charset="0"/>
                <a:cs typeface="Times New Roman" panose="02020603050405020304" pitchFamily="18" charset="0"/>
              </a:rPr>
              <a:t>END FOR</a:t>
            </a:r>
          </a:p>
          <a:p>
            <a:r>
              <a:rPr lang="en-IN" sz="1400" dirty="0">
                <a:latin typeface="Times New Roman" panose="02020603050405020304" pitchFamily="18" charset="0"/>
                <a:cs typeface="Times New Roman" panose="02020603050405020304" pitchFamily="18" charset="0"/>
              </a:rPr>
              <a:t>COMBINE all features INTO</a:t>
            </a:r>
          </a:p>
          <a:p>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Combined_Feature_Set</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Train_F</a:t>
            </a:r>
            <a:endParaRPr lang="en-IN"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INITIALIZE </a:t>
            </a:r>
            <a:r>
              <a:rPr lang="en-IN" sz="1400" dirty="0" err="1">
                <a:latin typeface="Times New Roman" panose="02020603050405020304" pitchFamily="18" charset="0"/>
                <a:cs typeface="Times New Roman" panose="02020603050405020304" pitchFamily="18" charset="0"/>
              </a:rPr>
              <a:t>Multimodal_Model</a:t>
            </a:r>
            <a:endParaRPr lang="en-IN"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TRAIN </a:t>
            </a:r>
            <a:r>
              <a:rPr lang="en-IN" sz="1400" dirty="0" err="1">
                <a:latin typeface="Times New Roman" panose="02020603050405020304" pitchFamily="18" charset="0"/>
                <a:cs typeface="Times New Roman" panose="02020603050405020304" pitchFamily="18" charset="0"/>
              </a:rPr>
              <a:t>Multimodal_Model</a:t>
            </a:r>
            <a:r>
              <a:rPr lang="en-IN" sz="1400" dirty="0">
                <a:latin typeface="Times New Roman" panose="02020603050405020304" pitchFamily="18" charset="0"/>
                <a:cs typeface="Times New Roman" panose="02020603050405020304" pitchFamily="18" charset="0"/>
              </a:rPr>
              <a:t> using </a:t>
            </a:r>
            <a:r>
              <a:rPr lang="en-IN" sz="1400" dirty="0" err="1">
                <a:latin typeface="Times New Roman" panose="02020603050405020304" pitchFamily="18" charset="0"/>
                <a:cs typeface="Times New Roman" panose="02020603050405020304" pitchFamily="18" charset="0"/>
              </a:rPr>
              <a:t>Train_F</a:t>
            </a:r>
            <a:r>
              <a:rPr lang="en-IN" sz="1400" dirty="0">
                <a:latin typeface="Times New Roman" panose="02020603050405020304" pitchFamily="18" charset="0"/>
                <a:cs typeface="Times New Roman" panose="02020603050405020304" pitchFamily="18" charset="0"/>
              </a:rPr>
              <a:t> and </a:t>
            </a:r>
            <a:r>
              <a:rPr lang="en-IN" sz="1400" dirty="0" err="1">
                <a:latin typeface="Times New Roman" panose="02020603050405020304" pitchFamily="18" charset="0"/>
                <a:cs typeface="Times New Roman" panose="02020603050405020304" pitchFamily="18" charset="0"/>
              </a:rPr>
              <a:t>Train_Y</a:t>
            </a:r>
            <a:endParaRPr lang="en-IN"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FOR each sample IN </a:t>
            </a:r>
            <a:r>
              <a:rPr lang="en-IN" sz="1400" dirty="0" err="1">
                <a:latin typeface="Times New Roman" panose="02020603050405020304" pitchFamily="18" charset="0"/>
                <a:cs typeface="Times New Roman" panose="02020603050405020304" pitchFamily="18" charset="0"/>
              </a:rPr>
              <a:t>Test_X</a:t>
            </a:r>
            <a:r>
              <a:rPr lang="en-IN" sz="1400" dirty="0">
                <a:latin typeface="Times New Roman" panose="02020603050405020304" pitchFamily="18" charset="0"/>
                <a:cs typeface="Times New Roman" panose="02020603050405020304" pitchFamily="18" charset="0"/>
              </a:rPr>
              <a:t> DO    </a:t>
            </a:r>
          </a:p>
          <a:p>
            <a:r>
              <a:rPr lang="en-IN" sz="1400" dirty="0">
                <a:latin typeface="Times New Roman" panose="02020603050405020304" pitchFamily="18" charset="0"/>
                <a:cs typeface="Times New Roman" panose="02020603050405020304" pitchFamily="18" charset="0"/>
              </a:rPr>
              <a:t>    EXTRACT image features   </a:t>
            </a:r>
          </a:p>
          <a:p>
            <a:r>
              <a:rPr lang="en-IN" sz="1400" dirty="0">
                <a:latin typeface="Times New Roman" panose="02020603050405020304" pitchFamily="18" charset="0"/>
                <a:cs typeface="Times New Roman" panose="02020603050405020304" pitchFamily="18" charset="0"/>
              </a:rPr>
              <a:t>    EXTRACT audio features   </a:t>
            </a:r>
          </a:p>
          <a:p>
            <a:r>
              <a:rPr lang="en-IN" sz="1400" dirty="0">
                <a:latin typeface="Times New Roman" panose="02020603050405020304" pitchFamily="18" charset="0"/>
                <a:cs typeface="Times New Roman" panose="02020603050405020304" pitchFamily="18" charset="0"/>
              </a:rPr>
              <a:t>    EXTRACT temporal (video) features   </a:t>
            </a:r>
          </a:p>
          <a:p>
            <a:r>
              <a:rPr lang="en-IN" sz="1400" dirty="0">
                <a:latin typeface="Times New Roman" panose="02020603050405020304" pitchFamily="18" charset="0"/>
                <a:cs typeface="Times New Roman" panose="02020603050405020304" pitchFamily="18" charset="0"/>
              </a:rPr>
              <a:t>    COMBINE features → </a:t>
            </a:r>
            <a:r>
              <a:rPr lang="en-IN" sz="1400" dirty="0" err="1">
                <a:latin typeface="Times New Roman" panose="02020603050405020304" pitchFamily="18" charset="0"/>
                <a:cs typeface="Times New Roman" panose="02020603050405020304" pitchFamily="18" charset="0"/>
              </a:rPr>
              <a:t>Test_F_sample</a:t>
            </a:r>
            <a:r>
              <a:rPr lang="en-IN" sz="1400" dirty="0">
                <a:latin typeface="Times New Roman" panose="02020603050405020304" pitchFamily="18" charset="0"/>
                <a:cs typeface="Times New Roman" panose="02020603050405020304" pitchFamily="18" charset="0"/>
              </a:rPr>
              <a:t>   </a:t>
            </a:r>
          </a:p>
          <a:p>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multi_pred</a:t>
            </a:r>
            <a:r>
              <a:rPr lang="en-IN" sz="1400" dirty="0">
                <a:latin typeface="Times New Roman" panose="02020603050405020304" pitchFamily="18" charset="0"/>
                <a:cs typeface="Times New Roman" panose="02020603050405020304" pitchFamily="18" charset="0"/>
              </a:rPr>
              <a:t> ← PREDICT using </a:t>
            </a:r>
          </a:p>
          <a:p>
            <a:r>
              <a:rPr lang="en-IN" sz="1400" dirty="0" err="1">
                <a:latin typeface="Times New Roman" panose="02020603050405020304" pitchFamily="18" charset="0"/>
                <a:cs typeface="Times New Roman" panose="02020603050405020304" pitchFamily="18" charset="0"/>
              </a:rPr>
              <a:t>Multimodal_Model</a:t>
            </a:r>
            <a:r>
              <a:rPr lang="en-IN" sz="1400" dirty="0">
                <a:latin typeface="Times New Roman" panose="02020603050405020304" pitchFamily="18" charset="0"/>
                <a:cs typeface="Times New Roman" panose="02020603050405020304" pitchFamily="18" charset="0"/>
              </a:rPr>
              <a:t>    </a:t>
            </a:r>
          </a:p>
          <a:p>
            <a:r>
              <a:rPr lang="en-IN" sz="1400" dirty="0">
                <a:latin typeface="Times New Roman" panose="02020603050405020304" pitchFamily="18" charset="0"/>
                <a:cs typeface="Times New Roman" panose="02020603050405020304" pitchFamily="18" charset="0"/>
              </a:rPr>
              <a:t>STORE </a:t>
            </a:r>
            <a:r>
              <a:rPr lang="en-IN" sz="1400" dirty="0" err="1">
                <a:latin typeface="Times New Roman" panose="02020603050405020304" pitchFamily="18" charset="0"/>
                <a:cs typeface="Times New Roman" panose="02020603050405020304" pitchFamily="18" charset="0"/>
              </a:rPr>
              <a:t>multi_pred</a:t>
            </a:r>
            <a:endParaRPr lang="en-IN"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END FOR</a:t>
            </a:r>
            <a:endParaRPr lang="en-IN" sz="1400" dirty="0"/>
          </a:p>
        </p:txBody>
      </p:sp>
      <p:sp>
        <p:nvSpPr>
          <p:cNvPr id="9" name="TextBox 8">
            <a:extLst>
              <a:ext uri="{FF2B5EF4-FFF2-40B4-BE49-F238E27FC236}">
                <a16:creationId xmlns:a16="http://schemas.microsoft.com/office/drawing/2014/main" id="{81BD2C0E-88BC-71CD-270E-FF9345D45C58}"/>
              </a:ext>
            </a:extLst>
          </p:cNvPr>
          <p:cNvSpPr txBox="1"/>
          <p:nvPr/>
        </p:nvSpPr>
        <p:spPr>
          <a:xfrm>
            <a:off x="8463279" y="1841242"/>
            <a:ext cx="3530105" cy="4832092"/>
          </a:xfrm>
          <a:prstGeom prst="rect">
            <a:avLst/>
          </a:prstGeom>
          <a:noFill/>
        </p:spPr>
        <p:txBody>
          <a:bodyPr wrap="square">
            <a:spAutoFit/>
          </a:bodyPr>
          <a:lstStyle/>
          <a:p>
            <a:r>
              <a:rPr lang="en-IN" sz="1400" dirty="0">
                <a:latin typeface="Times New Roman" panose="02020603050405020304" pitchFamily="18" charset="0"/>
                <a:cs typeface="Times New Roman" panose="02020603050405020304" pitchFamily="18" charset="0"/>
              </a:rPr>
              <a:t>COMPARE </a:t>
            </a:r>
            <a:r>
              <a:rPr lang="en-IN" sz="1400" dirty="0" err="1">
                <a:latin typeface="Times New Roman" panose="02020603050405020304" pitchFamily="18" charset="0"/>
                <a:cs typeface="Times New Roman" panose="02020603050405020304" pitchFamily="18" charset="0"/>
              </a:rPr>
              <a:t>Accuracy_Gov</a:t>
            </a:r>
            <a:r>
              <a:rPr lang="en-IN" sz="1400" dirty="0">
                <a:latin typeface="Times New Roman" panose="02020603050405020304" pitchFamily="18" charset="0"/>
                <a:cs typeface="Times New Roman" panose="02020603050405020304" pitchFamily="18" charset="0"/>
              </a:rPr>
              <a:t> with </a:t>
            </a:r>
          </a:p>
          <a:p>
            <a:r>
              <a:rPr lang="en-IN" sz="1400" dirty="0" err="1">
                <a:latin typeface="Times New Roman" panose="02020603050405020304" pitchFamily="18" charset="0"/>
                <a:cs typeface="Times New Roman" panose="02020603050405020304" pitchFamily="18" charset="0"/>
              </a:rPr>
              <a:t>Accuracy_Multi</a:t>
            </a:r>
            <a:endParaRPr lang="en-IN"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COMPARE </a:t>
            </a:r>
            <a:r>
              <a:rPr lang="en-IN" sz="1400" dirty="0" err="1">
                <a:latin typeface="Times New Roman" panose="02020603050405020304" pitchFamily="18" charset="0"/>
                <a:cs typeface="Times New Roman" panose="02020603050405020304" pitchFamily="18" charset="0"/>
              </a:rPr>
              <a:t>Precision_Gov</a:t>
            </a:r>
            <a:r>
              <a:rPr lang="en-IN" sz="1400" dirty="0">
                <a:latin typeface="Times New Roman" panose="02020603050405020304" pitchFamily="18" charset="0"/>
                <a:cs typeface="Times New Roman" panose="02020603050405020304" pitchFamily="18" charset="0"/>
              </a:rPr>
              <a:t> with </a:t>
            </a:r>
          </a:p>
          <a:p>
            <a:r>
              <a:rPr lang="en-IN" sz="1400" dirty="0" err="1">
                <a:latin typeface="Times New Roman" panose="02020603050405020304" pitchFamily="18" charset="0"/>
                <a:cs typeface="Times New Roman" panose="02020603050405020304" pitchFamily="18" charset="0"/>
              </a:rPr>
              <a:t>Precision_Multi</a:t>
            </a:r>
            <a:endParaRPr lang="en-IN"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COMPARE </a:t>
            </a:r>
            <a:r>
              <a:rPr lang="en-IN" sz="1400" dirty="0" err="1">
                <a:latin typeface="Times New Roman" panose="02020603050405020304" pitchFamily="18" charset="0"/>
                <a:cs typeface="Times New Roman" panose="02020603050405020304" pitchFamily="18" charset="0"/>
              </a:rPr>
              <a:t>Recall_Gov</a:t>
            </a:r>
            <a:r>
              <a:rPr lang="en-IN" sz="1400" dirty="0">
                <a:latin typeface="Times New Roman" panose="02020603050405020304" pitchFamily="18" charset="0"/>
                <a:cs typeface="Times New Roman" panose="02020603050405020304" pitchFamily="18" charset="0"/>
              </a:rPr>
              <a:t> with </a:t>
            </a:r>
            <a:r>
              <a:rPr lang="en-IN" sz="1400" dirty="0" err="1">
                <a:latin typeface="Times New Roman" panose="02020603050405020304" pitchFamily="18" charset="0"/>
                <a:cs typeface="Times New Roman" panose="02020603050405020304" pitchFamily="18" charset="0"/>
              </a:rPr>
              <a:t>Recall_Multi</a:t>
            </a:r>
            <a:endParaRPr lang="en-IN"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COMPARE F1_Gov with F1_Multi</a:t>
            </a:r>
          </a:p>
          <a:p>
            <a:r>
              <a:rPr lang="en-IN" sz="1400" dirty="0">
                <a:latin typeface="Times New Roman" panose="02020603050405020304" pitchFamily="18" charset="0"/>
                <a:cs typeface="Times New Roman" panose="02020603050405020304" pitchFamily="18" charset="0"/>
              </a:rPr>
              <a:t>ELSE IF </a:t>
            </a:r>
            <a:r>
              <a:rPr lang="en-IN" sz="1400" dirty="0" err="1">
                <a:latin typeface="Times New Roman" panose="02020603050405020304" pitchFamily="18" charset="0"/>
                <a:cs typeface="Times New Roman" panose="02020603050405020304" pitchFamily="18" charset="0"/>
              </a:rPr>
              <a:t>Accuracy_Multi</a:t>
            </a:r>
            <a:r>
              <a:rPr lang="en-IN" sz="1400" dirty="0">
                <a:latin typeface="Times New Roman" panose="02020603050405020304" pitchFamily="18" charset="0"/>
                <a:cs typeface="Times New Roman" panose="02020603050405020304" pitchFamily="18" charset="0"/>
              </a:rPr>
              <a:t> &lt; </a:t>
            </a:r>
            <a:r>
              <a:rPr lang="en-IN" sz="1400" dirty="0" err="1">
                <a:latin typeface="Times New Roman" panose="02020603050405020304" pitchFamily="18" charset="0"/>
                <a:cs typeface="Times New Roman" panose="02020603050405020304" pitchFamily="18" charset="0"/>
              </a:rPr>
              <a:t>Accuracy_Gov</a:t>
            </a:r>
            <a:r>
              <a:rPr lang="en-IN" sz="1400" dirty="0">
                <a:latin typeface="Times New Roman" panose="02020603050405020304" pitchFamily="18" charset="0"/>
                <a:cs typeface="Times New Roman" panose="02020603050405020304" pitchFamily="18" charset="0"/>
              </a:rPr>
              <a:t> THEN    </a:t>
            </a:r>
          </a:p>
          <a:p>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Best_Model</a:t>
            </a:r>
            <a:r>
              <a:rPr lang="en-IN" sz="1400" dirty="0">
                <a:latin typeface="Times New Roman" panose="02020603050405020304" pitchFamily="18" charset="0"/>
                <a:cs typeface="Times New Roman" panose="02020603050405020304" pitchFamily="18" charset="0"/>
              </a:rPr>
              <a:t> ← "AI Governance performs better“</a:t>
            </a:r>
          </a:p>
          <a:p>
            <a:r>
              <a:rPr lang="en-IN" sz="1400" dirty="0">
                <a:latin typeface="Times New Roman" panose="02020603050405020304" pitchFamily="18" charset="0"/>
                <a:cs typeface="Times New Roman" panose="02020603050405020304" pitchFamily="18" charset="0"/>
              </a:rPr>
              <a:t>ELSE    </a:t>
            </a:r>
            <a:r>
              <a:rPr lang="en-IN" sz="1400" dirty="0" err="1">
                <a:latin typeface="Times New Roman" panose="02020603050405020304" pitchFamily="18" charset="0"/>
                <a:cs typeface="Times New Roman" panose="02020603050405020304" pitchFamily="18" charset="0"/>
              </a:rPr>
              <a:t>Best_Model</a:t>
            </a:r>
            <a:r>
              <a:rPr lang="en-IN" sz="1400" dirty="0">
                <a:latin typeface="Times New Roman" panose="02020603050405020304" pitchFamily="18" charset="0"/>
                <a:cs typeface="Times New Roman" panose="02020603050405020304" pitchFamily="18" charset="0"/>
              </a:rPr>
              <a:t> ← "Both models perform equally“</a:t>
            </a:r>
          </a:p>
          <a:p>
            <a:r>
              <a:rPr lang="en-IN" sz="1400" dirty="0">
                <a:latin typeface="Times New Roman" panose="02020603050405020304" pitchFamily="18" charset="0"/>
                <a:cs typeface="Times New Roman" panose="02020603050405020304" pitchFamily="18" charset="0"/>
              </a:rPr>
              <a:t>END IF</a:t>
            </a:r>
          </a:p>
          <a:p>
            <a:r>
              <a:rPr lang="en-IN" sz="1400" dirty="0">
                <a:latin typeface="Times New Roman" panose="02020603050405020304" pitchFamily="18" charset="0"/>
                <a:cs typeface="Times New Roman" panose="02020603050405020304" pitchFamily="18" charset="0"/>
              </a:rPr>
              <a:t>OUTPUT</a:t>
            </a:r>
          </a:p>
          <a:p>
            <a:r>
              <a:rPr lang="en-IN" sz="1400" dirty="0">
                <a:latin typeface="Times New Roman" panose="02020603050405020304" pitchFamily="18" charset="0"/>
                <a:cs typeface="Times New Roman" panose="02020603050405020304" pitchFamily="18" charset="0"/>
              </a:rPr>
              <a:t>DISPLAY "AI Governance Results:“</a:t>
            </a:r>
          </a:p>
          <a:p>
            <a:r>
              <a:rPr lang="en-IN" sz="1400" dirty="0">
                <a:latin typeface="Times New Roman" panose="02020603050405020304" pitchFamily="18" charset="0"/>
                <a:cs typeface="Times New Roman" panose="02020603050405020304" pitchFamily="18" charset="0"/>
              </a:rPr>
              <a:t>DISPLAY </a:t>
            </a:r>
            <a:r>
              <a:rPr lang="en-IN" sz="1400" dirty="0" err="1">
                <a:latin typeface="Times New Roman" panose="02020603050405020304" pitchFamily="18" charset="0"/>
                <a:cs typeface="Times New Roman" panose="02020603050405020304" pitchFamily="18" charset="0"/>
              </a:rPr>
              <a:t>Accuracy_Gov</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Precision_Gov</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Recall_Gov</a:t>
            </a:r>
            <a:r>
              <a:rPr lang="en-IN" sz="1400" dirty="0">
                <a:latin typeface="Times New Roman" panose="02020603050405020304" pitchFamily="18" charset="0"/>
                <a:cs typeface="Times New Roman" panose="02020603050405020304" pitchFamily="18" charset="0"/>
              </a:rPr>
              <a:t>, F1_Gov</a:t>
            </a:r>
          </a:p>
          <a:p>
            <a:r>
              <a:rPr lang="en-IN" sz="1400" dirty="0">
                <a:latin typeface="Times New Roman" panose="02020603050405020304" pitchFamily="18" charset="0"/>
                <a:cs typeface="Times New Roman" panose="02020603050405020304" pitchFamily="18" charset="0"/>
              </a:rPr>
              <a:t>DISPLAY "Multimodal AI Results:“</a:t>
            </a:r>
          </a:p>
          <a:p>
            <a:r>
              <a:rPr lang="en-IN" sz="1400" dirty="0">
                <a:latin typeface="Times New Roman" panose="02020603050405020304" pitchFamily="18" charset="0"/>
                <a:cs typeface="Times New Roman" panose="02020603050405020304" pitchFamily="18" charset="0"/>
              </a:rPr>
              <a:t>DISPLAY </a:t>
            </a:r>
            <a:r>
              <a:rPr lang="en-IN" sz="1400" dirty="0" err="1">
                <a:latin typeface="Times New Roman" panose="02020603050405020304" pitchFamily="18" charset="0"/>
                <a:cs typeface="Times New Roman" panose="02020603050405020304" pitchFamily="18" charset="0"/>
              </a:rPr>
              <a:t>Accuracy_Multi</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Precision_Multi</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Recall_Multi</a:t>
            </a:r>
            <a:r>
              <a:rPr lang="en-IN" sz="1400" dirty="0">
                <a:latin typeface="Times New Roman" panose="02020603050405020304" pitchFamily="18" charset="0"/>
                <a:cs typeface="Times New Roman" panose="02020603050405020304" pitchFamily="18" charset="0"/>
              </a:rPr>
              <a:t>, F1_Multi</a:t>
            </a:r>
          </a:p>
          <a:p>
            <a:r>
              <a:rPr lang="en-IN" sz="1400" dirty="0">
                <a:latin typeface="Times New Roman" panose="02020603050405020304" pitchFamily="18" charset="0"/>
                <a:cs typeface="Times New Roman" panose="02020603050405020304" pitchFamily="18" charset="0"/>
              </a:rPr>
              <a:t>DISPLAY "Best Model:", </a:t>
            </a:r>
            <a:r>
              <a:rPr lang="en-IN" sz="1400" dirty="0" err="1">
                <a:latin typeface="Times New Roman" panose="02020603050405020304" pitchFamily="18" charset="0"/>
                <a:cs typeface="Times New Roman" panose="02020603050405020304" pitchFamily="18" charset="0"/>
              </a:rPr>
              <a:t>Best_Model</a:t>
            </a:r>
            <a:endParaRPr lang="en-IN"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END</a:t>
            </a:r>
            <a:endParaRPr lang="en-IN" sz="1400" dirty="0"/>
          </a:p>
        </p:txBody>
      </p:sp>
    </p:spTree>
    <p:extLst>
      <p:ext uri="{BB962C8B-B14F-4D97-AF65-F5344CB8AC3E}">
        <p14:creationId xmlns:p14="http://schemas.microsoft.com/office/powerpoint/2010/main" val="363024963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47DB89A-043E-1153-FC7C-110B9A45A049}"/>
              </a:ext>
            </a:extLst>
          </p:cNvPr>
          <p:cNvPicPr/>
          <p:nvPr/>
        </p:nvPicPr>
        <p:blipFill>
          <a:blip r:embed="rId2"/>
          <a:stretch>
            <a:fillRect/>
          </a:stretch>
        </p:blipFill>
        <p:spPr>
          <a:xfrm>
            <a:off x="447040" y="87900"/>
            <a:ext cx="11074400" cy="1264555"/>
          </a:xfrm>
          <a:prstGeom prst="rect">
            <a:avLst/>
          </a:prstGeom>
        </p:spPr>
      </p:pic>
      <p:sp>
        <p:nvSpPr>
          <p:cNvPr id="6" name="TextBox 5">
            <a:extLst>
              <a:ext uri="{FF2B5EF4-FFF2-40B4-BE49-F238E27FC236}">
                <a16:creationId xmlns:a16="http://schemas.microsoft.com/office/drawing/2014/main" id="{1B114EE7-5BF9-2C1C-776A-C4B8FCF9D281}"/>
              </a:ext>
            </a:extLst>
          </p:cNvPr>
          <p:cNvSpPr txBox="1"/>
          <p:nvPr/>
        </p:nvSpPr>
        <p:spPr>
          <a:xfrm>
            <a:off x="2936240" y="1180090"/>
            <a:ext cx="6096000" cy="707886"/>
          </a:xfrm>
          <a:prstGeom prst="rect">
            <a:avLst/>
          </a:prstGeom>
          <a:noFill/>
        </p:spPr>
        <p:txBody>
          <a:bodyPr wrap="square">
            <a:spAutoFit/>
          </a:bodyPr>
          <a:lstStyle/>
          <a:p>
            <a:pPr algn="ctr"/>
            <a:r>
              <a:rPr lang="en-US" sz="4000" b="1" dirty="0">
                <a:latin typeface="Times New Roman" panose="02020603050405020304" pitchFamily="18" charset="0"/>
                <a:cs typeface="Times New Roman" panose="02020603050405020304" pitchFamily="18" charset="0"/>
              </a:rPr>
              <a:t>OUTPUT</a:t>
            </a:r>
            <a:endParaRPr lang="en-IN" sz="4000" dirty="0"/>
          </a:p>
        </p:txBody>
      </p:sp>
      <p:graphicFrame>
        <p:nvGraphicFramePr>
          <p:cNvPr id="7" name="Table 6">
            <a:extLst>
              <a:ext uri="{FF2B5EF4-FFF2-40B4-BE49-F238E27FC236}">
                <a16:creationId xmlns:a16="http://schemas.microsoft.com/office/drawing/2014/main" id="{336E07A2-5720-9D8A-3BB9-7007C38C7997}"/>
              </a:ext>
            </a:extLst>
          </p:cNvPr>
          <p:cNvGraphicFramePr>
            <a:graphicFrameLocks noGrp="1"/>
          </p:cNvGraphicFramePr>
          <p:nvPr>
            <p:extLst>
              <p:ext uri="{D42A27DB-BD31-4B8C-83A1-F6EECF244321}">
                <p14:modId xmlns:p14="http://schemas.microsoft.com/office/powerpoint/2010/main" val="3281481348"/>
              </p:ext>
            </p:extLst>
          </p:nvPr>
        </p:nvGraphicFramePr>
        <p:xfrm>
          <a:off x="2481430" y="1800076"/>
          <a:ext cx="6680500" cy="4970024"/>
        </p:xfrm>
        <a:graphic>
          <a:graphicData uri="http://schemas.openxmlformats.org/drawingml/2006/table">
            <a:tbl>
              <a:tblPr firstRow="1" firstCol="1" bandRow="1">
                <a:tableStyleId>{2D5ABB26-0587-4C30-8999-92F81FD0307C}</a:tableStyleId>
              </a:tblPr>
              <a:tblGrid>
                <a:gridCol w="901382">
                  <a:extLst>
                    <a:ext uri="{9D8B030D-6E8A-4147-A177-3AD203B41FA5}">
                      <a16:colId xmlns:a16="http://schemas.microsoft.com/office/drawing/2014/main" val="2142990124"/>
                    </a:ext>
                  </a:extLst>
                </a:gridCol>
                <a:gridCol w="2889559">
                  <a:extLst>
                    <a:ext uri="{9D8B030D-6E8A-4147-A177-3AD203B41FA5}">
                      <a16:colId xmlns:a16="http://schemas.microsoft.com/office/drawing/2014/main" val="3689198834"/>
                    </a:ext>
                  </a:extLst>
                </a:gridCol>
                <a:gridCol w="2889559">
                  <a:extLst>
                    <a:ext uri="{9D8B030D-6E8A-4147-A177-3AD203B41FA5}">
                      <a16:colId xmlns:a16="http://schemas.microsoft.com/office/drawing/2014/main" val="1857087054"/>
                    </a:ext>
                  </a:extLst>
                </a:gridCol>
              </a:tblGrid>
              <a:tr h="459624">
                <a:tc>
                  <a:txBody>
                    <a:bodyPr/>
                    <a:lstStyle/>
                    <a:p>
                      <a:pPr marL="0" marR="0" algn="ctr">
                        <a:lnSpc>
                          <a:spcPct val="107000"/>
                        </a:lnSpc>
                        <a:spcAft>
                          <a:spcPts val="800"/>
                        </a:spcAft>
                        <a:buNone/>
                      </a:pPr>
                      <a:r>
                        <a:rPr lang="en-IN" sz="1200" b="1" kern="0" dirty="0">
                          <a:effectLst/>
                          <a:latin typeface="Times New Roman" panose="02020603050405020304" pitchFamily="18" charset="0"/>
                          <a:cs typeface="Times New Roman" panose="02020603050405020304" pitchFamily="18" charset="0"/>
                        </a:rPr>
                        <a:t>Iteration</a:t>
                      </a:r>
                      <a:endPar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IN" sz="1200" b="1" kern="0" dirty="0">
                          <a:effectLst/>
                          <a:latin typeface="Times New Roman" panose="02020603050405020304" pitchFamily="18" charset="0"/>
                          <a:cs typeface="Times New Roman" panose="02020603050405020304" pitchFamily="18" charset="0"/>
                        </a:rPr>
                        <a:t>Multimodal AI Algorithm</a:t>
                      </a:r>
                      <a:endPar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IN" sz="1200" b="1" kern="0" dirty="0">
                          <a:effectLst/>
                          <a:latin typeface="Times New Roman" panose="02020603050405020304" pitchFamily="18" charset="0"/>
                          <a:cs typeface="Times New Roman" panose="02020603050405020304" pitchFamily="18" charset="0"/>
                        </a:rPr>
                        <a:t>AI Governance Algorithm</a:t>
                      </a:r>
                      <a:endPar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3614772"/>
                  </a:ext>
                </a:extLst>
              </a:tr>
              <a:tr h="225520">
                <a:tc>
                  <a:txBody>
                    <a:bodyPr/>
                    <a:lstStyle/>
                    <a:p>
                      <a:pPr marL="0" marR="0" algn="ctr">
                        <a:lnSpc>
                          <a:spcPct val="107000"/>
                        </a:lnSpc>
                        <a:spcAft>
                          <a:spcPts val="800"/>
                        </a:spcAft>
                        <a:buNone/>
                      </a:pPr>
                      <a:r>
                        <a:rPr lang="en-IN" sz="1200" kern="0" dirty="0">
                          <a:effectLst/>
                          <a:latin typeface="Times New Roman" panose="02020603050405020304" pitchFamily="18" charset="0"/>
                          <a:cs typeface="Times New Roman" panose="02020603050405020304" pitchFamily="18" charset="0"/>
                        </a:rPr>
                        <a:t>1</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IN" sz="1200" kern="0" dirty="0">
                          <a:effectLst/>
                          <a:latin typeface="Times New Roman" panose="02020603050405020304" pitchFamily="18" charset="0"/>
                          <a:cs typeface="Times New Roman" panose="02020603050405020304" pitchFamily="18" charset="0"/>
                        </a:rPr>
                        <a:t>95.60</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8</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6.30</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12414993"/>
                  </a:ext>
                </a:extLst>
              </a:tr>
              <a:tr h="225520">
                <a:tc>
                  <a:txBody>
                    <a:bodyPr/>
                    <a:lstStyle/>
                    <a:p>
                      <a:pPr marL="0" marR="0" algn="ctr">
                        <a:lnSpc>
                          <a:spcPct val="107000"/>
                        </a:lnSpc>
                        <a:spcAft>
                          <a:spcPts val="800"/>
                        </a:spcAft>
                        <a:buNone/>
                      </a:pPr>
                      <a:r>
                        <a:rPr lang="en-IN" sz="1200" kern="0">
                          <a:effectLst/>
                          <a:latin typeface="Times New Roman" panose="02020603050405020304" pitchFamily="18" charset="0"/>
                          <a:cs typeface="Times New Roman" panose="02020603050405020304" pitchFamily="18" charset="0"/>
                        </a:rPr>
                        <a:t>2</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IN" sz="1200" kern="0" dirty="0">
                          <a:effectLst/>
                          <a:latin typeface="Times New Roman" panose="02020603050405020304" pitchFamily="18" charset="0"/>
                          <a:cs typeface="Times New Roman" panose="02020603050405020304" pitchFamily="18" charset="0"/>
                        </a:rPr>
                        <a:t>95.70</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86.45</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76635834"/>
                  </a:ext>
                </a:extLst>
              </a:tr>
              <a:tr h="225520">
                <a:tc>
                  <a:txBody>
                    <a:bodyPr/>
                    <a:lstStyle/>
                    <a:p>
                      <a:pPr marL="0" marR="0" algn="ctr">
                        <a:lnSpc>
                          <a:spcPct val="107000"/>
                        </a:lnSpc>
                        <a:spcAft>
                          <a:spcPts val="800"/>
                        </a:spcAft>
                        <a:buNone/>
                      </a:pPr>
                      <a:r>
                        <a:rPr lang="en-IN" sz="1200" kern="0">
                          <a:effectLst/>
                          <a:latin typeface="Times New Roman" panose="02020603050405020304" pitchFamily="18" charset="0"/>
                          <a:cs typeface="Times New Roman" panose="02020603050405020304" pitchFamily="18" charset="0"/>
                        </a:rPr>
                        <a:t>3</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IN" sz="1200" kern="0" dirty="0">
                          <a:effectLst/>
                          <a:latin typeface="Times New Roman" panose="02020603050405020304" pitchFamily="18" charset="0"/>
                          <a:cs typeface="Times New Roman" panose="02020603050405020304" pitchFamily="18" charset="0"/>
                        </a:rPr>
                        <a:t>95.40</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86.20</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89933318"/>
                  </a:ext>
                </a:extLst>
              </a:tr>
              <a:tr h="225520">
                <a:tc>
                  <a:txBody>
                    <a:bodyPr/>
                    <a:lstStyle/>
                    <a:p>
                      <a:pPr marL="0" marR="0" algn="ctr">
                        <a:lnSpc>
                          <a:spcPct val="107000"/>
                        </a:lnSpc>
                        <a:spcAft>
                          <a:spcPts val="800"/>
                        </a:spcAft>
                        <a:buNone/>
                      </a:pPr>
                      <a:r>
                        <a:rPr lang="en-IN" sz="1200" kern="0">
                          <a:effectLst/>
                          <a:latin typeface="Times New Roman" panose="02020603050405020304" pitchFamily="18" charset="0"/>
                          <a:cs typeface="Times New Roman" panose="02020603050405020304" pitchFamily="18" charset="0"/>
                        </a:rPr>
                        <a:t>4</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9</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5.80</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8</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6.60</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7289868"/>
                  </a:ext>
                </a:extLst>
              </a:tr>
              <a:tr h="225520">
                <a:tc>
                  <a:txBody>
                    <a:bodyPr/>
                    <a:lstStyle/>
                    <a:p>
                      <a:pPr marL="0" marR="0" algn="ctr">
                        <a:lnSpc>
                          <a:spcPct val="107000"/>
                        </a:lnSpc>
                        <a:spcAft>
                          <a:spcPts val="800"/>
                        </a:spcAft>
                        <a:buNone/>
                      </a:pPr>
                      <a:r>
                        <a:rPr lang="en-IN" sz="1200" kern="0">
                          <a:effectLst/>
                          <a:latin typeface="Times New Roman" panose="02020603050405020304" pitchFamily="18" charset="0"/>
                          <a:cs typeface="Times New Roman" panose="02020603050405020304" pitchFamily="18" charset="0"/>
                        </a:rPr>
                        <a:t>5</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IN" sz="1200" kern="0" dirty="0">
                          <a:effectLst/>
                          <a:latin typeface="Times New Roman" panose="02020603050405020304" pitchFamily="18" charset="0"/>
                          <a:cs typeface="Times New Roman" panose="02020603050405020304" pitchFamily="18" charset="0"/>
                        </a:rPr>
                        <a:t>95.50</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8</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6.50</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92900315"/>
                  </a:ext>
                </a:extLst>
              </a:tr>
              <a:tr h="225520">
                <a:tc>
                  <a:txBody>
                    <a:bodyPr/>
                    <a:lstStyle/>
                    <a:p>
                      <a:pPr marL="0" marR="0" algn="ctr">
                        <a:lnSpc>
                          <a:spcPct val="107000"/>
                        </a:lnSpc>
                        <a:spcAft>
                          <a:spcPts val="800"/>
                        </a:spcAft>
                        <a:buNone/>
                      </a:pPr>
                      <a:r>
                        <a:rPr lang="en-IN" sz="1200" kern="0">
                          <a:effectLst/>
                          <a:latin typeface="Times New Roman" panose="02020603050405020304" pitchFamily="18" charset="0"/>
                          <a:cs typeface="Times New Roman" panose="02020603050405020304" pitchFamily="18" charset="0"/>
                        </a:rPr>
                        <a:t>6</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9</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5.55</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8</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6.40</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70342510"/>
                  </a:ext>
                </a:extLst>
              </a:tr>
              <a:tr h="225520">
                <a:tc>
                  <a:txBody>
                    <a:bodyPr/>
                    <a:lstStyle/>
                    <a:p>
                      <a:pPr marL="0" marR="0" algn="ctr">
                        <a:lnSpc>
                          <a:spcPct val="107000"/>
                        </a:lnSpc>
                        <a:spcAft>
                          <a:spcPts val="800"/>
                        </a:spcAft>
                        <a:buNone/>
                      </a:pPr>
                      <a:r>
                        <a:rPr lang="en-IN" sz="1200" kern="0">
                          <a:effectLst/>
                          <a:latin typeface="Times New Roman" panose="02020603050405020304" pitchFamily="18" charset="0"/>
                          <a:cs typeface="Times New Roman" panose="02020603050405020304" pitchFamily="18" charset="0"/>
                        </a:rPr>
                        <a:t>7</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9</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5.90</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8</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6.80</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85250438"/>
                  </a:ext>
                </a:extLst>
              </a:tr>
              <a:tr h="225520">
                <a:tc>
                  <a:txBody>
                    <a:bodyPr/>
                    <a:lstStyle/>
                    <a:p>
                      <a:pPr marL="0" marR="0" algn="ctr">
                        <a:lnSpc>
                          <a:spcPct val="107000"/>
                        </a:lnSpc>
                        <a:spcAft>
                          <a:spcPts val="800"/>
                        </a:spcAft>
                        <a:buNone/>
                      </a:pPr>
                      <a:r>
                        <a:rPr lang="en-IN" sz="1200" kern="0">
                          <a:effectLst/>
                          <a:latin typeface="Times New Roman" panose="02020603050405020304" pitchFamily="18" charset="0"/>
                          <a:cs typeface="Times New Roman" panose="02020603050405020304" pitchFamily="18" charset="0"/>
                        </a:rPr>
                        <a:t>8</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IN" sz="1200" kern="0" dirty="0">
                          <a:effectLst/>
                          <a:latin typeface="Times New Roman" panose="02020603050405020304" pitchFamily="18" charset="0"/>
                          <a:cs typeface="Times New Roman" panose="02020603050405020304" pitchFamily="18" charset="0"/>
                        </a:rPr>
                        <a:t>95.65</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8</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6.50</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55406510"/>
                  </a:ext>
                </a:extLst>
              </a:tr>
              <a:tr h="225520">
                <a:tc>
                  <a:txBody>
                    <a:bodyPr/>
                    <a:lstStyle/>
                    <a:p>
                      <a:pPr marL="0" marR="0" algn="ctr">
                        <a:lnSpc>
                          <a:spcPct val="107000"/>
                        </a:lnSpc>
                        <a:spcAft>
                          <a:spcPts val="800"/>
                        </a:spcAft>
                        <a:buNone/>
                      </a:pPr>
                      <a:r>
                        <a:rPr lang="en-IN" sz="1200" kern="0">
                          <a:effectLst/>
                          <a:latin typeface="Times New Roman" panose="02020603050405020304" pitchFamily="18" charset="0"/>
                          <a:cs typeface="Times New Roman" panose="02020603050405020304" pitchFamily="18" charset="0"/>
                        </a:rPr>
                        <a:t>9</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IN" sz="1200" kern="0" dirty="0">
                          <a:effectLst/>
                          <a:latin typeface="Times New Roman" panose="02020603050405020304" pitchFamily="18" charset="0"/>
                          <a:cs typeface="Times New Roman" panose="02020603050405020304" pitchFamily="18" charset="0"/>
                        </a:rPr>
                        <a:t>95.50</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8</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6.25</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50904569"/>
                  </a:ext>
                </a:extLst>
              </a:tr>
              <a:tr h="225520">
                <a:tc>
                  <a:txBody>
                    <a:bodyPr/>
                    <a:lstStyle/>
                    <a:p>
                      <a:pPr marL="0" marR="0" algn="ctr">
                        <a:lnSpc>
                          <a:spcPct val="107000"/>
                        </a:lnSpc>
                        <a:spcAft>
                          <a:spcPts val="800"/>
                        </a:spcAft>
                        <a:buNone/>
                      </a:pPr>
                      <a:r>
                        <a:rPr lang="en-IN" sz="1200" kern="0">
                          <a:effectLst/>
                          <a:latin typeface="Times New Roman" panose="02020603050405020304" pitchFamily="18" charset="0"/>
                          <a:cs typeface="Times New Roman" panose="02020603050405020304" pitchFamily="18" charset="0"/>
                        </a:rPr>
                        <a:t>10</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9</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5.75</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8</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6.55</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03719626"/>
                  </a:ext>
                </a:extLst>
              </a:tr>
              <a:tr h="225520">
                <a:tc>
                  <a:txBody>
                    <a:bodyPr/>
                    <a:lstStyle/>
                    <a:p>
                      <a:pPr marL="0" marR="0" algn="ctr">
                        <a:lnSpc>
                          <a:spcPct val="107000"/>
                        </a:lnSpc>
                        <a:spcAft>
                          <a:spcPts val="800"/>
                        </a:spcAft>
                        <a:buNone/>
                      </a:pPr>
                      <a:r>
                        <a:rPr lang="en-IN" sz="1200" kern="0">
                          <a:effectLst/>
                          <a:latin typeface="Times New Roman" panose="02020603050405020304" pitchFamily="18" charset="0"/>
                          <a:cs typeface="Times New Roman" panose="02020603050405020304" pitchFamily="18" charset="0"/>
                        </a:rPr>
                        <a:t>11</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9</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5.45</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8</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6.35</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73910155"/>
                  </a:ext>
                </a:extLst>
              </a:tr>
              <a:tr h="225520">
                <a:tc>
                  <a:txBody>
                    <a:bodyPr/>
                    <a:lstStyle/>
                    <a:p>
                      <a:pPr marL="0" marR="0" algn="ctr">
                        <a:lnSpc>
                          <a:spcPct val="107000"/>
                        </a:lnSpc>
                        <a:spcAft>
                          <a:spcPts val="800"/>
                        </a:spcAft>
                        <a:buNone/>
                      </a:pPr>
                      <a:r>
                        <a:rPr lang="en-IN" sz="1200" kern="0">
                          <a:effectLst/>
                          <a:latin typeface="Times New Roman" panose="02020603050405020304" pitchFamily="18" charset="0"/>
                          <a:cs typeface="Times New Roman" panose="02020603050405020304" pitchFamily="18" charset="0"/>
                        </a:rPr>
                        <a:t>12</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IN" sz="1200" kern="0" dirty="0">
                          <a:effectLst/>
                          <a:latin typeface="Times New Roman" panose="02020603050405020304" pitchFamily="18" charset="0"/>
                          <a:cs typeface="Times New Roman" panose="02020603050405020304" pitchFamily="18" charset="0"/>
                        </a:rPr>
                        <a:t>95.85</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8</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6.70</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6539308"/>
                  </a:ext>
                </a:extLst>
              </a:tr>
              <a:tr h="225520">
                <a:tc>
                  <a:txBody>
                    <a:bodyPr/>
                    <a:lstStyle/>
                    <a:p>
                      <a:pPr marL="0" marR="0" algn="ctr">
                        <a:lnSpc>
                          <a:spcPct val="107000"/>
                        </a:lnSpc>
                        <a:spcAft>
                          <a:spcPts val="800"/>
                        </a:spcAft>
                        <a:buNone/>
                      </a:pPr>
                      <a:r>
                        <a:rPr lang="en-IN" sz="1200" kern="0">
                          <a:effectLst/>
                          <a:latin typeface="Times New Roman" panose="02020603050405020304" pitchFamily="18" charset="0"/>
                          <a:cs typeface="Times New Roman" panose="02020603050405020304" pitchFamily="18" charset="0"/>
                        </a:rPr>
                        <a:t>13</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IN" sz="1200" kern="0" dirty="0">
                          <a:effectLst/>
                          <a:latin typeface="Times New Roman" panose="02020603050405020304" pitchFamily="18" charset="0"/>
                          <a:cs typeface="Times New Roman" panose="02020603050405020304" pitchFamily="18" charset="0"/>
                        </a:rPr>
                        <a:t>95.60</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8</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6.45</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3060378"/>
                  </a:ext>
                </a:extLst>
              </a:tr>
              <a:tr h="225520">
                <a:tc>
                  <a:txBody>
                    <a:bodyPr/>
                    <a:lstStyle/>
                    <a:p>
                      <a:pPr marL="0" marR="0" algn="ctr">
                        <a:lnSpc>
                          <a:spcPct val="107000"/>
                        </a:lnSpc>
                        <a:spcAft>
                          <a:spcPts val="800"/>
                        </a:spcAft>
                        <a:buNone/>
                      </a:pPr>
                      <a:r>
                        <a:rPr lang="en-IN" sz="1200" kern="0">
                          <a:effectLst/>
                          <a:latin typeface="Times New Roman" panose="02020603050405020304" pitchFamily="18" charset="0"/>
                          <a:cs typeface="Times New Roman" panose="02020603050405020304" pitchFamily="18" charset="0"/>
                        </a:rPr>
                        <a:t>14</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IN" sz="1200" kern="0" dirty="0">
                          <a:effectLst/>
                          <a:latin typeface="Times New Roman" panose="02020603050405020304" pitchFamily="18" charset="0"/>
                          <a:cs typeface="Times New Roman" panose="02020603050405020304" pitchFamily="18" charset="0"/>
                        </a:rPr>
                        <a:t>95.48</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8</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6.18</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93660306"/>
                  </a:ext>
                </a:extLst>
              </a:tr>
              <a:tr h="225520">
                <a:tc>
                  <a:txBody>
                    <a:bodyPr/>
                    <a:lstStyle/>
                    <a:p>
                      <a:pPr marL="0" marR="0" algn="ctr">
                        <a:lnSpc>
                          <a:spcPct val="107000"/>
                        </a:lnSpc>
                        <a:spcAft>
                          <a:spcPts val="800"/>
                        </a:spcAft>
                        <a:buNone/>
                      </a:pPr>
                      <a:r>
                        <a:rPr lang="en-IN" sz="1200" kern="0">
                          <a:effectLst/>
                          <a:latin typeface="Times New Roman" panose="02020603050405020304" pitchFamily="18" charset="0"/>
                          <a:cs typeface="Times New Roman" panose="02020603050405020304" pitchFamily="18" charset="0"/>
                        </a:rPr>
                        <a:t>15</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9</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5.52</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8</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6.28</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53092771"/>
                  </a:ext>
                </a:extLst>
              </a:tr>
              <a:tr h="225520">
                <a:tc>
                  <a:txBody>
                    <a:bodyPr/>
                    <a:lstStyle/>
                    <a:p>
                      <a:pPr marL="0" marR="0" algn="ctr">
                        <a:lnSpc>
                          <a:spcPct val="107000"/>
                        </a:lnSpc>
                        <a:spcAft>
                          <a:spcPts val="800"/>
                        </a:spcAft>
                        <a:buNone/>
                      </a:pPr>
                      <a:r>
                        <a:rPr lang="en-IN" sz="1200" kern="0">
                          <a:effectLst/>
                          <a:latin typeface="Times New Roman" panose="02020603050405020304" pitchFamily="18" charset="0"/>
                          <a:cs typeface="Times New Roman" panose="02020603050405020304" pitchFamily="18" charset="0"/>
                        </a:rPr>
                        <a:t>16</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IN" sz="1200" kern="0" dirty="0">
                          <a:effectLst/>
                          <a:latin typeface="Times New Roman" panose="02020603050405020304" pitchFamily="18" charset="0"/>
                          <a:cs typeface="Times New Roman" panose="02020603050405020304" pitchFamily="18" charset="0"/>
                        </a:rPr>
                        <a:t>95.88</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cs typeface="Times New Roman" panose="02020603050405020304" pitchFamily="18" charset="0"/>
                        </a:rPr>
                        <a:t>8</a:t>
                      </a:r>
                      <a:r>
                        <a:rPr lang="en-IN" sz="1200" kern="0" dirty="0">
                          <a:effectLst/>
                          <a:latin typeface="Times New Roman" panose="02020603050405020304" pitchFamily="18" charset="0"/>
                          <a:cs typeface="Times New Roman" panose="02020603050405020304" pitchFamily="18" charset="0"/>
                        </a:rPr>
                        <a:t>6.72</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80028630"/>
                  </a:ext>
                </a:extLst>
              </a:tr>
              <a:tr h="225520">
                <a:tc>
                  <a:txBody>
                    <a:bodyPr/>
                    <a:lstStyle/>
                    <a:p>
                      <a:pPr marL="0" marR="0" algn="ctr">
                        <a:lnSpc>
                          <a:spcPct val="107000"/>
                        </a:lnSpc>
                        <a:spcAft>
                          <a:spcPts val="800"/>
                        </a:spcAft>
                        <a:buNone/>
                      </a:pPr>
                      <a:r>
                        <a:rPr lang="en-IN" sz="1200" kern="0">
                          <a:effectLst/>
                          <a:latin typeface="Times New Roman" panose="02020603050405020304" pitchFamily="18" charset="0"/>
                          <a:cs typeface="Times New Roman" panose="02020603050405020304" pitchFamily="18" charset="0"/>
                        </a:rPr>
                        <a:t>17</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95.58</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8</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6.42</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86711634"/>
                  </a:ext>
                </a:extLst>
              </a:tr>
              <a:tr h="225520">
                <a:tc>
                  <a:txBody>
                    <a:bodyPr/>
                    <a:lstStyle/>
                    <a:p>
                      <a:pPr marL="0" marR="0" algn="ctr">
                        <a:lnSpc>
                          <a:spcPct val="107000"/>
                        </a:lnSpc>
                        <a:spcAft>
                          <a:spcPts val="800"/>
                        </a:spcAft>
                        <a:buNone/>
                      </a:pPr>
                      <a:r>
                        <a:rPr lang="en-IN" sz="1200" kern="0">
                          <a:effectLst/>
                          <a:latin typeface="Times New Roman" panose="02020603050405020304" pitchFamily="18" charset="0"/>
                          <a:cs typeface="Times New Roman" panose="02020603050405020304" pitchFamily="18" charset="0"/>
                        </a:rPr>
                        <a:t>18</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IN" sz="1200" kern="0" dirty="0">
                          <a:effectLst/>
                          <a:latin typeface="Times New Roman" panose="02020603050405020304" pitchFamily="18" charset="0"/>
                          <a:cs typeface="Times New Roman" panose="02020603050405020304" pitchFamily="18" charset="0"/>
                        </a:rPr>
                        <a:t>95.95</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8</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6.85</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8985127"/>
                  </a:ext>
                </a:extLst>
              </a:tr>
              <a:tr h="225520">
                <a:tc>
                  <a:txBody>
                    <a:bodyPr/>
                    <a:lstStyle/>
                    <a:p>
                      <a:pPr marL="0" marR="0" algn="ctr">
                        <a:lnSpc>
                          <a:spcPct val="107000"/>
                        </a:lnSpc>
                        <a:spcAft>
                          <a:spcPts val="800"/>
                        </a:spcAft>
                        <a:buNone/>
                      </a:pPr>
                      <a:r>
                        <a:rPr lang="en-IN" sz="1200" kern="0">
                          <a:effectLst/>
                          <a:latin typeface="Times New Roman" panose="02020603050405020304" pitchFamily="18" charset="0"/>
                          <a:cs typeface="Times New Roman" panose="02020603050405020304" pitchFamily="18" charset="0"/>
                        </a:rPr>
                        <a:t>19</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IN" sz="1200" kern="0" dirty="0">
                          <a:effectLst/>
                          <a:latin typeface="Times New Roman" panose="02020603050405020304" pitchFamily="18" charset="0"/>
                          <a:cs typeface="Times New Roman" panose="02020603050405020304" pitchFamily="18" charset="0"/>
                        </a:rPr>
                        <a:t>95.68</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8</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6.52</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65825775"/>
                  </a:ext>
                </a:extLst>
              </a:tr>
              <a:tr h="225520">
                <a:tc>
                  <a:txBody>
                    <a:bodyPr/>
                    <a:lstStyle/>
                    <a:p>
                      <a:pPr marL="0" marR="0" algn="ctr">
                        <a:lnSpc>
                          <a:spcPct val="107000"/>
                        </a:lnSpc>
                        <a:spcAft>
                          <a:spcPts val="800"/>
                        </a:spcAft>
                        <a:buNone/>
                      </a:pPr>
                      <a:r>
                        <a:rPr lang="en-IN" sz="1200" kern="0" dirty="0">
                          <a:effectLst/>
                          <a:latin typeface="Times New Roman" panose="02020603050405020304" pitchFamily="18" charset="0"/>
                          <a:cs typeface="Times New Roman" panose="02020603050405020304" pitchFamily="18" charset="0"/>
                        </a:rPr>
                        <a:t>20</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IN" sz="1200" kern="0" dirty="0">
                          <a:effectLst/>
                          <a:latin typeface="Times New Roman" panose="02020603050405020304" pitchFamily="18" charset="0"/>
                          <a:cs typeface="Times New Roman" panose="02020603050405020304" pitchFamily="18" charset="0"/>
                        </a:rPr>
                        <a:t>95.57</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buNone/>
                      </a:pPr>
                      <a:r>
                        <a:rPr lang="en-US" sz="1200" kern="0" dirty="0">
                          <a:effectLst/>
                          <a:latin typeface="Times New Roman" panose="02020603050405020304" pitchFamily="18" charset="0"/>
                          <a:ea typeface="Calibri" panose="020F0502020204030204" pitchFamily="34" charset="0"/>
                          <a:cs typeface="Times New Roman" panose="02020603050405020304" pitchFamily="18" charset="0"/>
                        </a:rPr>
                        <a:t>8</a:t>
                      </a:r>
                      <a:r>
                        <a:rPr lang="en-IN" sz="1200" kern="0" dirty="0">
                          <a:effectLst/>
                          <a:latin typeface="Times New Roman" panose="02020603050405020304" pitchFamily="18" charset="0"/>
                          <a:ea typeface="Calibri" panose="020F0502020204030204" pitchFamily="34" charset="0"/>
                          <a:cs typeface="Times New Roman" panose="02020603050405020304" pitchFamily="18" charset="0"/>
                        </a:rPr>
                        <a:t>6.32</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86425866"/>
                  </a:ext>
                </a:extLst>
              </a:tr>
            </a:tbl>
          </a:graphicData>
        </a:graphic>
      </p:graphicFrame>
    </p:spTree>
    <p:extLst>
      <p:ext uri="{BB962C8B-B14F-4D97-AF65-F5344CB8AC3E}">
        <p14:creationId xmlns:p14="http://schemas.microsoft.com/office/powerpoint/2010/main" val="11762509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B678F4D-E7C8-7AE9-16F6-A7021D82C99F}"/>
              </a:ext>
            </a:extLst>
          </p:cNvPr>
          <p:cNvPicPr/>
          <p:nvPr/>
        </p:nvPicPr>
        <p:blipFill>
          <a:blip r:embed="rId2"/>
          <a:stretch>
            <a:fillRect/>
          </a:stretch>
        </p:blipFill>
        <p:spPr>
          <a:xfrm>
            <a:off x="447040" y="87900"/>
            <a:ext cx="11074400" cy="1264555"/>
          </a:xfrm>
          <a:prstGeom prst="rect">
            <a:avLst/>
          </a:prstGeom>
        </p:spPr>
      </p:pic>
      <p:sp>
        <p:nvSpPr>
          <p:cNvPr id="6" name="TextBox 5">
            <a:extLst>
              <a:ext uri="{FF2B5EF4-FFF2-40B4-BE49-F238E27FC236}">
                <a16:creationId xmlns:a16="http://schemas.microsoft.com/office/drawing/2014/main" id="{4C58A961-575F-2B78-3B30-627B3A93A2D0}"/>
              </a:ext>
            </a:extLst>
          </p:cNvPr>
          <p:cNvSpPr txBox="1"/>
          <p:nvPr/>
        </p:nvSpPr>
        <p:spPr>
          <a:xfrm>
            <a:off x="2865120" y="1352455"/>
            <a:ext cx="6096000" cy="707886"/>
          </a:xfrm>
          <a:prstGeom prst="rect">
            <a:avLst/>
          </a:prstGeom>
          <a:noFill/>
        </p:spPr>
        <p:txBody>
          <a:bodyPr wrap="square">
            <a:spAutoFit/>
          </a:bodyPr>
          <a:lstStyle/>
          <a:p>
            <a:pPr algn="ctr"/>
            <a:r>
              <a:rPr lang="en-US" sz="4000" b="1" dirty="0">
                <a:latin typeface="Times New Roman" panose="02020603050405020304" pitchFamily="18" charset="0"/>
                <a:cs typeface="Times New Roman" panose="02020603050405020304" pitchFamily="18" charset="0"/>
              </a:rPr>
              <a:t>SPSS ANALYSIS </a:t>
            </a:r>
            <a:endParaRPr lang="en-IN" sz="4000" dirty="0"/>
          </a:p>
        </p:txBody>
      </p:sp>
      <p:pic>
        <p:nvPicPr>
          <p:cNvPr id="9" name="Picture 8">
            <a:extLst>
              <a:ext uri="{FF2B5EF4-FFF2-40B4-BE49-F238E27FC236}">
                <a16:creationId xmlns:a16="http://schemas.microsoft.com/office/drawing/2014/main" id="{FF11610A-F534-4DC3-ACA4-599510ED7B1F}"/>
              </a:ext>
            </a:extLst>
          </p:cNvPr>
          <p:cNvPicPr>
            <a:picLocks noChangeAspect="1"/>
          </p:cNvPicPr>
          <p:nvPr/>
        </p:nvPicPr>
        <p:blipFill>
          <a:blip r:embed="rId3"/>
          <a:stretch>
            <a:fillRect/>
          </a:stretch>
        </p:blipFill>
        <p:spPr>
          <a:xfrm>
            <a:off x="1066800" y="2148935"/>
            <a:ext cx="10353040" cy="3356610"/>
          </a:xfrm>
          <a:prstGeom prst="rect">
            <a:avLst/>
          </a:prstGeom>
        </p:spPr>
      </p:pic>
      <p:sp>
        <p:nvSpPr>
          <p:cNvPr id="11" name="TextBox 10">
            <a:extLst>
              <a:ext uri="{FF2B5EF4-FFF2-40B4-BE49-F238E27FC236}">
                <a16:creationId xmlns:a16="http://schemas.microsoft.com/office/drawing/2014/main" id="{45C12898-EDCD-3C6D-7EE0-8E614C7E299A}"/>
              </a:ext>
            </a:extLst>
          </p:cNvPr>
          <p:cNvSpPr txBox="1"/>
          <p:nvPr/>
        </p:nvSpPr>
        <p:spPr>
          <a:xfrm>
            <a:off x="2692400" y="5778805"/>
            <a:ext cx="6096000" cy="523220"/>
          </a:xfrm>
          <a:prstGeom prst="rect">
            <a:avLst/>
          </a:prstGeom>
          <a:noFill/>
        </p:spPr>
        <p:txBody>
          <a:bodyPr wrap="square">
            <a:spAutoFit/>
          </a:bodyPr>
          <a:lstStyle/>
          <a:p>
            <a:pPr marL="0" indent="0" algn="ctr">
              <a:buNone/>
            </a:pPr>
            <a:r>
              <a:rPr lang="en-US" sz="2800" dirty="0">
                <a:latin typeface="Times New Roman" panose="02020603050405020304" pitchFamily="18" charset="0"/>
                <a:cs typeface="Times New Roman" panose="02020603050405020304" pitchFamily="18" charset="0"/>
              </a:rPr>
              <a:t>Hence it is significant since p=0.013</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6877707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568DF20-4481-24F9-3877-BD8DD048C76A}"/>
              </a:ext>
            </a:extLst>
          </p:cNvPr>
          <p:cNvPicPr/>
          <p:nvPr/>
        </p:nvPicPr>
        <p:blipFill>
          <a:blip r:embed="rId2"/>
          <a:stretch>
            <a:fillRect/>
          </a:stretch>
        </p:blipFill>
        <p:spPr>
          <a:xfrm>
            <a:off x="447040" y="87900"/>
            <a:ext cx="11074400" cy="1264555"/>
          </a:xfrm>
          <a:prstGeom prst="rect">
            <a:avLst/>
          </a:prstGeom>
        </p:spPr>
      </p:pic>
      <p:sp>
        <p:nvSpPr>
          <p:cNvPr id="6" name="TextBox 5">
            <a:extLst>
              <a:ext uri="{FF2B5EF4-FFF2-40B4-BE49-F238E27FC236}">
                <a16:creationId xmlns:a16="http://schemas.microsoft.com/office/drawing/2014/main" id="{8C519CCD-A76C-32D9-7BFA-4711FCDDB779}"/>
              </a:ext>
            </a:extLst>
          </p:cNvPr>
          <p:cNvSpPr txBox="1"/>
          <p:nvPr/>
        </p:nvSpPr>
        <p:spPr>
          <a:xfrm>
            <a:off x="2865120" y="1352455"/>
            <a:ext cx="6096000" cy="707886"/>
          </a:xfrm>
          <a:prstGeom prst="rect">
            <a:avLst/>
          </a:prstGeom>
          <a:noFill/>
        </p:spPr>
        <p:txBody>
          <a:bodyPr wrap="square">
            <a:spAutoFit/>
          </a:bodyPr>
          <a:lstStyle/>
          <a:p>
            <a:pPr algn="ctr"/>
            <a:r>
              <a:rPr lang="en-US" sz="4000" b="1" dirty="0">
                <a:latin typeface="Times New Roman" panose="02020603050405020304" pitchFamily="18" charset="0"/>
                <a:cs typeface="Times New Roman" panose="02020603050405020304" pitchFamily="18" charset="0"/>
              </a:rPr>
              <a:t>SPSS ANALYSIS </a:t>
            </a:r>
            <a:endParaRPr lang="en-IN" sz="4000" dirty="0"/>
          </a:p>
        </p:txBody>
      </p:sp>
      <p:pic>
        <p:nvPicPr>
          <p:cNvPr id="9" name="Picture 8">
            <a:extLst>
              <a:ext uri="{FF2B5EF4-FFF2-40B4-BE49-F238E27FC236}">
                <a16:creationId xmlns:a16="http://schemas.microsoft.com/office/drawing/2014/main" id="{E2814B6C-2D10-9790-4BE6-429FE0618D74}"/>
              </a:ext>
            </a:extLst>
          </p:cNvPr>
          <p:cNvPicPr>
            <a:picLocks noChangeAspect="1"/>
          </p:cNvPicPr>
          <p:nvPr/>
        </p:nvPicPr>
        <p:blipFill>
          <a:blip r:embed="rId3"/>
          <a:stretch>
            <a:fillRect/>
          </a:stretch>
        </p:blipFill>
        <p:spPr>
          <a:xfrm>
            <a:off x="2057400" y="2060341"/>
            <a:ext cx="8077200" cy="4197219"/>
          </a:xfrm>
          <a:prstGeom prst="rect">
            <a:avLst/>
          </a:prstGeom>
        </p:spPr>
      </p:pic>
    </p:spTree>
    <p:extLst>
      <p:ext uri="{BB962C8B-B14F-4D97-AF65-F5344CB8AC3E}">
        <p14:creationId xmlns:p14="http://schemas.microsoft.com/office/powerpoint/2010/main" val="9723209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0252531-9CF9-D3F3-05B7-09082EDAA742}"/>
              </a:ext>
            </a:extLst>
          </p:cNvPr>
          <p:cNvPicPr/>
          <p:nvPr/>
        </p:nvPicPr>
        <p:blipFill>
          <a:blip r:embed="rId2"/>
          <a:stretch>
            <a:fillRect/>
          </a:stretch>
        </p:blipFill>
        <p:spPr>
          <a:xfrm>
            <a:off x="447040" y="87900"/>
            <a:ext cx="11074400" cy="1264555"/>
          </a:xfrm>
          <a:prstGeom prst="rect">
            <a:avLst/>
          </a:prstGeom>
        </p:spPr>
      </p:pic>
      <p:sp>
        <p:nvSpPr>
          <p:cNvPr id="6" name="TextBox 5">
            <a:extLst>
              <a:ext uri="{FF2B5EF4-FFF2-40B4-BE49-F238E27FC236}">
                <a16:creationId xmlns:a16="http://schemas.microsoft.com/office/drawing/2014/main" id="{A325CFA8-2C0C-5BCB-1A81-18C2E9A084D9}"/>
              </a:ext>
            </a:extLst>
          </p:cNvPr>
          <p:cNvSpPr txBox="1"/>
          <p:nvPr/>
        </p:nvSpPr>
        <p:spPr>
          <a:xfrm>
            <a:off x="2804160" y="1352455"/>
            <a:ext cx="6096000" cy="769441"/>
          </a:xfrm>
          <a:prstGeom prst="rect">
            <a:avLst/>
          </a:prstGeom>
          <a:noFill/>
        </p:spPr>
        <p:txBody>
          <a:bodyPr wrap="square">
            <a:spAutoFit/>
          </a:bodyPr>
          <a:lstStyle/>
          <a:p>
            <a:pPr algn="ctr"/>
            <a:r>
              <a:rPr lang="en-US" sz="4400" b="1" dirty="0">
                <a:latin typeface="Times New Roman" panose="02020603050405020304" pitchFamily="18" charset="0"/>
                <a:cs typeface="Times New Roman" panose="02020603050405020304" pitchFamily="18" charset="0"/>
              </a:rPr>
              <a:t>RESULT</a:t>
            </a:r>
            <a:endParaRPr lang="en-IN" sz="4400" dirty="0"/>
          </a:p>
        </p:txBody>
      </p:sp>
      <p:sp>
        <p:nvSpPr>
          <p:cNvPr id="8" name="TextBox 7">
            <a:extLst>
              <a:ext uri="{FF2B5EF4-FFF2-40B4-BE49-F238E27FC236}">
                <a16:creationId xmlns:a16="http://schemas.microsoft.com/office/drawing/2014/main" id="{D22AFE30-15FE-AA1C-099D-2845F6AFA740}"/>
              </a:ext>
            </a:extLst>
          </p:cNvPr>
          <p:cNvSpPr txBox="1"/>
          <p:nvPr/>
        </p:nvSpPr>
        <p:spPr>
          <a:xfrm>
            <a:off x="1163320" y="2257703"/>
            <a:ext cx="9865360" cy="3785652"/>
          </a:xfrm>
          <a:prstGeom prst="rect">
            <a:avLst/>
          </a:prstGeom>
          <a:noFill/>
        </p:spPr>
        <p:txBody>
          <a:bodyPr wrap="square">
            <a:spAutoFit/>
          </a:bodyPr>
          <a:lstStyle/>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proposed approach using </a:t>
            </a:r>
            <a:r>
              <a:rPr lang="en-US" sz="2000" b="1" dirty="0">
                <a:latin typeface="Times New Roman" panose="02020603050405020304" pitchFamily="18" charset="0"/>
                <a:cs typeface="Times New Roman" panose="02020603050405020304" pitchFamily="18" charset="0"/>
              </a:rPr>
              <a:t>Multimodal AI (Multimodal Artificial Intelligence) </a:t>
            </a:r>
            <a:r>
              <a:rPr lang="en-US" sz="2000" dirty="0">
                <a:latin typeface="Times New Roman" panose="02020603050405020304" pitchFamily="18" charset="0"/>
                <a:cs typeface="Times New Roman" panose="02020603050405020304" pitchFamily="18" charset="0"/>
              </a:rPr>
              <a:t>with a mean accuracy of </a:t>
            </a:r>
            <a:r>
              <a:rPr lang="en-US" sz="2000" b="1" dirty="0">
                <a:latin typeface="Times New Roman" panose="02020603050405020304" pitchFamily="18" charset="0"/>
                <a:cs typeface="Times New Roman" panose="02020603050405020304" pitchFamily="18" charset="0"/>
              </a:rPr>
              <a:t>95.57% </a:t>
            </a:r>
            <a:r>
              <a:rPr lang="en-US" sz="2000" dirty="0">
                <a:latin typeface="Times New Roman" panose="02020603050405020304" pitchFamily="18" charset="0"/>
                <a:cs typeface="Times New Roman" panose="02020603050405020304" pitchFamily="18" charset="0"/>
              </a:rPr>
              <a:t>demonstrates a clear improvement in deepfake detection performance compared to AI Governance-based techniques, which achieved a mean accuracy of </a:t>
            </a:r>
            <a:r>
              <a:rPr lang="en-US" sz="2000" b="1" dirty="0">
                <a:latin typeface="Times New Roman" panose="02020603050405020304" pitchFamily="18" charset="0"/>
                <a:cs typeface="Times New Roman" panose="02020603050405020304" pitchFamily="18" charset="0"/>
              </a:rPr>
              <a:t>86.62%.</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higher mean accuracy of the proposed model indicates its superior capability in identifying fake and real content by effectively integrating multiple feature representations such as visual, audio, and temporal features.</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This improvement is further supported by statistical analysis obtained from the T-test, where the significance value </a:t>
            </a:r>
            <a:r>
              <a:rPr lang="en-US" sz="2000" b="1" dirty="0">
                <a:latin typeface="Times New Roman" panose="02020603050405020304" pitchFamily="18" charset="0"/>
                <a:cs typeface="Times New Roman" panose="02020603050405020304" pitchFamily="18" charset="0"/>
              </a:rPr>
              <a:t>(p = 0.013) </a:t>
            </a:r>
            <a:r>
              <a:rPr lang="en-US" sz="2000" dirty="0">
                <a:latin typeface="Times New Roman" panose="02020603050405020304" pitchFamily="18" charset="0"/>
                <a:cs typeface="Times New Roman" panose="02020603050405020304" pitchFamily="18" charset="0"/>
              </a:rPr>
              <a:t>is less than </a:t>
            </a:r>
            <a:r>
              <a:rPr lang="en-US" sz="2000" b="1" dirty="0">
                <a:latin typeface="Times New Roman" panose="02020603050405020304" pitchFamily="18" charset="0"/>
                <a:cs typeface="Times New Roman" panose="02020603050405020304" pitchFamily="18" charset="0"/>
              </a:rPr>
              <a:t>0.05</a:t>
            </a:r>
            <a:r>
              <a:rPr lang="en-US" sz="2000" dirty="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Therefore, the observed enhancement in detection accuracy using Multimodal AI is statistically significant and not due to random variation, confirming that the proposed method outperforms the existing AI Governance-based techniques in deepfake detection.</a:t>
            </a:r>
          </a:p>
        </p:txBody>
      </p:sp>
    </p:spTree>
    <p:extLst>
      <p:ext uri="{BB962C8B-B14F-4D97-AF65-F5344CB8AC3E}">
        <p14:creationId xmlns:p14="http://schemas.microsoft.com/office/powerpoint/2010/main" val="23327607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2733</TotalTime>
  <Words>5385</Words>
  <Application>Microsoft Office PowerPoint</Application>
  <PresentationFormat>Widescreen</PresentationFormat>
  <Paragraphs>972</Paragraphs>
  <Slides>48</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48</vt:i4>
      </vt:variant>
    </vt:vector>
  </HeadingPairs>
  <TitlesOfParts>
    <vt:vector size="54" baseType="lpstr">
      <vt:lpstr>Aptos</vt:lpstr>
      <vt:lpstr>Aptos Display</vt:lpstr>
      <vt:lpstr>Arial</vt:lpstr>
      <vt:lpstr>Calibri</vt:lpstr>
      <vt:lpstr>Times New Roman</vt:lpstr>
      <vt:lpstr>Office Theme</vt:lpstr>
      <vt:lpstr>PowerPoint Presentation</vt:lpstr>
      <vt:lpstr>PICO</vt:lpstr>
      <vt:lpstr>DATA SET</vt:lpstr>
      <vt:lpstr>KEY ATTRIBUTES </vt:lpstr>
      <vt:lpstr>SAMPLE SIZE CALCULATION </vt:lpstr>
      <vt:lpstr>INTERVENTION ALGORITHM  Proposed-Multimodal Artificial Intelligence</vt:lpstr>
      <vt:lpstr>COMPARSION ALGORITHM Existing-Generative Adversarial Networks</vt:lpstr>
      <vt:lpstr>PROCESS</vt:lpstr>
      <vt:lpstr>OUTPUT</vt:lpstr>
      <vt:lpstr>                   SPSS ANALYSIS </vt:lpstr>
      <vt:lpstr>SPSS ANALYSIS </vt:lpstr>
      <vt:lpstr>RESULT</vt:lpstr>
      <vt:lpstr>Title 2: Evaluation of Enhanced Deepfake Detection Performance Using Multimodal AI Compared with Explainable AI Techniques</vt:lpstr>
      <vt:lpstr>PowerPoint Presentation</vt:lpstr>
      <vt:lpstr>DATA SET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mothish G</dc:creator>
  <cp:lastModifiedBy>Sameerahmedg666@gmail.com</cp:lastModifiedBy>
  <cp:revision>36</cp:revision>
  <dcterms:created xsi:type="dcterms:W3CDTF">2025-11-27T13:53:20Z</dcterms:created>
  <dcterms:modified xsi:type="dcterms:W3CDTF">2026-04-24T08:26:14Z</dcterms:modified>
</cp:coreProperties>
</file>